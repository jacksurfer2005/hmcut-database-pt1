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4" r:id="rId1"/>
  </p:sldMasterIdLst>
  <p:notesMasterIdLst>
    <p:notesMasterId r:id="rId30"/>
  </p:notesMasterIdLst>
  <p:handoutMasterIdLst>
    <p:handoutMasterId r:id="rId31"/>
  </p:handoutMasterIdLst>
  <p:sldIdLst>
    <p:sldId id="359" r:id="rId2"/>
    <p:sldId id="542" r:id="rId3"/>
    <p:sldId id="541" r:id="rId4"/>
    <p:sldId id="543" r:id="rId5"/>
    <p:sldId id="544" r:id="rId6"/>
    <p:sldId id="508" r:id="rId7"/>
    <p:sldId id="545" r:id="rId8"/>
    <p:sldId id="546" r:id="rId9"/>
    <p:sldId id="547" r:id="rId10"/>
    <p:sldId id="548" r:id="rId11"/>
    <p:sldId id="549" r:id="rId12"/>
    <p:sldId id="566" r:id="rId13"/>
    <p:sldId id="550" r:id="rId14"/>
    <p:sldId id="551" r:id="rId15"/>
    <p:sldId id="552" r:id="rId16"/>
    <p:sldId id="567" r:id="rId17"/>
    <p:sldId id="553" r:id="rId18"/>
    <p:sldId id="554" r:id="rId19"/>
    <p:sldId id="555" r:id="rId20"/>
    <p:sldId id="556" r:id="rId21"/>
    <p:sldId id="557" r:id="rId22"/>
    <p:sldId id="558" r:id="rId23"/>
    <p:sldId id="560" r:id="rId24"/>
    <p:sldId id="561" r:id="rId25"/>
    <p:sldId id="562" r:id="rId26"/>
    <p:sldId id="563" r:id="rId27"/>
    <p:sldId id="564" r:id="rId28"/>
    <p:sldId id="565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009900"/>
    <a:srgbClr val="00FF99"/>
    <a:srgbClr val="009999"/>
    <a:srgbClr val="FF00FF"/>
    <a:srgbClr val="FFFFFF"/>
    <a:srgbClr val="CCFF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 autoAdjust="0"/>
    <p:restoredTop sz="94660" autoAdjust="0"/>
  </p:normalViewPr>
  <p:slideViewPr>
    <p:cSldViewPr>
      <p:cViewPr varScale="1">
        <p:scale>
          <a:sx n="67" d="100"/>
          <a:sy n="67" d="100"/>
        </p:scale>
        <p:origin x="16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78"/>
    </p:cViewPr>
  </p:sorterViewPr>
  <p:notesViewPr>
    <p:cSldViewPr>
      <p:cViewPr varScale="1">
        <p:scale>
          <a:sx n="50" d="100"/>
          <a:sy n="50" d="100"/>
        </p:scale>
        <p:origin x="-828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9561975-33CD-8B62-AC2C-A943B4597D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E2417A9-D2E4-DF38-9361-0188EB5060F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EB2E4482-F787-60B3-6E44-7F302D8C9F6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1C53A776-0AF9-5536-A9F1-F46DE9E0DE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fld id="{BF5BB960-3977-4E26-BF89-32C7067A70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84F336F-81A1-94B1-588B-EA6B261992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AC7DF16-B9CE-B946-E0E8-BB16B3881A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EC63AF9-C8B5-7D5C-DD44-8E6F41AD38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3258C54-8CEB-8E94-E853-B0036F4233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1906232-062C-5F78-1E00-6F71B1AB1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77A1109-BDB9-E088-3354-25A06F9DD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DA843FF-6D13-4E17-9277-208DC89070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396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3C8646FF-241B-26E3-EFE8-7004C2F6F9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9pPr>
          </a:lstStyle>
          <a:p>
            <a:fld id="{E4AA0A1C-56DD-4EBF-A350-B84358358D7A}" type="slidenum">
              <a:rPr lang="en-US" altLang="en-US" sz="1200" b="0" i="0" smtClean="0">
                <a:solidFill>
                  <a:schemeClr val="tx1"/>
                </a:solidFill>
              </a:rPr>
              <a:pPr/>
              <a:t>1</a:t>
            </a:fld>
            <a:endParaRPr lang="en-US" altLang="en-US" sz="1200" b="0" i="0">
              <a:solidFill>
                <a:schemeClr val="tx1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2EF2B86-F205-B8A3-E32D-4DDA55FE8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CE496C4-A4D6-1B21-5B2C-EC179B687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C190-67CD-61EA-D98A-2443E89B2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868F5-72C6-357B-67C3-6D8BF2128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82180-2DF7-B5C4-363A-750DDD4A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5FB1-A58A-B82F-1B6F-D3AD1627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8427E-E5A4-7E3B-AFB6-5AC0CD7D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83C982-C383-4EB2-AF9C-DEE0AF2CA4B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387343"/>
      </p:ext>
    </p:extLst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B571-7D32-74ED-6B7F-B8464A90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8861-E544-AF62-729F-C95B7579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E8E41-D29E-7080-AF7D-DEB6C173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8837-9AF7-E4CD-B3F9-CD99A3CD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4A26D-5D30-4342-E927-E4C14235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28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C442-5E31-D01B-2FDD-2C9C5407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E4EC-59DC-CFE3-DED4-27F8F07C2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67F69-22BD-0779-2D3A-DF4F4AF2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D5DBA-3C8A-E1C1-EF47-52972EEB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2C7F2-FAC6-FF30-A8AB-4F000CD3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954DB3-F5E2-4838-AA39-EBE5F39640A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083897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762A-DDCF-7F1F-AF80-4901E28A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5E1E0-1921-E878-C0D7-F8B45D07C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795E1-8182-C348-9914-7D7A6E9CB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34408-45A2-8A22-E087-79663A5E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C78C5-44FB-042D-8EE9-8B82A5A5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99C9E-2186-1E4D-E973-05EA99E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52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5B14-B6C9-1B88-DEBD-1A82FE93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80DCA-4DF5-6FB8-FAC0-E07F3838C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B0AE9-B186-71A5-3B8B-C56E1F1F7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5D7B4-C73E-89B3-4347-CB428886D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67828-B35B-6CEB-D7EB-6EA066A12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9A06B-745A-4C27-04AB-A110DD04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F548D-6715-905A-BB27-E84C380B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D88C7-9EAD-1CD1-1B40-F503280B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36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242A-23ED-3623-68F3-AACE37AC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7BC04-83D7-E7DE-D2A1-320BD7A0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1745B-BB6E-A0A7-A841-4481C129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E51C5-296E-95A6-95EE-3192CC94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7A422-EB1F-44D4-9FAF-2BB0C3EE14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644069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3109A-DA82-08CF-2339-ABCE3985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249DD-00D4-56AA-AB9E-40418BD5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DBC0D-4433-6F84-1B4C-89908CF6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7E38E1-3D55-42B5-875F-6FB9F23CC6E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473189"/>
      </p:ext>
    </p:extLst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47E5-653A-BF75-DB0C-3C95E497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2C36D-BEE0-FE0A-AAA2-0B8226B67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288A9-7F60-54C7-4C74-4E7E9EEA2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FB344-F5EF-5489-8FB7-779B68A0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CFA3B-3CF2-E805-6E10-5DEEF499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DB989-0051-2435-A808-27B5DA97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94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62BE-4EF0-907C-2F56-AA4AE159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D7A87-78E1-7F46-A9D2-989F22E2B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80D62-C050-670B-3B47-BB72E1E8A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1C418-A7CF-1DAE-A703-75DDFEC4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6A6F6-89D6-1C74-2081-1D6AD03A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E7756-1D78-7001-08F7-7ACEAEA7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28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5D4A-6048-580F-1249-0E665CB2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9E9D0-D83F-9091-FAAD-BC44DB05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B31A-573D-F552-2F0C-CFD91978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B226-0174-68E5-4479-B1CCC80C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6E58-0666-1AA0-E801-25C36165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55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966F4-E800-1284-80A5-1A5357FE9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4D696-E8CE-0842-1617-75D190AF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30D0A-AAAE-3254-3EA9-CB280132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976B9-EABC-1EC1-6780-BF1F6B29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BF92A-A3EF-9FC0-9A5F-17089BDC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12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24108C-8BA7-404D-0A30-043C9F5C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C9470-924D-B9B6-28EF-2EE4D7ED4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DE40D-2B1A-2202-5F1D-C7D354872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EF6F1-1520-F88F-1646-4828317D0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9CAC-1A7E-57EC-BA33-EB0D1F60C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63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ransition spd="slow">
    <p:zoom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" Type="http://schemas.openxmlformats.org/officeDocument/2006/relationships/image" Target="../media/image8.wmf"/><Relationship Id="rId21" Type="http://schemas.openxmlformats.org/officeDocument/2006/relationships/image" Target="../media/image17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5.wmf"/><Relationship Id="rId25" Type="http://schemas.openxmlformats.org/officeDocument/2006/relationships/image" Target="../media/image19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19.bin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image" Target="../media/image18.wmf"/><Relationship Id="rId28" Type="http://schemas.openxmlformats.org/officeDocument/2006/relationships/oleObject" Target="../embeddings/oleObject21.bin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6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5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12.wmf"/><Relationship Id="rId5" Type="http://schemas.openxmlformats.org/officeDocument/2006/relationships/image" Target="../media/image23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7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4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26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39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26.wmf"/><Relationship Id="rId3" Type="http://schemas.openxmlformats.org/officeDocument/2006/relationships/image" Target="../media/image40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2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4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63.bin"/><Relationship Id="rId3" Type="http://schemas.openxmlformats.org/officeDocument/2006/relationships/image" Target="../media/image48.wmf"/><Relationship Id="rId21" Type="http://schemas.openxmlformats.org/officeDocument/2006/relationships/image" Target="../media/image57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23" Type="http://schemas.openxmlformats.org/officeDocument/2006/relationships/image" Target="../media/image58.w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59.wmf"/><Relationship Id="rId21" Type="http://schemas.openxmlformats.org/officeDocument/2006/relationships/image" Target="../media/image68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66.w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5" Type="http://schemas.openxmlformats.org/officeDocument/2006/relationships/image" Target="../media/image65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7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71.wmf"/><Relationship Id="rId7" Type="http://schemas.openxmlformats.org/officeDocument/2006/relationships/image" Target="../media/image73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9.bin"/><Relationship Id="rId3" Type="http://schemas.openxmlformats.org/officeDocument/2006/relationships/image" Target="../media/image48.wmf"/><Relationship Id="rId21" Type="http://schemas.openxmlformats.org/officeDocument/2006/relationships/image" Target="../media/image83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81.w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78.wmf"/><Relationship Id="rId5" Type="http://schemas.openxmlformats.org/officeDocument/2006/relationships/image" Target="../media/image76.wmf"/><Relationship Id="rId15" Type="http://schemas.openxmlformats.org/officeDocument/2006/relationships/image" Target="../media/image80.wmf"/><Relationship Id="rId23" Type="http://schemas.openxmlformats.org/officeDocument/2006/relationships/image" Target="../media/image84.wmf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82.w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100.bin"/><Relationship Id="rId3" Type="http://schemas.openxmlformats.org/officeDocument/2006/relationships/image" Target="../media/image59.wmf"/><Relationship Id="rId21" Type="http://schemas.openxmlformats.org/officeDocument/2006/relationships/image" Target="../media/image91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89.wmf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20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6.wmf"/><Relationship Id="rId5" Type="http://schemas.openxmlformats.org/officeDocument/2006/relationships/image" Target="../media/image60.wmf"/><Relationship Id="rId15" Type="http://schemas.openxmlformats.org/officeDocument/2006/relationships/image" Target="../media/image88.wmf"/><Relationship Id="rId23" Type="http://schemas.openxmlformats.org/officeDocument/2006/relationships/image" Target="../media/image92.w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5D180D4-A056-CB0B-D3B8-6EBCCCCE1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863" y="304800"/>
            <a:ext cx="7620000" cy="99218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Bách khoa tp Hồ Chí Minh</a:t>
            </a:r>
            <a:b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môn Toán ứng dụng</a:t>
            </a:r>
            <a:b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-------------------------------------------------------------------------------------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AF6C4A8-A6AE-C1B5-06EA-CBF2E1040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209800"/>
            <a:ext cx="8077200" cy="3352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sz="3000" b="1">
                <a:solidFill>
                  <a:srgbClr val="0000FF"/>
                </a:solidFill>
                <a:latin typeface="VNI-Times" pitchFamily="2" charset="0"/>
              </a:rPr>
              <a:t>			</a:t>
            </a:r>
            <a:r>
              <a:rPr 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học Phương pháp tính	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5:  Đạo hàm và tích phân số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sz="32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r>
              <a:rPr 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viên: TS Đặng Văn Vinh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000" b="1">
                <a:solidFill>
                  <a:schemeClr val="accent2"/>
                </a:solidFill>
                <a:latin typeface="+mj-lt"/>
              </a:rPr>
              <a:t>				</a:t>
            </a:r>
            <a:endParaRPr lang="en-US" sz="1800" b="1">
              <a:solidFill>
                <a:schemeClr val="accent2"/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E55FAF2C-1C93-A7F4-D1AE-6DAFADA11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0452"/>
            <a:ext cx="6248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Nội dung chương 5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A5AD6974-3EEC-471C-F148-4C73DE84B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68618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1/ </a:t>
            </a:r>
            <a:r>
              <a:rPr lang="en-US" altLang="en-US" sz="2400"/>
              <a:t>Đạo hàm số</a:t>
            </a:r>
            <a:endParaRPr lang="en-US" altLang="en-US" sz="2400" b="0" i="0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58F313ED-9C4D-5B64-45D8-EA3342542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654" y="2201685"/>
            <a:ext cx="7798019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2/ Phương pháp Newton - Cotes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D52233B-06C4-3BD0-370E-0F8F8111B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429000"/>
            <a:ext cx="779802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3/ Tích phân suy rộng và tích phân hàm nhiều biến</a:t>
            </a:r>
          </a:p>
        </p:txBody>
      </p:sp>
    </p:spTree>
    <p:extLst>
      <p:ext uri="{BB962C8B-B14F-4D97-AF65-F5344CB8AC3E}">
        <p14:creationId xmlns:p14="http://schemas.microsoft.com/office/powerpoint/2010/main" val="248971509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EF66A92A-7304-0FC8-DA02-CC19D4AF7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4186535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Sai số của đạo hàm: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A19D3A-5D28-C11E-13E0-FDAB68A09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300346"/>
              </p:ext>
            </p:extLst>
          </p:nvPr>
        </p:nvGraphicFramePr>
        <p:xfrm>
          <a:off x="3276600" y="4234573"/>
          <a:ext cx="337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406080" progId="Equation.DSMT4">
                  <p:embed/>
                </p:oleObj>
              </mc:Choice>
              <mc:Fallback>
                <p:oleObj name="Equation" r:id="rId2" imgW="3377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76600" y="4234573"/>
                        <a:ext cx="3378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ECAAA209-4543-9F6D-EDCA-544FC139CA9E}"/>
              </a:ext>
            </a:extLst>
          </p:cNvPr>
          <p:cNvGrpSpPr/>
          <p:nvPr/>
        </p:nvGrpSpPr>
        <p:grpSpPr>
          <a:xfrm>
            <a:off x="647700" y="1066800"/>
            <a:ext cx="7772400" cy="461665"/>
            <a:chOff x="647700" y="109230"/>
            <a:chExt cx="7772400" cy="461665"/>
          </a:xfrm>
        </p:grpSpPr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1D66D703-B9C2-A6B4-0968-EF046E53C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" y="109230"/>
              <a:ext cx="7772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dirty="0" err="1"/>
                <a:t>Xét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hàm</a:t>
              </a:r>
              <a:r>
                <a:rPr lang="en-US" altLang="en-US" sz="2400" dirty="0"/>
                <a:t>                 </a:t>
              </a:r>
              <a:r>
                <a:rPr lang="en-US" altLang="en-US" sz="2400" dirty="0" err="1"/>
                <a:t>mà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không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biết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biểu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thức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giải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tích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cụ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thể</a:t>
              </a:r>
              <a:r>
                <a:rPr lang="en-US" altLang="en-US" sz="2400" dirty="0"/>
                <a:t>  </a:t>
              </a:r>
              <a:r>
                <a:rPr lang="en-US" altLang="en-US" sz="2400" i="1" dirty="0"/>
                <a:t>f </a:t>
              </a:r>
              <a:endParaRPr lang="en-US" altLang="en-US" sz="2400" b="0" i="1" dirty="0"/>
            </a:p>
          </p:txBody>
        </p:sp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9A180EA7-2080-EEBB-3DD2-CAA5FB0CE7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3572295"/>
                </p:ext>
              </p:extLst>
            </p:nvPr>
          </p:nvGraphicFramePr>
          <p:xfrm>
            <a:off x="1877561" y="177195"/>
            <a:ext cx="1054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54080" imgH="393480" progId="Equation.DSMT4">
                    <p:embed/>
                  </p:oleObj>
                </mc:Choice>
                <mc:Fallback>
                  <p:oleObj name="Equation" r:id="rId4" imgW="1054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77561" y="177195"/>
                          <a:ext cx="1054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9E0A3C-CA21-25C8-8D13-234E0C44D7DE}"/>
              </a:ext>
            </a:extLst>
          </p:cNvPr>
          <p:cNvGrpSpPr/>
          <p:nvPr/>
        </p:nvGrpSpPr>
        <p:grpSpPr>
          <a:xfrm>
            <a:off x="647700" y="1824335"/>
            <a:ext cx="7772400" cy="461665"/>
            <a:chOff x="647700" y="634176"/>
            <a:chExt cx="7772400" cy="461665"/>
          </a:xfrm>
        </p:grpSpPr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19521FC5-06DD-272C-9CCE-0B326E2B5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" y="634176"/>
              <a:ext cx="7772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dirty="0"/>
                <a:t>Ta </a:t>
              </a:r>
              <a:r>
                <a:rPr lang="en-US" altLang="en-US" sz="2400" b="0" dirty="0" err="1"/>
                <a:t>ch</a:t>
              </a:r>
              <a:r>
                <a:rPr lang="en-US" altLang="en-US" sz="2400" dirty="0" err="1"/>
                <a:t>ỉ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biết</a:t>
              </a:r>
              <a:r>
                <a:rPr lang="en-US" altLang="en-US" sz="2400" dirty="0"/>
                <a:t>                   </a:t>
              </a:r>
              <a:r>
                <a:rPr lang="en-US" altLang="en-US" sz="2400" dirty="0" err="1"/>
                <a:t>tại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các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điểm</a:t>
              </a:r>
              <a:r>
                <a:rPr lang="en-US" altLang="en-US" sz="2400" dirty="0"/>
                <a:t> </a:t>
              </a:r>
              <a:endParaRPr lang="en-US" altLang="en-US" sz="2400" b="0" dirty="0"/>
            </a:p>
          </p:txBody>
        </p:sp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A051C329-2BF4-5CCC-2326-F2A274F396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4745019"/>
                </p:ext>
              </p:extLst>
            </p:nvPr>
          </p:nvGraphicFramePr>
          <p:xfrm>
            <a:off x="2133600" y="675410"/>
            <a:ext cx="1257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57120" imgH="342720" progId="Equation.DSMT4">
                    <p:embed/>
                  </p:oleObj>
                </mc:Choice>
                <mc:Fallback>
                  <p:oleObj name="Equation" r:id="rId6" imgW="1257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33600" y="675410"/>
                          <a:ext cx="1257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4D98A0DC-E8F0-EECF-0DE1-99558B319F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29416"/>
                </p:ext>
              </p:extLst>
            </p:nvPr>
          </p:nvGraphicFramePr>
          <p:xfrm>
            <a:off x="5102225" y="712788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06360" imgH="342720" progId="Equation.DSMT4">
                    <p:embed/>
                  </p:oleObj>
                </mc:Choice>
                <mc:Fallback>
                  <p:oleObj name="Equation" r:id="rId8" imgW="120636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102225" y="712788"/>
                          <a:ext cx="1206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8B87F46-40C9-56C6-EEF0-A8DDCD00607F}"/>
              </a:ext>
            </a:extLst>
          </p:cNvPr>
          <p:cNvGrpSpPr/>
          <p:nvPr/>
        </p:nvGrpSpPr>
        <p:grpSpPr>
          <a:xfrm>
            <a:off x="580472" y="2738735"/>
            <a:ext cx="8305800" cy="461665"/>
            <a:chOff x="580472" y="1671935"/>
            <a:chExt cx="8305800" cy="461665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50C4B196-8CE8-098D-4034-E2B01487A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472" y="1671935"/>
              <a:ext cx="830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 dirty="0" err="1"/>
                <a:t>Yêu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cầu</a:t>
              </a:r>
              <a:r>
                <a:rPr lang="en-US" altLang="en-US" sz="2400" b="0" i="0" dirty="0"/>
                <a:t>: </a:t>
              </a:r>
              <a:r>
                <a:rPr lang="en-US" altLang="en-US" sz="2400" b="0" i="0" dirty="0" err="1"/>
                <a:t>Tính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đạo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hàm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của</a:t>
              </a:r>
              <a:r>
                <a:rPr lang="en-US" altLang="en-US" sz="2400" b="0" i="0" dirty="0"/>
                <a:t>                </a:t>
              </a:r>
              <a:r>
                <a:rPr lang="en-US" altLang="en-US" sz="2400" b="0" i="0" dirty="0" err="1"/>
                <a:t>tại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các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điểm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mút</a:t>
              </a:r>
              <a:r>
                <a:rPr lang="en-US" altLang="en-US" sz="2400" b="0" i="0" dirty="0"/>
                <a:t>.   </a:t>
              </a:r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EE67CA34-A788-4004-37D2-2974F7423D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7186708"/>
                </p:ext>
              </p:extLst>
            </p:nvPr>
          </p:nvGraphicFramePr>
          <p:xfrm>
            <a:off x="4114800" y="1718470"/>
            <a:ext cx="1054100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54672" imgH="394765" progId="Equation.DSMT4">
                    <p:embed/>
                  </p:oleObj>
                </mc:Choice>
                <mc:Fallback>
                  <p:oleObj name="Equation" r:id="rId10" imgW="1054672" imgH="39476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114800" y="1718470"/>
                          <a:ext cx="1054100" cy="395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9C4C36F0-C3AD-223E-4EFD-28FBDC15B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523456"/>
              </p:ext>
            </p:extLst>
          </p:nvPr>
        </p:nvGraphicFramePr>
        <p:xfrm>
          <a:off x="606271" y="3540913"/>
          <a:ext cx="2247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840" imgH="380880" progId="Equation.DSMT4">
                  <p:embed/>
                </p:oleObj>
              </mc:Choice>
              <mc:Fallback>
                <p:oleObj name="Equation" r:id="rId12" imgW="2247840" imgH="3808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5F2989A7-E4F8-F971-4C55-BF5B60E8D0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6271" y="3540913"/>
                        <a:ext cx="2247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A2CEB75D-DC09-6D5F-D045-F81B8A96E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526806"/>
              </p:ext>
            </p:extLst>
          </p:nvPr>
        </p:nvGraphicFramePr>
        <p:xfrm>
          <a:off x="3449943" y="3505200"/>
          <a:ext cx="176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65080" imgH="393480" progId="Equation.DSMT4">
                  <p:embed/>
                </p:oleObj>
              </mc:Choice>
              <mc:Fallback>
                <p:oleObj name="Equation" r:id="rId14" imgW="1765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49943" y="3505200"/>
                        <a:ext cx="1765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>
            <a:extLst>
              <a:ext uri="{FF2B5EF4-FFF2-40B4-BE49-F238E27FC236}">
                <a16:creationId xmlns:a16="http://schemas.microsoft.com/office/drawing/2014/main" id="{7B0F069E-1F72-F35D-0A20-E25A01FA2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94" y="224135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1/ Tính gần đúng đạo hàm cấp 1</a:t>
            </a:r>
          </a:p>
        </p:txBody>
      </p:sp>
    </p:spTree>
    <p:extLst>
      <p:ext uri="{BB962C8B-B14F-4D97-AF65-F5344CB8AC3E}">
        <p14:creationId xmlns:p14="http://schemas.microsoft.com/office/powerpoint/2010/main" val="390805101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A19D3A-5D28-C11E-13E0-FDAB68A09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003421"/>
              </p:ext>
            </p:extLst>
          </p:nvPr>
        </p:nvGraphicFramePr>
        <p:xfrm>
          <a:off x="1736324" y="1759803"/>
          <a:ext cx="391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11400" imgH="711000" progId="Equation.DSMT4">
                  <p:embed/>
                </p:oleObj>
              </mc:Choice>
              <mc:Fallback>
                <p:oleObj name="Equation" r:id="rId2" imgW="3911400" imgH="711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5A19D3A-5D28-C11E-13E0-FDAB68A096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36324" y="1759803"/>
                        <a:ext cx="39116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>
            <a:extLst>
              <a:ext uri="{FF2B5EF4-FFF2-40B4-BE49-F238E27FC236}">
                <a16:creationId xmlns:a16="http://schemas.microsoft.com/office/drawing/2014/main" id="{1D66D703-B9C2-A6B4-0968-EF046E53C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23" y="55357"/>
            <a:ext cx="777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Công thức tính gần đúng đạo hàm cấp một.</a:t>
            </a:r>
            <a:endParaRPr lang="en-US" altLang="en-US" sz="2400" b="0" i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83D81A-5C78-6EDE-BD50-F669533977FD}"/>
              </a:ext>
            </a:extLst>
          </p:cNvPr>
          <p:cNvGrpSpPr/>
          <p:nvPr/>
        </p:nvGrpSpPr>
        <p:grpSpPr>
          <a:xfrm>
            <a:off x="597023" y="499834"/>
            <a:ext cx="7772400" cy="461665"/>
            <a:chOff x="597023" y="499834"/>
            <a:chExt cx="7772400" cy="461665"/>
          </a:xfrm>
        </p:grpSpPr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D7D14E9C-AD2F-3D76-5D46-CF4C6CF7A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023" y="499834"/>
              <a:ext cx="7772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</a:rPr>
                <a:t>TH1: hai nút nội suy </a:t>
              </a:r>
              <a:r>
                <a:rPr lang="en-US" altLang="en-US" sz="2400"/>
                <a:t>                                  với</a:t>
              </a:r>
              <a:endParaRPr lang="en-US" altLang="en-US" sz="2400" b="0" i="1"/>
            </a:p>
          </p:txBody>
        </p:sp>
        <p:graphicFrame>
          <p:nvGraphicFramePr>
            <p:cNvPr id="26" name="Object 25">
              <a:extLst>
                <a:ext uri="{FF2B5EF4-FFF2-40B4-BE49-F238E27FC236}">
                  <a16:creationId xmlns:a16="http://schemas.microsoft.com/office/drawing/2014/main" id="{9C4C36F0-C3AD-223E-4EFD-28FBDC15B9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4153242"/>
                </p:ext>
              </p:extLst>
            </p:nvPr>
          </p:nvGraphicFramePr>
          <p:xfrm>
            <a:off x="6400800" y="574160"/>
            <a:ext cx="1079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79280" imgH="330120" progId="Equation.DSMT4">
                    <p:embed/>
                  </p:oleObj>
                </mc:Choice>
                <mc:Fallback>
                  <p:oleObj name="Equation" r:id="rId4" imgW="1079280" imgH="330120" progId="Equation.DSMT4">
                    <p:embed/>
                    <p:pic>
                      <p:nvPicPr>
                        <p:cNvPr id="26" name="Object 25">
                          <a:extLst>
                            <a:ext uri="{FF2B5EF4-FFF2-40B4-BE49-F238E27FC236}">
                              <a16:creationId xmlns:a16="http://schemas.microsoft.com/office/drawing/2014/main" id="{9C4C36F0-C3AD-223E-4EFD-28FBDC15B9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00800" y="574160"/>
                          <a:ext cx="1079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8CBE3F6C-1F50-33CA-A18F-338CB306F0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03955"/>
                </p:ext>
              </p:extLst>
            </p:nvPr>
          </p:nvGraphicFramePr>
          <p:xfrm>
            <a:off x="3415006" y="524054"/>
            <a:ext cx="2362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61960" imgH="406080" progId="Equation.DSMT4">
                    <p:embed/>
                  </p:oleObj>
                </mc:Choice>
                <mc:Fallback>
                  <p:oleObj name="Equation" r:id="rId6" imgW="23619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15006" y="524054"/>
                          <a:ext cx="23622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59F3F8-C17B-ED4F-FF5F-121808C2A98F}"/>
              </a:ext>
            </a:extLst>
          </p:cNvPr>
          <p:cNvGrpSpPr/>
          <p:nvPr/>
        </p:nvGrpSpPr>
        <p:grpSpPr>
          <a:xfrm>
            <a:off x="330323" y="930821"/>
            <a:ext cx="8305800" cy="904863"/>
            <a:chOff x="330323" y="930821"/>
            <a:chExt cx="8305800" cy="904863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F66A92A-7304-0FC8-DA02-CC19D4AF7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323" y="930821"/>
              <a:ext cx="8305800" cy="90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Thay hàm              bằng đa thức nội suy Newton tiến bậc một (TH </a:t>
              </a:r>
            </a:p>
            <a:p>
              <a:pPr algn="just">
                <a:buFontTx/>
                <a:buNone/>
              </a:pPr>
              <a:r>
                <a:rPr lang="en-US" altLang="en-US" sz="2400"/>
                <a:t>các nút nội suy cách đều) xuất phát từ nút </a:t>
              </a:r>
              <a:r>
                <a:rPr lang="en-US" altLang="en-US" sz="2400" b="0" i="0"/>
                <a:t> </a:t>
              </a:r>
            </a:p>
          </p:txBody>
        </p:sp>
        <p:graphicFrame>
          <p:nvGraphicFramePr>
            <p:cNvPr id="28" name="Object 27">
              <a:extLst>
                <a:ext uri="{FF2B5EF4-FFF2-40B4-BE49-F238E27FC236}">
                  <a16:creationId xmlns:a16="http://schemas.microsoft.com/office/drawing/2014/main" id="{A2CEB75D-DC09-6D5F-D045-F81B8A96E6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9165795"/>
                </p:ext>
              </p:extLst>
            </p:nvPr>
          </p:nvGraphicFramePr>
          <p:xfrm>
            <a:off x="1743722" y="1026334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27000" imgH="304560" progId="Equation.DSMT4">
                    <p:embed/>
                  </p:oleObj>
                </mc:Choice>
                <mc:Fallback>
                  <p:oleObj name="Equation" r:id="rId8" imgW="927000" imgH="304560" progId="Equation.DSMT4">
                    <p:embed/>
                    <p:pic>
                      <p:nvPicPr>
                        <p:cNvPr id="28" name="Object 27">
                          <a:extLst>
                            <a:ext uri="{FF2B5EF4-FFF2-40B4-BE49-F238E27FC236}">
                              <a16:creationId xmlns:a16="http://schemas.microsoft.com/office/drawing/2014/main" id="{A2CEB75D-DC09-6D5F-D045-F81B8A96E6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743722" y="1026334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8831F528-3A5F-6A95-1539-C2B55FEB77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6720353"/>
                </p:ext>
              </p:extLst>
            </p:nvPr>
          </p:nvGraphicFramePr>
          <p:xfrm>
            <a:off x="5645767" y="1454217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200" imgH="330120" progId="Equation.DSMT4">
                    <p:embed/>
                  </p:oleObj>
                </mc:Choice>
                <mc:Fallback>
                  <p:oleObj name="Equation" r:id="rId10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645767" y="1454217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7FABB8B-A40E-BCAB-608E-CE0C90CB6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336994"/>
              </p:ext>
            </p:extLst>
          </p:nvPr>
        </p:nvGraphicFramePr>
        <p:xfrm>
          <a:off x="1743722" y="2439758"/>
          <a:ext cx="4572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2000" imgH="825480" progId="Equation.DSMT4">
                  <p:embed/>
                </p:oleObj>
              </mc:Choice>
              <mc:Fallback>
                <p:oleObj name="Equation" r:id="rId12" imgW="45720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43722" y="2439758"/>
                        <a:ext cx="45720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9306E6E-12CA-D108-1502-340C4ECCEC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372548"/>
              </p:ext>
            </p:extLst>
          </p:nvPr>
        </p:nvGraphicFramePr>
        <p:xfrm>
          <a:off x="1736324" y="3225775"/>
          <a:ext cx="4889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89160" imgH="825480" progId="Equation.DSMT4">
                  <p:embed/>
                </p:oleObj>
              </mc:Choice>
              <mc:Fallback>
                <p:oleObj name="Equation" r:id="rId14" imgW="4889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36324" y="3225775"/>
                        <a:ext cx="4889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9E5BB20-D577-EC5A-E1EE-F29B16695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894762"/>
              </p:ext>
            </p:extLst>
          </p:nvPr>
        </p:nvGraphicFramePr>
        <p:xfrm>
          <a:off x="1577019" y="3886200"/>
          <a:ext cx="6426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26000" imgH="825480" progId="Equation.DSMT4">
                  <p:embed/>
                </p:oleObj>
              </mc:Choice>
              <mc:Fallback>
                <p:oleObj name="Equation" r:id="rId16" imgW="642600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77019" y="3886200"/>
                        <a:ext cx="64262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C951106A-6E76-8B2F-8807-A4C6C4833DB0}"/>
              </a:ext>
            </a:extLst>
          </p:cNvPr>
          <p:cNvGrpSpPr/>
          <p:nvPr/>
        </p:nvGrpSpPr>
        <p:grpSpPr>
          <a:xfrm>
            <a:off x="228600" y="4637112"/>
            <a:ext cx="7772400" cy="673100"/>
            <a:chOff x="228600" y="4637112"/>
            <a:chExt cx="7772400" cy="673100"/>
          </a:xfrm>
        </p:grpSpPr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C7F69D3E-12F1-A2EA-A5AA-1665064E5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4689843"/>
              <a:ext cx="7772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Giả sử                  bị chặn,  </a:t>
              </a:r>
              <a:endParaRPr lang="en-US" altLang="en-US" sz="2400" b="0"/>
            </a:p>
          </p:txBody>
        </p:sp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662BD3F0-91F7-3B38-2586-264DB45744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1119980"/>
                </p:ext>
              </p:extLst>
            </p:nvPr>
          </p:nvGraphicFramePr>
          <p:xfrm>
            <a:off x="1228077" y="4637112"/>
            <a:ext cx="12065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06360" imgH="672840" progId="Equation.DSMT4">
                    <p:embed/>
                  </p:oleObj>
                </mc:Choice>
                <mc:Fallback>
                  <p:oleObj name="Equation" r:id="rId18" imgW="1206360" imgH="672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28077" y="4637112"/>
                          <a:ext cx="12065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B4046933-3C25-7DE2-E651-65ED712551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4995672"/>
                </p:ext>
              </p:extLst>
            </p:nvPr>
          </p:nvGraphicFramePr>
          <p:xfrm>
            <a:off x="3594100" y="4778301"/>
            <a:ext cx="1193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93760" imgH="330120" progId="Equation.DSMT4">
                    <p:embed/>
                  </p:oleObj>
                </mc:Choice>
                <mc:Fallback>
                  <p:oleObj name="Equation" r:id="rId20" imgW="11937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594100" y="4778301"/>
                          <a:ext cx="1193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6A45E369-428C-C395-726B-25A46D56B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42021"/>
              </p:ext>
            </p:extLst>
          </p:nvPr>
        </p:nvGraphicFramePr>
        <p:xfrm>
          <a:off x="4956175" y="4559325"/>
          <a:ext cx="35052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04960" imgH="711000" progId="Equation.DSMT4">
                  <p:embed/>
                </p:oleObj>
              </mc:Choice>
              <mc:Fallback>
                <p:oleObj name="Equation" r:id="rId22" imgW="3504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56175" y="4559325"/>
                        <a:ext cx="35052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A2113E0-E4B2-F176-5ED1-700FBB9F6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395736"/>
              </p:ext>
            </p:extLst>
          </p:nvPr>
        </p:nvGraphicFramePr>
        <p:xfrm>
          <a:off x="2260600" y="5308346"/>
          <a:ext cx="5740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740200" imgH="711000" progId="Equation.DSMT4">
                  <p:embed/>
                </p:oleObj>
              </mc:Choice>
              <mc:Fallback>
                <p:oleObj name="Equation" r:id="rId24" imgW="57402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260600" y="5308346"/>
                        <a:ext cx="57404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7469A739-99EB-2185-A8B6-57C8B1815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848344"/>
              </p:ext>
            </p:extLst>
          </p:nvPr>
        </p:nvGraphicFramePr>
        <p:xfrm>
          <a:off x="613422" y="6253322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30040" imgH="330120" progId="Equation.DSMT4">
                  <p:embed/>
                </p:oleObj>
              </mc:Choice>
              <mc:Fallback>
                <p:oleObj name="Equation" r:id="rId26" imgW="11300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13422" y="6253322"/>
                        <a:ext cx="1130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34C6C328-E7F7-66E0-72AC-9CFCE4094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721597"/>
              </p:ext>
            </p:extLst>
          </p:nvPr>
        </p:nvGraphicFramePr>
        <p:xfrm>
          <a:off x="2434577" y="6062822"/>
          <a:ext cx="4152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152600" imgH="711000" progId="Equation.DSMT4">
                  <p:embed/>
                </p:oleObj>
              </mc:Choice>
              <mc:Fallback>
                <p:oleObj name="Equation" r:id="rId28" imgW="41526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434577" y="6062822"/>
                        <a:ext cx="4152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1919713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6">
            <a:extLst>
              <a:ext uri="{FF2B5EF4-FFF2-40B4-BE49-F238E27FC236}">
                <a16:creationId xmlns:a16="http://schemas.microsoft.com/office/drawing/2014/main" id="{1D66D703-B9C2-A6B4-0968-EF046E53C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23" y="55357"/>
            <a:ext cx="777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Công thức tính gần đúng đạo hàm cấp một.</a:t>
            </a:r>
            <a:endParaRPr lang="en-US" altLang="en-US" sz="2400" b="0" i="1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9C4C36F0-C3AD-223E-4EFD-28FBDC15B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156212"/>
              </p:ext>
            </p:extLst>
          </p:nvPr>
        </p:nvGraphicFramePr>
        <p:xfrm>
          <a:off x="3013969" y="1239744"/>
          <a:ext cx="236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960" imgH="330120" progId="Equation.DSMT4">
                  <p:embed/>
                </p:oleObj>
              </mc:Choice>
              <mc:Fallback>
                <p:oleObj name="Equation" r:id="rId2" imgW="2361960" imgH="33012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9C4C36F0-C3AD-223E-4EFD-28FBDC15B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13969" y="1239744"/>
                        <a:ext cx="2362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A8D5AE4-84AC-8FDA-40CC-6BF7C35A156D}"/>
              </a:ext>
            </a:extLst>
          </p:cNvPr>
          <p:cNvGrpSpPr/>
          <p:nvPr/>
        </p:nvGrpSpPr>
        <p:grpSpPr>
          <a:xfrm>
            <a:off x="266700" y="685800"/>
            <a:ext cx="8039100" cy="461665"/>
            <a:chOff x="266700" y="685800"/>
            <a:chExt cx="8039100" cy="461665"/>
          </a:xfrm>
        </p:grpSpPr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D7D14E9C-AD2F-3D76-5D46-CF4C6CF7A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" y="685800"/>
              <a:ext cx="8039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>
                  <a:solidFill>
                    <a:srgbClr val="FF0000"/>
                  </a:solidFill>
                </a:rPr>
                <a:t>TH2: ba nút nội suy             </a:t>
              </a:r>
              <a:r>
                <a:rPr lang="en-US" altLang="en-US" sz="2400"/>
                <a:t>                                 </a:t>
              </a:r>
              <a:endParaRPr lang="en-US" altLang="en-US" sz="2400" b="0" i="1"/>
            </a:p>
          </p:txBody>
        </p:sp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8CBE3F6C-1F50-33CA-A18F-338CB306F0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4681290"/>
                </p:ext>
              </p:extLst>
            </p:nvPr>
          </p:nvGraphicFramePr>
          <p:xfrm>
            <a:off x="2848869" y="736980"/>
            <a:ext cx="36068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06480" imgH="406080" progId="Equation.DSMT4">
                    <p:embed/>
                  </p:oleObj>
                </mc:Choice>
                <mc:Fallback>
                  <p:oleObj name="Equation" r:id="rId4" imgW="3606480" imgH="406080" progId="Equation.DSMT4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8CBE3F6C-1F50-33CA-A18F-338CB306F04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48869" y="736980"/>
                          <a:ext cx="36068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6A45E369-428C-C395-726B-25A46D56B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13490"/>
              </p:ext>
            </p:extLst>
          </p:nvPr>
        </p:nvGraphicFramePr>
        <p:xfrm>
          <a:off x="3784600" y="2794000"/>
          <a:ext cx="4686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86120" imgH="711000" progId="Equation.DSMT4">
                  <p:embed/>
                </p:oleObj>
              </mc:Choice>
              <mc:Fallback>
                <p:oleObj name="Equation" r:id="rId6" imgW="4686120" imgH="7110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6A45E369-428C-C395-726B-25A46D56B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84600" y="2794000"/>
                        <a:ext cx="46863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27A45908-2221-6DFC-3159-887DA037A77A}"/>
              </a:ext>
            </a:extLst>
          </p:cNvPr>
          <p:cNvGrpSpPr/>
          <p:nvPr/>
        </p:nvGrpSpPr>
        <p:grpSpPr>
          <a:xfrm>
            <a:off x="337721" y="1640983"/>
            <a:ext cx="8305800" cy="904863"/>
            <a:chOff x="337721" y="1640983"/>
            <a:chExt cx="8305800" cy="904863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EF66A92A-7304-0FC8-DA02-CC19D4AF7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721" y="1640983"/>
              <a:ext cx="8305800" cy="90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Thay hàm              bằng đa thức nội suy Newton tiến bậc hai (TH </a:t>
              </a:r>
            </a:p>
            <a:p>
              <a:pPr algn="just">
                <a:buFontTx/>
                <a:buNone/>
              </a:pPr>
              <a:r>
                <a:rPr lang="en-US" altLang="en-US" sz="2400"/>
                <a:t>các nút nội suy cách đều) xuất phát từ nút    , hoàn toàn tương tự: </a:t>
              </a:r>
              <a:r>
                <a:rPr lang="en-US" altLang="en-US" sz="2400" b="0" i="0"/>
                <a:t> </a:t>
              </a:r>
            </a:p>
          </p:txBody>
        </p:sp>
        <p:graphicFrame>
          <p:nvGraphicFramePr>
            <p:cNvPr id="28" name="Object 27">
              <a:extLst>
                <a:ext uri="{FF2B5EF4-FFF2-40B4-BE49-F238E27FC236}">
                  <a16:creationId xmlns:a16="http://schemas.microsoft.com/office/drawing/2014/main" id="{A2CEB75D-DC09-6D5F-D045-F81B8A96E6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8784053"/>
                </p:ext>
              </p:extLst>
            </p:nvPr>
          </p:nvGraphicFramePr>
          <p:xfrm>
            <a:off x="1752600" y="1754128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927000" imgH="304560" progId="Equation.DSMT4">
                    <p:embed/>
                  </p:oleObj>
                </mc:Choice>
                <mc:Fallback>
                  <p:oleObj name="Equation" r:id="rId8" imgW="927000" imgH="304560" progId="Equation.DSMT4">
                    <p:embed/>
                    <p:pic>
                      <p:nvPicPr>
                        <p:cNvPr id="28" name="Object 27">
                          <a:extLst>
                            <a:ext uri="{FF2B5EF4-FFF2-40B4-BE49-F238E27FC236}">
                              <a16:creationId xmlns:a16="http://schemas.microsoft.com/office/drawing/2014/main" id="{A2CEB75D-DC09-6D5F-D045-F81B8A96E6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752600" y="1754128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0910EBC3-BCF3-89CF-88C5-5FC590EB3E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317244"/>
                </p:ext>
              </p:extLst>
            </p:nvPr>
          </p:nvGraphicFramePr>
          <p:xfrm>
            <a:off x="5562600" y="2167896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200" imgH="330120" progId="Equation.DSMT4">
                    <p:embed/>
                  </p:oleObj>
                </mc:Choice>
                <mc:Fallback>
                  <p:oleObj name="Equation" r:id="rId10" imgW="241200" imgH="330120" progId="Equation.DSMT4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8831F528-3A5F-6A95-1539-C2B55FEB77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562600" y="2167896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4689190-5FF7-5B40-7864-EB260A771E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907416"/>
              </p:ext>
            </p:extLst>
          </p:nvPr>
        </p:nvGraphicFramePr>
        <p:xfrm>
          <a:off x="4406900" y="3937000"/>
          <a:ext cx="3873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73240" imgH="711000" progId="Equation.DSMT4">
                  <p:embed/>
                </p:oleObj>
              </mc:Choice>
              <mc:Fallback>
                <p:oleObj name="Equation" r:id="rId12" imgW="38732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06900" y="3937000"/>
                        <a:ext cx="3873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61754E99-6330-55F9-01B5-8A1DD6A57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854849"/>
              </p:ext>
            </p:extLst>
          </p:nvPr>
        </p:nvGraphicFramePr>
        <p:xfrm>
          <a:off x="3708400" y="5080000"/>
          <a:ext cx="4533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33840" imgH="711000" progId="Equation.DSMT4">
                  <p:embed/>
                </p:oleObj>
              </mc:Choice>
              <mc:Fallback>
                <p:oleObj name="Equation" r:id="rId14" imgW="45338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08400" y="5080000"/>
                        <a:ext cx="4533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6">
            <a:extLst>
              <a:ext uri="{FF2B5EF4-FFF2-40B4-BE49-F238E27FC236}">
                <a16:creationId xmlns:a16="http://schemas.microsoft.com/office/drawing/2014/main" id="{5FDB08A9-1B47-5F90-7216-875122541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28" y="2970392"/>
            <a:ext cx="803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sai phân tiến </a:t>
            </a:r>
            <a:endParaRPr lang="en-US" altLang="en-US" sz="2400" b="0" i="1"/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12249B6E-EBA6-D03C-AC43-357B5ABE6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70" y="4003942"/>
            <a:ext cx="803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sai phân hướng tâm </a:t>
            </a:r>
            <a:endParaRPr lang="en-US" altLang="en-US" sz="2400" b="0" i="1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2C46D05F-18BC-18A4-5605-B34C61DF6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471" y="5179101"/>
            <a:ext cx="803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sai phân lùi </a:t>
            </a:r>
            <a:endParaRPr lang="en-US" altLang="en-US" sz="2400" b="0" i="1"/>
          </a:p>
        </p:txBody>
      </p:sp>
    </p:spTree>
    <p:extLst>
      <p:ext uri="{BB962C8B-B14F-4D97-AF65-F5344CB8AC3E}">
        <p14:creationId xmlns:p14="http://schemas.microsoft.com/office/powerpoint/2010/main" val="231849034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5B015A7C-6A30-5C2A-62B7-97A3447CF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95354"/>
            <a:ext cx="8604250" cy="461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dựa vào dữ liệu:</a:t>
            </a:r>
          </a:p>
        </p:txBody>
      </p:sp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4" y="73124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1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492135"/>
            <a:ext cx="8660031" cy="1103402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94" y="47943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Tính gần đúng            của hàm                theo công thức sai phân tiến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758509"/>
              </p:ext>
            </p:extLst>
          </p:nvPr>
        </p:nvGraphicFramePr>
        <p:xfrm>
          <a:off x="2654300" y="1048966"/>
          <a:ext cx="535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59320" imgH="393480" progId="Equation.DSMT4">
                  <p:embed/>
                </p:oleObj>
              </mc:Choice>
              <mc:Fallback>
                <p:oleObj name="Equation" r:id="rId2" imgW="535932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1048966"/>
                        <a:ext cx="5359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767360"/>
              </p:ext>
            </p:extLst>
          </p:nvPr>
        </p:nvGraphicFramePr>
        <p:xfrm>
          <a:off x="2311400" y="50165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393480" progId="Equation.DSMT4">
                  <p:embed/>
                </p:oleObj>
              </mc:Choice>
              <mc:Fallback>
                <p:oleObj name="Equation" r:id="rId4" imgW="736560" imgH="393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501650"/>
                        <a:ext cx="736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8FAE83C-C60F-F305-0406-82D333A326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234799"/>
              </p:ext>
            </p:extLst>
          </p:nvPr>
        </p:nvGraphicFramePr>
        <p:xfrm>
          <a:off x="4203700" y="5588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342720" progId="Equation.DSMT4">
                  <p:embed/>
                </p:oleObj>
              </mc:Choice>
              <mc:Fallback>
                <p:oleObj name="Equation" r:id="rId6" imgW="1130040" imgH="34272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8FAE83C-C60F-F305-0406-82D333A32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0" y="558800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F2BB973-0F86-6E7B-1CBF-8D2A88E5C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577099"/>
              </p:ext>
            </p:extLst>
          </p:nvPr>
        </p:nvGraphicFramePr>
        <p:xfrm>
          <a:off x="584200" y="1701800"/>
          <a:ext cx="596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266400" progId="Equation.DSMT4">
                  <p:embed/>
                </p:oleObj>
              </mc:Choice>
              <mc:Fallback>
                <p:oleObj name="Equation" r:id="rId8" imgW="596880" imgH="2664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F2BB973-0F86-6E7B-1CBF-8D2A88E5C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1701800"/>
                        <a:ext cx="596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Text Box 6">
            <a:extLst>
              <a:ext uri="{FF2B5EF4-FFF2-40B4-BE49-F238E27FC236}">
                <a16:creationId xmlns:a16="http://schemas.microsoft.com/office/drawing/2014/main" id="{E7AC78F6-692E-0072-E256-F347BA396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278" y="1593421"/>
            <a:ext cx="52927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Theo công thức sai phân tiến: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BA349B2-983E-E0E5-403A-373E9AE80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396263"/>
              </p:ext>
            </p:extLst>
          </p:nvPr>
        </p:nvGraphicFramePr>
        <p:xfrm>
          <a:off x="1499969" y="2170267"/>
          <a:ext cx="4686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86120" imgH="711000" progId="Equation.DSMT4">
                  <p:embed/>
                </p:oleObj>
              </mc:Choice>
              <mc:Fallback>
                <p:oleObj name="Equation" r:id="rId10" imgW="4686120" imgH="7110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6A45E369-428C-C395-726B-25A46D56B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99969" y="2170267"/>
                        <a:ext cx="46863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7D3E4DE-604F-82E0-FA77-5085F83C2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974090"/>
              </p:ext>
            </p:extLst>
          </p:nvPr>
        </p:nvGraphicFramePr>
        <p:xfrm>
          <a:off x="1499969" y="2956493"/>
          <a:ext cx="6210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10000" imgH="672840" progId="Equation.DSMT4">
                  <p:embed/>
                </p:oleObj>
              </mc:Choice>
              <mc:Fallback>
                <p:oleObj name="Equation" r:id="rId12" imgW="62100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99969" y="2956493"/>
                        <a:ext cx="6210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>
            <a:extLst>
              <a:ext uri="{FF2B5EF4-FFF2-40B4-BE49-F238E27FC236}">
                <a16:creationId xmlns:a16="http://schemas.microsoft.com/office/drawing/2014/main" id="{1A4C98CE-7F76-B90A-AFEF-703885FCF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3810000"/>
            <a:ext cx="52927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Đánh giá sai số</a:t>
            </a:r>
            <a:endParaRPr lang="en-US" altLang="en-US" sz="2400" b="0" i="0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BCF8A09A-5265-D9D3-B4E0-FA0D590BEF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252603"/>
              </p:ext>
            </p:extLst>
          </p:nvPr>
        </p:nvGraphicFramePr>
        <p:xfrm>
          <a:off x="2895600" y="3697932"/>
          <a:ext cx="4152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52600" imgH="685800" progId="Equation.DSMT4">
                  <p:embed/>
                </p:oleObj>
              </mc:Choice>
              <mc:Fallback>
                <p:oleObj name="Equation" r:id="rId14" imgW="415260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95600" y="3697932"/>
                        <a:ext cx="41529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0B0EECC4-4B31-2F43-761E-91E2B3C1F1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018987"/>
              </p:ext>
            </p:extLst>
          </p:nvPr>
        </p:nvGraphicFramePr>
        <p:xfrm>
          <a:off x="2965450" y="4521200"/>
          <a:ext cx="405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51080" imgH="723600" progId="Equation.DSMT4">
                  <p:embed/>
                </p:oleObj>
              </mc:Choice>
              <mc:Fallback>
                <p:oleObj name="Equation" r:id="rId16" imgW="40510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65450" y="4521200"/>
                        <a:ext cx="4051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2990C61-AFF5-E788-5D08-33171AA24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87760"/>
              </p:ext>
            </p:extLst>
          </p:nvPr>
        </p:nvGraphicFramePr>
        <p:xfrm>
          <a:off x="2895600" y="5402046"/>
          <a:ext cx="553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37160" imgH="736560" progId="Equation.DSMT4">
                  <p:embed/>
                </p:oleObj>
              </mc:Choice>
              <mc:Fallback>
                <p:oleObj name="Equation" r:id="rId18" imgW="5537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95600" y="5402046"/>
                        <a:ext cx="553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8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4" y="73124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2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492135"/>
            <a:ext cx="8660031" cy="908064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94" y="47943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Tính gần đúng                        của hàm                 dựa vào dữ liệu: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440570"/>
              </p:ext>
            </p:extLst>
          </p:nvPr>
        </p:nvGraphicFramePr>
        <p:xfrm>
          <a:off x="685800" y="1019199"/>
          <a:ext cx="751840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18240" imgH="380880" progId="Equation.DSMT4">
                  <p:embed/>
                </p:oleObj>
              </mc:Choice>
              <mc:Fallback>
                <p:oleObj name="Equation" r:id="rId2" imgW="7518240" imgH="3808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019199"/>
                        <a:ext cx="7518401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923089"/>
              </p:ext>
            </p:extLst>
          </p:nvPr>
        </p:nvGraphicFramePr>
        <p:xfrm>
          <a:off x="2337604" y="503995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160" imgH="406080" progId="Equation.DSMT4">
                  <p:embed/>
                </p:oleObj>
              </mc:Choice>
              <mc:Fallback>
                <p:oleObj name="Equation" r:id="rId4" imgW="1676160" imgH="4060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604" y="503995"/>
                        <a:ext cx="1676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8FAE83C-C60F-F305-0406-82D333A326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201322"/>
              </p:ext>
            </p:extLst>
          </p:nvPr>
        </p:nvGraphicFramePr>
        <p:xfrm>
          <a:off x="5241925" y="571500"/>
          <a:ext cx="977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317160" progId="Equation.DSMT4">
                  <p:embed/>
                </p:oleObj>
              </mc:Choice>
              <mc:Fallback>
                <p:oleObj name="Equation" r:id="rId6" imgW="977760" imgH="3171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8FAE83C-C60F-F305-0406-82D333A32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571500"/>
                        <a:ext cx="977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06DA1B2-BE0F-3E93-7632-B7B060EFE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525017"/>
              </p:ext>
            </p:extLst>
          </p:nvPr>
        </p:nvGraphicFramePr>
        <p:xfrm>
          <a:off x="1676400" y="1676400"/>
          <a:ext cx="4686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86120" imgH="711000" progId="Equation.DSMT4">
                  <p:embed/>
                </p:oleObj>
              </mc:Choice>
              <mc:Fallback>
                <p:oleObj name="Equation" r:id="rId8" imgW="4686120" imgH="7110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6A45E369-428C-C395-726B-25A46D56BB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6400" y="1676400"/>
                        <a:ext cx="46863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673CDE3-3F8F-2152-5959-DCD3CCDFA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574306"/>
              </p:ext>
            </p:extLst>
          </p:nvPr>
        </p:nvGraphicFramePr>
        <p:xfrm>
          <a:off x="2298700" y="2819400"/>
          <a:ext cx="3873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73240" imgH="711000" progId="Equation.DSMT4">
                  <p:embed/>
                </p:oleObj>
              </mc:Choice>
              <mc:Fallback>
                <p:oleObj name="Equation" r:id="rId10" imgW="3873240" imgH="7110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44689190-5FF7-5B40-7864-EB260A771E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98700" y="2819400"/>
                        <a:ext cx="3873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F84AC8-5691-F29E-D70F-803AB4D05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990842"/>
              </p:ext>
            </p:extLst>
          </p:nvPr>
        </p:nvGraphicFramePr>
        <p:xfrm>
          <a:off x="1600200" y="3962400"/>
          <a:ext cx="4533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33840" imgH="711000" progId="Equation.DSMT4">
                  <p:embed/>
                </p:oleObj>
              </mc:Choice>
              <mc:Fallback>
                <p:oleObj name="Equation" r:id="rId12" imgW="4533840" imgH="7110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61754E99-6330-55F9-01B5-8A1DD6A578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00200" y="3962400"/>
                        <a:ext cx="4533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913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44" y="73124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3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492135"/>
            <a:ext cx="8660031" cy="908064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94" y="47943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Tính gần đúng                        của hàm                  dựa vào dữ liệu: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566166"/>
              </p:ext>
            </p:extLst>
          </p:nvPr>
        </p:nvGraphicFramePr>
        <p:xfrm>
          <a:off x="1066800" y="930492"/>
          <a:ext cx="666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67200" imgH="380880" progId="Equation.DSMT4">
                  <p:embed/>
                </p:oleObj>
              </mc:Choice>
              <mc:Fallback>
                <p:oleObj name="Equation" r:id="rId2" imgW="6667200" imgH="3808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30492"/>
                        <a:ext cx="6667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7604" y="503995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160" imgH="406080" progId="Equation.DSMT4">
                  <p:embed/>
                </p:oleObj>
              </mc:Choice>
              <mc:Fallback>
                <p:oleObj name="Equation" r:id="rId4" imgW="1676160" imgH="4060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604" y="503995"/>
                        <a:ext cx="1676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8FAE83C-C60F-F305-0406-82D333A326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477195"/>
              </p:ext>
            </p:extLst>
          </p:nvPr>
        </p:nvGraphicFramePr>
        <p:xfrm>
          <a:off x="5181600" y="495300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393480" progId="Equation.DSMT4">
                  <p:embed/>
                </p:oleObj>
              </mc:Choice>
              <mc:Fallback>
                <p:oleObj name="Equation" r:id="rId6" imgW="118080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8FAE83C-C60F-F305-0406-82D333A32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"/>
                        <a:ext cx="1181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06DA1B2-BE0F-3E93-7632-B7B060EFEA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676400"/>
          <a:ext cx="4686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86120" imgH="711000" progId="Equation.DSMT4">
                  <p:embed/>
                </p:oleObj>
              </mc:Choice>
              <mc:Fallback>
                <p:oleObj name="Equation" r:id="rId8" imgW="4686120" imgH="7110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06DA1B2-BE0F-3E93-7632-B7B060EFEA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6400" y="1676400"/>
                        <a:ext cx="46863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673CDE3-3F8F-2152-5959-DCD3CCDFA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901954"/>
              </p:ext>
            </p:extLst>
          </p:nvPr>
        </p:nvGraphicFramePr>
        <p:xfrm>
          <a:off x="1676400" y="2872975"/>
          <a:ext cx="3873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73240" imgH="711000" progId="Equation.DSMT4">
                  <p:embed/>
                </p:oleObj>
              </mc:Choice>
              <mc:Fallback>
                <p:oleObj name="Equation" r:id="rId10" imgW="3873240" imgH="7110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673CDE3-3F8F-2152-5959-DCD3CCDFA8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76400" y="2872975"/>
                        <a:ext cx="3873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F84AC8-5691-F29E-D70F-803AB4D05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326771"/>
              </p:ext>
            </p:extLst>
          </p:nvPr>
        </p:nvGraphicFramePr>
        <p:xfrm>
          <a:off x="1798468" y="3886200"/>
          <a:ext cx="4533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33840" imgH="711000" progId="Equation.DSMT4">
                  <p:embed/>
                </p:oleObj>
              </mc:Choice>
              <mc:Fallback>
                <p:oleObj name="Equation" r:id="rId12" imgW="4533840" imgH="711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7F84AC8-5691-F29E-D70F-803AB4D05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98468" y="3886200"/>
                        <a:ext cx="4533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646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9A2113E0-E4B2-F176-5ED1-700FBB9F6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766556"/>
              </p:ext>
            </p:extLst>
          </p:nvPr>
        </p:nvGraphicFramePr>
        <p:xfrm>
          <a:off x="2667000" y="4183183"/>
          <a:ext cx="2298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672840" progId="Equation.DSMT4">
                  <p:embed/>
                </p:oleObj>
              </mc:Choice>
              <mc:Fallback>
                <p:oleObj name="Equation" r:id="rId2" imgW="2298600" imgH="6728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9A2113E0-E4B2-F176-5ED1-700FBB9F6E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7000" y="4183183"/>
                        <a:ext cx="2298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6">
            <a:extLst>
              <a:ext uri="{FF2B5EF4-FFF2-40B4-BE49-F238E27FC236}">
                <a16:creationId xmlns:a16="http://schemas.microsoft.com/office/drawing/2014/main" id="{39E080A2-A5A2-AD62-9819-DCF676BE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0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1/ Tính gần đúng tích phân xác định</a:t>
            </a: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46F0DD45-72FD-4D40-B2A0-968C6BD36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72" y="507232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Để tính tích phân xác định ta công thức Newton - Lebnitz</a:t>
            </a:r>
            <a:endParaRPr lang="en-US" altLang="en-US" sz="2400" b="0" i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EA0645AB-2DC2-B575-8350-4CD8B9DAD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766055"/>
              </p:ext>
            </p:extLst>
          </p:nvPr>
        </p:nvGraphicFramePr>
        <p:xfrm>
          <a:off x="1749262" y="1118605"/>
          <a:ext cx="3746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160" imgH="672840" progId="Equation.DSMT4">
                  <p:embed/>
                </p:oleObj>
              </mc:Choice>
              <mc:Fallback>
                <p:oleObj name="Equation" r:id="rId4" imgW="3746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9262" y="1118605"/>
                        <a:ext cx="37465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C27B9A5C-C282-1646-82AA-5A010AB1A070}"/>
              </a:ext>
            </a:extLst>
          </p:cNvPr>
          <p:cNvGrpSpPr/>
          <p:nvPr/>
        </p:nvGrpSpPr>
        <p:grpSpPr>
          <a:xfrm>
            <a:off x="402815" y="2056721"/>
            <a:ext cx="8763379" cy="913524"/>
            <a:chOff x="345172" y="1939564"/>
            <a:chExt cx="8763379" cy="91352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F1C261-E7A4-B99F-3ACB-8822E66E288A}"/>
                </a:ext>
              </a:extLst>
            </p:cNvPr>
            <p:cNvGrpSpPr/>
            <p:nvPr/>
          </p:nvGrpSpPr>
          <p:grpSpPr>
            <a:xfrm>
              <a:off x="345172" y="1939564"/>
              <a:ext cx="8682256" cy="461665"/>
              <a:chOff x="345172" y="1939564"/>
              <a:chExt cx="8682256" cy="461665"/>
            </a:xfrm>
          </p:grpSpPr>
          <p:sp>
            <p:nvSpPr>
              <p:cNvPr id="19" name="Text Box 6">
                <a:extLst>
                  <a:ext uri="{FF2B5EF4-FFF2-40B4-BE49-F238E27FC236}">
                    <a16:creationId xmlns:a16="http://schemas.microsoft.com/office/drawing/2014/main" id="{2F1C247D-DE0A-E7E6-17DB-56C65AB2B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172" y="1939564"/>
                <a:ext cx="86822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buFontTx/>
                  <a:buNone/>
                </a:pPr>
                <a:r>
                  <a:rPr lang="en-US" altLang="en-US" sz="2400" b="0" i="0"/>
                  <a:t> </a:t>
                </a:r>
                <a:r>
                  <a:rPr lang="en-US" altLang="en-US" sz="2400"/>
                  <a:t>Trong thực tế, đôi lúc cần tính tích phân của hàm </a:t>
                </a:r>
                <a:endParaRPr lang="en-US" altLang="en-US" sz="2400" b="0" i="0"/>
              </a:p>
            </p:txBody>
          </p:sp>
          <p:graphicFrame>
            <p:nvGraphicFramePr>
              <p:cNvPr id="20" name="Object 19">
                <a:extLst>
                  <a:ext uri="{FF2B5EF4-FFF2-40B4-BE49-F238E27FC236}">
                    <a16:creationId xmlns:a16="http://schemas.microsoft.com/office/drawing/2014/main" id="{02A3427B-84C6-DFBE-2086-4B0E5C0911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8026646"/>
                  </p:ext>
                </p:extLst>
              </p:nvPr>
            </p:nvGraphicFramePr>
            <p:xfrm>
              <a:off x="6629400" y="2007529"/>
              <a:ext cx="10541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054080" imgH="393480" progId="Equation.DSMT4">
                      <p:embed/>
                    </p:oleObj>
                  </mc:Choice>
                  <mc:Fallback>
                    <p:oleObj name="Equation" r:id="rId6" imgW="1054080" imgH="393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6629400" y="2007529"/>
                            <a:ext cx="1054100" cy="393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7" name="Text Box 6">
              <a:extLst>
                <a:ext uri="{FF2B5EF4-FFF2-40B4-BE49-F238E27FC236}">
                  <a16:creationId xmlns:a16="http://schemas.microsoft.com/office/drawing/2014/main" id="{B39E2E6D-D65A-EE79-368F-E72554671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95" y="2391423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/>
                <a:t>cho bởi bảng dữ liệu.</a:t>
              </a:r>
              <a:endParaRPr lang="en-US" altLang="en-US" sz="2400" b="0" i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960AFD-80C1-EBA2-5668-09846B280E24}"/>
              </a:ext>
            </a:extLst>
          </p:cNvPr>
          <p:cNvGrpSpPr/>
          <p:nvPr/>
        </p:nvGrpSpPr>
        <p:grpSpPr>
          <a:xfrm>
            <a:off x="430188" y="3422104"/>
            <a:ext cx="8682256" cy="476377"/>
            <a:chOff x="426295" y="2890761"/>
            <a:chExt cx="8682256" cy="476377"/>
          </a:xfrm>
        </p:grpSpPr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A5D3FAF4-0E29-95F0-96B6-2E63F309E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95" y="2890761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Để t</a:t>
              </a:r>
              <a:r>
                <a:rPr lang="en-US" altLang="en-US" sz="2400"/>
                <a:t>ính tích phân, ta thay                bằng đa thức nội suy </a:t>
              </a:r>
              <a:endParaRPr lang="en-US" altLang="en-US" sz="2400" b="0" i="0"/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2F249589-C997-F970-12B7-370056B347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6226823"/>
                </p:ext>
              </p:extLst>
            </p:nvPr>
          </p:nvGraphicFramePr>
          <p:xfrm>
            <a:off x="3748835" y="2960431"/>
            <a:ext cx="1054100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54672" imgH="394765" progId="Equation.DSMT4">
                    <p:embed/>
                  </p:oleObj>
                </mc:Choice>
                <mc:Fallback>
                  <p:oleObj name="Equation" r:id="rId8" imgW="1054672" imgH="39476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748835" y="2960431"/>
                          <a:ext cx="1054100" cy="395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>
              <a:extLst>
                <a:ext uri="{FF2B5EF4-FFF2-40B4-BE49-F238E27FC236}">
                  <a16:creationId xmlns:a16="http://schemas.microsoft.com/office/drawing/2014/main" id="{B1BF2B06-7C64-0FA1-1EAF-11F4C1A5D7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2669037"/>
                </p:ext>
              </p:extLst>
            </p:nvPr>
          </p:nvGraphicFramePr>
          <p:xfrm>
            <a:off x="7543800" y="2973438"/>
            <a:ext cx="673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72840" imgH="393480" progId="Equation.DSMT4">
                    <p:embed/>
                  </p:oleObj>
                </mc:Choice>
                <mc:Fallback>
                  <p:oleObj name="Equation" r:id="rId10" imgW="6728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543800" y="2973438"/>
                          <a:ext cx="673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0756208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>
            <a:extLst>
              <a:ext uri="{FF2B5EF4-FFF2-40B4-BE49-F238E27FC236}">
                <a16:creationId xmlns:a16="http://schemas.microsoft.com/office/drawing/2014/main" id="{39E080A2-A5A2-AD62-9819-DCF676BE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84" y="71629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Công thức hình thang và sai số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709A27D-BF7E-E9BA-F3DA-401B2A4C37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604830"/>
              </p:ext>
            </p:extLst>
          </p:nvPr>
        </p:nvGraphicFramePr>
        <p:xfrm>
          <a:off x="1831484" y="1770741"/>
          <a:ext cx="2260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672840" progId="Equation.DSMT4">
                  <p:embed/>
                </p:oleObj>
              </mc:Choice>
              <mc:Fallback>
                <p:oleObj name="Equation" r:id="rId2" imgW="22604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1484" y="1770741"/>
                        <a:ext cx="2260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F160A893-D8B1-FCCF-CCA2-73523671E7DC}"/>
              </a:ext>
            </a:extLst>
          </p:cNvPr>
          <p:cNvGrpSpPr/>
          <p:nvPr/>
        </p:nvGrpSpPr>
        <p:grpSpPr>
          <a:xfrm>
            <a:off x="230872" y="520564"/>
            <a:ext cx="8682256" cy="1066800"/>
            <a:chOff x="230872" y="533400"/>
            <a:chExt cx="8682256" cy="1066800"/>
          </a:xfrm>
        </p:grpSpPr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9A2113E0-E4B2-F176-5ED1-700FBB9F6E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1308922"/>
                </p:ext>
              </p:extLst>
            </p:nvPr>
          </p:nvGraphicFramePr>
          <p:xfrm>
            <a:off x="381000" y="1155700"/>
            <a:ext cx="26543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54280" imgH="444240" progId="Equation.DSMT4">
                    <p:embed/>
                  </p:oleObj>
                </mc:Choice>
                <mc:Fallback>
                  <p:oleObj name="Equation" r:id="rId4" imgW="2654280" imgH="444240" progId="Equation.DSMT4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9A2113E0-E4B2-F176-5ED1-700FBB9F6E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1000" y="1155700"/>
                          <a:ext cx="26543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A5D3FAF4-0E29-95F0-96B6-2E63F309E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72" y="5334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T</a:t>
              </a:r>
              <a:r>
                <a:rPr lang="en-US" altLang="en-US" sz="2400"/>
                <a:t>hay          bằng đa thức nội suy Newton tiến bậc một qua hai điểm </a:t>
              </a:r>
              <a:endParaRPr lang="en-US" altLang="en-US" sz="2400" b="0" i="0"/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2F249589-C997-F970-12B7-370056B347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7799626"/>
                </p:ext>
              </p:extLst>
            </p:nvPr>
          </p:nvGraphicFramePr>
          <p:xfrm>
            <a:off x="1008356" y="564726"/>
            <a:ext cx="6223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22080" imgH="393480" progId="Equation.DSMT4">
                    <p:embed/>
                  </p:oleObj>
                </mc:Choice>
                <mc:Fallback>
                  <p:oleObj name="Equation" r:id="rId6" imgW="622080" imgH="393480" progId="Equation.DSMT4">
                    <p:embed/>
                    <p:pic>
                      <p:nvPicPr>
                        <p:cNvPr id="30" name="Object 29">
                          <a:extLst>
                            <a:ext uri="{FF2B5EF4-FFF2-40B4-BE49-F238E27FC236}">
                              <a16:creationId xmlns:a16="http://schemas.microsoft.com/office/drawing/2014/main" id="{2F249589-C997-F970-12B7-370056B347F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08356" y="564726"/>
                          <a:ext cx="6223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4AC1CB46-0DE0-C3E2-9152-5C0E65BA2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1958" y="1115627"/>
              <a:ext cx="51793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xuất phát từ điểm trùng với cận dưới </a:t>
              </a:r>
              <a:r>
                <a:rPr lang="en-US" altLang="en-US" sz="2400" b="0" i="1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8FC960-69FC-3867-A02F-13165FE59815}"/>
              </a:ext>
            </a:extLst>
          </p:cNvPr>
          <p:cNvGrpSpPr/>
          <p:nvPr/>
        </p:nvGrpSpPr>
        <p:grpSpPr>
          <a:xfrm>
            <a:off x="1259332" y="2433935"/>
            <a:ext cx="5522468" cy="461665"/>
            <a:chOff x="1259332" y="2433935"/>
            <a:chExt cx="5522468" cy="461665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220B26C9-9C2C-C6C6-584F-2B23DE642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332" y="2433935"/>
              <a:ext cx="51793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Đổi biến số </a:t>
              </a:r>
              <a:endParaRPr lang="en-US" altLang="en-US" sz="2400" b="0" i="1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B291FD6A-053A-CB63-0601-83383AA0AA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4431334"/>
                </p:ext>
              </p:extLst>
            </p:nvPr>
          </p:nvGraphicFramePr>
          <p:xfrm>
            <a:off x="2861566" y="2500790"/>
            <a:ext cx="1714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714320" imgH="393480" progId="Equation.DSMT4">
                    <p:embed/>
                  </p:oleObj>
                </mc:Choice>
                <mc:Fallback>
                  <p:oleObj name="Equation" r:id="rId8" imgW="17143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861566" y="2500790"/>
                          <a:ext cx="17145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508D2B2F-3BDD-5641-B858-C1CF21D9B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818611"/>
                </p:ext>
              </p:extLst>
            </p:nvPr>
          </p:nvGraphicFramePr>
          <p:xfrm>
            <a:off x="4864100" y="2500790"/>
            <a:ext cx="1917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17360" imgH="393480" progId="Equation.DSMT4">
                    <p:embed/>
                  </p:oleObj>
                </mc:Choice>
                <mc:Fallback>
                  <p:oleObj name="Equation" r:id="rId10" imgW="19173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864100" y="2500790"/>
                          <a:ext cx="1917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C5C2E4-F990-20FC-5FCC-5F0EA327B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496162"/>
              </p:ext>
            </p:extLst>
          </p:nvPr>
        </p:nvGraphicFramePr>
        <p:xfrm>
          <a:off x="1306929" y="3163578"/>
          <a:ext cx="3606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06480" imgH="672840" progId="Equation.DSMT4">
                  <p:embed/>
                </p:oleObj>
              </mc:Choice>
              <mc:Fallback>
                <p:oleObj name="Equation" r:id="rId12" imgW="360648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06929" y="3163578"/>
                        <a:ext cx="3606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40E5BAD-BD8D-98A8-FCC6-AF204B3D46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080168"/>
              </p:ext>
            </p:extLst>
          </p:nvPr>
        </p:nvGraphicFramePr>
        <p:xfrm>
          <a:off x="5112736" y="3054321"/>
          <a:ext cx="2705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05040" imgH="939600" progId="Equation.DSMT4">
                  <p:embed/>
                </p:oleObj>
              </mc:Choice>
              <mc:Fallback>
                <p:oleObj name="Equation" r:id="rId14" imgW="27050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12736" y="3054321"/>
                        <a:ext cx="2705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76744C2-E183-5367-6D8F-D06107D0D6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554754"/>
              </p:ext>
            </p:extLst>
          </p:nvPr>
        </p:nvGraphicFramePr>
        <p:xfrm>
          <a:off x="1237422" y="4020055"/>
          <a:ext cx="439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94160" imgH="393480" progId="Equation.DSMT4">
                  <p:embed/>
                </p:oleObj>
              </mc:Choice>
              <mc:Fallback>
                <p:oleObj name="Equation" r:id="rId16" imgW="4394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37422" y="4020055"/>
                        <a:ext cx="4394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5612756-73AF-168C-763E-2F132DBBA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347047"/>
              </p:ext>
            </p:extLst>
          </p:nvPr>
        </p:nvGraphicFramePr>
        <p:xfrm>
          <a:off x="1209184" y="4795528"/>
          <a:ext cx="350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04960" imgH="685800" progId="Equation.DSMT4">
                  <p:embed/>
                </p:oleObj>
              </mc:Choice>
              <mc:Fallback>
                <p:oleObj name="Equation" r:id="rId18" imgW="35049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09184" y="4795528"/>
                        <a:ext cx="35052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D793A92-10B4-CA52-B703-70AC48D89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002712"/>
              </p:ext>
            </p:extLst>
          </p:nvPr>
        </p:nvGraphicFramePr>
        <p:xfrm>
          <a:off x="1197530" y="5703903"/>
          <a:ext cx="434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43400" imgH="723600" progId="Equation.DSMT4">
                  <p:embed/>
                </p:oleObj>
              </mc:Choice>
              <mc:Fallback>
                <p:oleObj name="Equation" r:id="rId20" imgW="4343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97530" y="5703903"/>
                        <a:ext cx="4343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A4EAB97-0066-307D-2A32-CF912D835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353125"/>
              </p:ext>
            </p:extLst>
          </p:nvPr>
        </p:nvGraphicFramePr>
        <p:xfrm>
          <a:off x="6151186" y="5930900"/>
          <a:ext cx="207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70000" imgH="393480" progId="Equation.DSMT4">
                  <p:embed/>
                </p:oleObj>
              </mc:Choice>
              <mc:Fallback>
                <p:oleObj name="Equation" r:id="rId22" imgW="2070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151186" y="5930900"/>
                        <a:ext cx="2070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82002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>
            <a:extLst>
              <a:ext uri="{FF2B5EF4-FFF2-40B4-BE49-F238E27FC236}">
                <a16:creationId xmlns:a16="http://schemas.microsoft.com/office/drawing/2014/main" id="{39E080A2-A5A2-AD62-9819-DCF676BE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0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Công thức hình thang tổng quát và sai số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709A27D-BF7E-E9BA-F3DA-401B2A4C37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474657"/>
              </p:ext>
            </p:extLst>
          </p:nvPr>
        </p:nvGraphicFramePr>
        <p:xfrm>
          <a:off x="2714036" y="498520"/>
          <a:ext cx="100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672840" progId="Equation.DSMT4">
                  <p:embed/>
                </p:oleObj>
              </mc:Choice>
              <mc:Fallback>
                <p:oleObj name="Equation" r:id="rId2" imgW="1002960" imgH="6728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709A27D-BF7E-E9BA-F3DA-401B2A4C37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4036" y="498520"/>
                        <a:ext cx="100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C5C2E4-F990-20FC-5FCC-5F0EA327B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827903"/>
              </p:ext>
            </p:extLst>
          </p:nvPr>
        </p:nvGraphicFramePr>
        <p:xfrm>
          <a:off x="4991100" y="242451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419040" progId="Equation.DSMT4">
                  <p:embed/>
                </p:oleObj>
              </mc:Choice>
              <mc:Fallback>
                <p:oleObj name="Equation" r:id="rId4" imgW="2019240" imgH="419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4C5C2E4-F990-20FC-5FCC-5F0EA327B8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91100" y="2424510"/>
                        <a:ext cx="2019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5612756-73AF-168C-763E-2F132DBBA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356859"/>
              </p:ext>
            </p:extLst>
          </p:nvPr>
        </p:nvGraphicFramePr>
        <p:xfrm>
          <a:off x="1092200" y="3022870"/>
          <a:ext cx="5384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84520" imgH="749160" progId="Equation.DSMT4">
                  <p:embed/>
                </p:oleObj>
              </mc:Choice>
              <mc:Fallback>
                <p:oleObj name="Equation" r:id="rId6" imgW="5384520" imgH="7491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E5612756-73AF-168C-763E-2F132DBBA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2200" y="3022870"/>
                        <a:ext cx="53848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1B149639-3160-8965-FB44-56DB7041A4F6}"/>
              </a:ext>
            </a:extLst>
          </p:cNvPr>
          <p:cNvGrpSpPr/>
          <p:nvPr/>
        </p:nvGrpSpPr>
        <p:grpSpPr>
          <a:xfrm>
            <a:off x="399742" y="1161355"/>
            <a:ext cx="8439458" cy="1211077"/>
            <a:chOff x="399742" y="1161355"/>
            <a:chExt cx="8439458" cy="1211077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220B26C9-9C2C-C6C6-584F-2B23DE642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742" y="1161355"/>
              <a:ext cx="84394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Chia         thành </a:t>
              </a:r>
              <a:r>
                <a:rPr lang="en-US" altLang="en-US" sz="2400" i="1"/>
                <a:t>n</a:t>
              </a:r>
              <a:r>
                <a:rPr lang="en-US" altLang="en-US" sz="2400"/>
                <a:t> đoạn bằng nhau (</a:t>
              </a:r>
              <a:r>
                <a:rPr lang="en-US" altLang="en-US" sz="2400" i="1"/>
                <a:t>n</a:t>
              </a:r>
              <a:r>
                <a:rPr lang="en-US" altLang="en-US" sz="2400"/>
                <a:t> nguyên, dương, chẵn hoặc lẻ) </a:t>
              </a:r>
              <a:endParaRPr lang="en-US" altLang="en-US" sz="2400" b="0" i="1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B291FD6A-053A-CB63-0601-83383AA0AA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1240518"/>
                </p:ext>
              </p:extLst>
            </p:nvPr>
          </p:nvGraphicFramePr>
          <p:xfrm>
            <a:off x="1135326" y="1230786"/>
            <a:ext cx="596900" cy="3929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96880" imgH="393480" progId="Equation.DSMT4">
                    <p:embed/>
                  </p:oleObj>
                </mc:Choice>
                <mc:Fallback>
                  <p:oleObj name="Equation" r:id="rId8" imgW="596880" imgH="39348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B291FD6A-053A-CB63-0601-83383AA0AA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35326" y="1230786"/>
                          <a:ext cx="596900" cy="3929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508D2B2F-3BDD-5641-B858-C1CF21D9B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6871029"/>
                </p:ext>
              </p:extLst>
            </p:nvPr>
          </p:nvGraphicFramePr>
          <p:xfrm>
            <a:off x="513425" y="1814427"/>
            <a:ext cx="29718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71800" imgH="393480" progId="Equation.DSMT4">
                    <p:embed/>
                  </p:oleObj>
                </mc:Choice>
                <mc:Fallback>
                  <p:oleObj name="Equation" r:id="rId10" imgW="2971800" imgH="39348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508D2B2F-3BDD-5641-B858-C1CF21D9BB8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3425" y="1814427"/>
                          <a:ext cx="29718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7D9C3A20-0E9D-0B0D-46C2-6D583B939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1751410"/>
              <a:ext cx="2971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có độ dài  </a:t>
              </a:r>
              <a:endParaRPr lang="en-US" altLang="en-US" sz="2400" b="0" i="1"/>
            </a:p>
          </p:txBody>
        </p:sp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47D5734E-3BD4-78B9-786C-7E7827DA8B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8399255"/>
                </p:ext>
              </p:extLst>
            </p:nvPr>
          </p:nvGraphicFramePr>
          <p:xfrm>
            <a:off x="4837684" y="1699332"/>
            <a:ext cx="10287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028520" imgH="672840" progId="Equation.DSMT4">
                    <p:embed/>
                  </p:oleObj>
                </mc:Choice>
                <mc:Fallback>
                  <p:oleObj name="Equation" r:id="rId12" imgW="1028520" imgH="672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837684" y="1699332"/>
                          <a:ext cx="10287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2029472E-7B69-59F8-9455-F78F43D74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535750"/>
              </p:ext>
            </p:extLst>
          </p:nvPr>
        </p:nvGraphicFramePr>
        <p:xfrm>
          <a:off x="914400" y="2458735"/>
          <a:ext cx="377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771720" imgH="393480" progId="Equation.DSMT4">
                  <p:embed/>
                </p:oleObj>
              </mc:Choice>
              <mc:Fallback>
                <p:oleObj name="Equation" r:id="rId14" imgW="37717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14400" y="2458735"/>
                        <a:ext cx="3771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498174FC-D6BB-06F0-2D08-964CB90F89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282105"/>
              </p:ext>
            </p:extLst>
          </p:nvPr>
        </p:nvGraphicFramePr>
        <p:xfrm>
          <a:off x="1168893" y="3974505"/>
          <a:ext cx="593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930640" imgH="685800" progId="Equation.DSMT4">
                  <p:embed/>
                </p:oleObj>
              </mc:Choice>
              <mc:Fallback>
                <p:oleObj name="Equation" r:id="rId16" imgW="59306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68893" y="3974505"/>
                        <a:ext cx="59309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DBCFF17A-4E01-A51F-6AB6-16B2F77631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885883"/>
              </p:ext>
            </p:extLst>
          </p:nvPr>
        </p:nvGraphicFramePr>
        <p:xfrm>
          <a:off x="1161125" y="4826944"/>
          <a:ext cx="4648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647960" imgH="749160" progId="Equation.DSMT4">
                  <p:embed/>
                </p:oleObj>
              </mc:Choice>
              <mc:Fallback>
                <p:oleObj name="Equation" r:id="rId18" imgW="46479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61125" y="4826944"/>
                        <a:ext cx="46482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7645A82A-C4F5-2CD2-6148-D9B96DC14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642931"/>
              </p:ext>
            </p:extLst>
          </p:nvPr>
        </p:nvGraphicFramePr>
        <p:xfrm>
          <a:off x="1244600" y="5791200"/>
          <a:ext cx="6654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654600" imgH="787320" progId="Equation.DSMT4">
                  <p:embed/>
                </p:oleObj>
              </mc:Choice>
              <mc:Fallback>
                <p:oleObj name="Equation" r:id="rId20" imgW="66546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44600" y="5791200"/>
                        <a:ext cx="6654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491498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2763685-A5F4-0D1B-96E3-EE34BD00E5EE}"/>
              </a:ext>
            </a:extLst>
          </p:cNvPr>
          <p:cNvGrpSpPr/>
          <p:nvPr/>
        </p:nvGrpSpPr>
        <p:grpSpPr>
          <a:xfrm>
            <a:off x="1905000" y="36990"/>
            <a:ext cx="6096000" cy="2920780"/>
            <a:chOff x="2362200" y="76557"/>
            <a:chExt cx="6096000" cy="292078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2E88507-EE70-1C8D-A213-6228670A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200" y="76557"/>
              <a:ext cx="3829050" cy="2438400"/>
            </a:xfrm>
            <a:prstGeom prst="rect">
              <a:avLst/>
            </a:prstGeom>
          </p:spPr>
        </p:pic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EFB8D3B9-2975-6772-7D6A-A030ABE9E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2535672"/>
              <a:ext cx="5943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Xấp xỉ bởi hình thang cho t</a:t>
              </a:r>
              <a:r>
                <a:rPr lang="en-US" altLang="en-US" sz="2400" b="0" i="0"/>
                <a:t>rường hợp 1 đoạn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60E60D-A635-3B57-4F27-24E585B60362}"/>
              </a:ext>
            </a:extLst>
          </p:cNvPr>
          <p:cNvGrpSpPr/>
          <p:nvPr/>
        </p:nvGrpSpPr>
        <p:grpSpPr>
          <a:xfrm>
            <a:off x="1524000" y="3276600"/>
            <a:ext cx="6553200" cy="2886352"/>
            <a:chOff x="1503933" y="3188880"/>
            <a:chExt cx="6553200" cy="28863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0F79BE-10A9-7A6C-FBCB-00D75AD6C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2133" y="3188880"/>
              <a:ext cx="4038600" cy="2418782"/>
            </a:xfrm>
            <a:prstGeom prst="rect">
              <a:avLst/>
            </a:prstGeom>
          </p:spPr>
        </p:pic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7F7B1997-BE29-B88A-F7FF-62FBE4CE2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3933" y="5613567"/>
              <a:ext cx="6553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Xấp xỉ bởi các hình thang tr</a:t>
              </a:r>
              <a:r>
                <a:rPr lang="en-US" altLang="en-US" sz="2400" b="0" i="0"/>
                <a:t>ường hợp nhiều đoạn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93338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4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381000"/>
            <a:ext cx="8660031" cy="1447799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19" y="58967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Tính gần đúng            bằng công thức hình thang mở rộng khi chia 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614332"/>
              </p:ext>
            </p:extLst>
          </p:nvPr>
        </p:nvGraphicFramePr>
        <p:xfrm>
          <a:off x="566738" y="1254125"/>
          <a:ext cx="53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93480" progId="Equation.DSMT4">
                  <p:embed/>
                </p:oleObj>
              </mc:Choice>
              <mc:Fallback>
                <p:oleObj name="Equation" r:id="rId2" imgW="53316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1254125"/>
                        <a:ext cx="53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538087"/>
              </p:ext>
            </p:extLst>
          </p:nvPr>
        </p:nvGraphicFramePr>
        <p:xfrm>
          <a:off x="2391460" y="396579"/>
          <a:ext cx="723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876240" progId="Equation.DSMT4">
                  <p:embed/>
                </p:oleObj>
              </mc:Choice>
              <mc:Fallback>
                <p:oleObj name="Equation" r:id="rId4" imgW="723600" imgH="8762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460" y="396579"/>
                        <a:ext cx="7239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50A5531A-45FA-03C4-2D82-F223642D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700" y="1199941"/>
            <a:ext cx="3498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thành 10 đoạn bằng nhau.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27F3364-3BC4-F119-B5DC-C62F75E40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369952"/>
              </p:ext>
            </p:extLst>
          </p:nvPr>
        </p:nvGraphicFramePr>
        <p:xfrm>
          <a:off x="833438" y="1864388"/>
          <a:ext cx="6654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54038" imgH="788088" progId="Equation.DSMT4">
                  <p:embed/>
                </p:oleObj>
              </mc:Choice>
              <mc:Fallback>
                <p:oleObj name="Equation" r:id="rId6" imgW="6654038" imgH="78808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3438" y="1864388"/>
                        <a:ext cx="6654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E2B8D332-1A56-53F1-0AE6-7B66BC4DA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550" y="2662535"/>
            <a:ext cx="3498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Dùng casio để tính </a:t>
            </a:r>
            <a:endParaRPr lang="en-US" altLang="en-US" sz="2400" b="0" i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1DC9FB3-8CE9-5C09-8D52-8ECEA5111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191142"/>
              </p:ext>
            </p:extLst>
          </p:nvPr>
        </p:nvGraphicFramePr>
        <p:xfrm>
          <a:off x="3162300" y="2744104"/>
          <a:ext cx="1866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342720" progId="Equation.DSMT4">
                  <p:embed/>
                </p:oleObj>
              </mc:Choice>
              <mc:Fallback>
                <p:oleObj name="Equation" r:id="rId8" imgW="1866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62300" y="2744104"/>
                        <a:ext cx="1866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F5EB4FF5-AFD1-B37F-8EFF-8E64B0A24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10" y="3207305"/>
            <a:ext cx="84302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Nhập 0 bấm =, bấm shift + sto + A. Nhập 0 bấm =, shift + sto + B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A6F27FA-D1C8-2EC1-5303-23AC2199A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719547"/>
              </p:ext>
            </p:extLst>
          </p:nvPr>
        </p:nvGraphicFramePr>
        <p:xfrm>
          <a:off x="762000" y="3822206"/>
          <a:ext cx="2895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95480" imgH="672840" progId="Equation.DSMT4">
                  <p:embed/>
                </p:oleObj>
              </mc:Choice>
              <mc:Fallback>
                <p:oleObj name="Equation" r:id="rId10" imgW="289548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2000" y="3822206"/>
                        <a:ext cx="2895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157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>
            <a:extLst>
              <a:ext uri="{FF2B5EF4-FFF2-40B4-BE49-F238E27FC236}">
                <a16:creationId xmlns:a16="http://schemas.microsoft.com/office/drawing/2014/main" id="{39E080A2-A5A2-AD62-9819-DCF676BE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484" y="71629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 dirty="0" err="1">
                <a:solidFill>
                  <a:srgbClr val="FF0000"/>
                </a:solidFill>
              </a:rPr>
              <a:t>Công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thức</a:t>
            </a:r>
            <a:r>
              <a:rPr lang="en-US" altLang="en-US" sz="2400" b="0" i="0" dirty="0">
                <a:solidFill>
                  <a:srgbClr val="FF0000"/>
                </a:solidFill>
              </a:rPr>
              <a:t> Simpson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và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sai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số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709A27D-BF7E-E9BA-F3DA-401B2A4C37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251153"/>
              </p:ext>
            </p:extLst>
          </p:nvPr>
        </p:nvGraphicFramePr>
        <p:xfrm>
          <a:off x="4178060" y="1760835"/>
          <a:ext cx="2260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672840" progId="Equation.DSMT4">
                  <p:embed/>
                </p:oleObj>
              </mc:Choice>
              <mc:Fallback>
                <p:oleObj name="Equation" r:id="rId2" imgW="22604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78060" y="1760835"/>
                        <a:ext cx="2260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F160A893-D8B1-FCCF-CCA2-73523671E7DC}"/>
              </a:ext>
            </a:extLst>
          </p:cNvPr>
          <p:cNvGrpSpPr/>
          <p:nvPr/>
        </p:nvGrpSpPr>
        <p:grpSpPr>
          <a:xfrm>
            <a:off x="230872" y="601504"/>
            <a:ext cx="8797452" cy="998696"/>
            <a:chOff x="230872" y="533400"/>
            <a:chExt cx="8797452" cy="998696"/>
          </a:xfrm>
        </p:grpSpPr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9A2113E0-E4B2-F176-5ED1-700FBB9F6E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8122404"/>
                </p:ext>
              </p:extLst>
            </p:nvPr>
          </p:nvGraphicFramePr>
          <p:xfrm>
            <a:off x="561484" y="1189196"/>
            <a:ext cx="313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36680" imgH="342720" progId="Equation.DSMT4">
                    <p:embed/>
                  </p:oleObj>
                </mc:Choice>
                <mc:Fallback>
                  <p:oleObj name="Equation" r:id="rId4" imgW="3136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1484" y="1189196"/>
                          <a:ext cx="3136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A5D3FAF4-0E29-95F0-96B6-2E63F309E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72" y="5334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 dirty="0" err="1"/>
                <a:t>T</a:t>
              </a:r>
              <a:r>
                <a:rPr lang="en-US" altLang="en-US" sz="2400" dirty="0" err="1"/>
                <a:t>hay</a:t>
              </a:r>
              <a:r>
                <a:rPr lang="en-US" altLang="en-US" sz="2400" dirty="0"/>
                <a:t>          </a:t>
              </a:r>
              <a:r>
                <a:rPr lang="en-US" altLang="en-US" sz="2400" dirty="0" err="1"/>
                <a:t>bằng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đa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thức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nội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suy</a:t>
              </a:r>
              <a:r>
                <a:rPr lang="en-US" altLang="en-US" sz="2400" dirty="0"/>
                <a:t> Newton </a:t>
              </a:r>
              <a:r>
                <a:rPr lang="en-US" altLang="en-US" sz="2400" dirty="0" err="1"/>
                <a:t>tiến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bậc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hai</a:t>
              </a:r>
              <a:r>
                <a:rPr lang="en-US" altLang="en-US" sz="2400" dirty="0"/>
                <a:t> qua </a:t>
              </a:r>
              <a:r>
                <a:rPr lang="en-US" altLang="en-US" sz="2400" dirty="0" err="1"/>
                <a:t>ba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điểm</a:t>
              </a:r>
              <a:r>
                <a:rPr lang="en-US" altLang="en-US" sz="2400" dirty="0"/>
                <a:t> </a:t>
              </a:r>
              <a:endParaRPr lang="en-US" altLang="en-US" sz="2400" b="0" i="0" dirty="0"/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2F249589-C997-F970-12B7-370056B347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5042281"/>
                </p:ext>
              </p:extLst>
            </p:nvPr>
          </p:nvGraphicFramePr>
          <p:xfrm>
            <a:off x="1008356" y="600822"/>
            <a:ext cx="6223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22080" imgH="393480" progId="Equation.DSMT4">
                    <p:embed/>
                  </p:oleObj>
                </mc:Choice>
                <mc:Fallback>
                  <p:oleObj name="Equation" r:id="rId6" imgW="622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08356" y="600822"/>
                          <a:ext cx="6223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4AC1CB46-0DE0-C3E2-9152-5C0E65BA2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996" y="1066800"/>
              <a:ext cx="51793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 dirty="0" err="1"/>
                <a:t>xuất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phát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từ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điểm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trùng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với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cận</a:t>
              </a:r>
              <a:r>
                <a:rPr lang="en-US" altLang="en-US" sz="2400" b="0" i="0" dirty="0"/>
                <a:t> </a:t>
              </a:r>
              <a:r>
                <a:rPr lang="en-US" altLang="en-US" sz="2400" b="0" i="0" dirty="0" err="1"/>
                <a:t>dưới</a:t>
              </a:r>
              <a:r>
                <a:rPr lang="en-US" altLang="en-US" sz="2400" b="0" i="0" dirty="0"/>
                <a:t> </a:t>
              </a:r>
              <a:r>
                <a:rPr lang="en-US" altLang="en-US" sz="2400" b="0" i="1" dirty="0"/>
                <a:t>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A8FC960-69FC-3867-A02F-13165FE59815}"/>
              </a:ext>
            </a:extLst>
          </p:cNvPr>
          <p:cNvGrpSpPr/>
          <p:nvPr/>
        </p:nvGrpSpPr>
        <p:grpSpPr>
          <a:xfrm>
            <a:off x="1259332" y="2433935"/>
            <a:ext cx="5211318" cy="461665"/>
            <a:chOff x="1259332" y="2433935"/>
            <a:chExt cx="5211318" cy="461665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220B26C9-9C2C-C6C6-584F-2B23DE642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332" y="2433935"/>
              <a:ext cx="51793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Đổi biến số </a:t>
              </a:r>
              <a:endParaRPr lang="en-US" altLang="en-US" sz="2400" b="0" i="1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B291FD6A-053A-CB63-0601-83383AA0AA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3442969"/>
                </p:ext>
              </p:extLst>
            </p:nvPr>
          </p:nvGraphicFramePr>
          <p:xfrm>
            <a:off x="3173413" y="2563813"/>
            <a:ext cx="1092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91880" imgH="266400" progId="Equation.DSMT4">
                    <p:embed/>
                  </p:oleObj>
                </mc:Choice>
                <mc:Fallback>
                  <p:oleObj name="Equation" r:id="rId8" imgW="109188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173413" y="2563813"/>
                          <a:ext cx="10922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508D2B2F-3BDD-5641-B858-C1CF21D9B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3528671"/>
                </p:ext>
              </p:extLst>
            </p:nvPr>
          </p:nvGraphicFramePr>
          <p:xfrm>
            <a:off x="5175250" y="2563813"/>
            <a:ext cx="12954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95280" imgH="266400" progId="Equation.DSMT4">
                    <p:embed/>
                  </p:oleObj>
                </mc:Choice>
                <mc:Fallback>
                  <p:oleObj name="Equation" r:id="rId10" imgW="129528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175250" y="2563813"/>
                          <a:ext cx="12954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C5C2E4-F990-20FC-5FCC-5F0EA327B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801046"/>
              </p:ext>
            </p:extLst>
          </p:nvPr>
        </p:nvGraphicFramePr>
        <p:xfrm>
          <a:off x="1259332" y="2971800"/>
          <a:ext cx="4686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86120" imgH="850680" progId="Equation.DSMT4">
                  <p:embed/>
                </p:oleObj>
              </mc:Choice>
              <mc:Fallback>
                <p:oleObj name="Equation" r:id="rId12" imgW="468612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59332" y="2971800"/>
                        <a:ext cx="46863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5612756-73AF-168C-763E-2F132DBBA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817332"/>
              </p:ext>
            </p:extLst>
          </p:nvPr>
        </p:nvGraphicFramePr>
        <p:xfrm>
          <a:off x="1259332" y="3886200"/>
          <a:ext cx="5118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117760" imgH="990360" progId="Equation.DSMT4">
                  <p:embed/>
                </p:oleObj>
              </mc:Choice>
              <mc:Fallback>
                <p:oleObj name="Equation" r:id="rId14" imgW="511776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59332" y="3886200"/>
                        <a:ext cx="51181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D793A92-10B4-CA52-B703-70AC48D89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381203"/>
              </p:ext>
            </p:extLst>
          </p:nvPr>
        </p:nvGraphicFramePr>
        <p:xfrm>
          <a:off x="1108075" y="5703888"/>
          <a:ext cx="452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520880" imgH="723600" progId="Equation.DSMT4">
                  <p:embed/>
                </p:oleObj>
              </mc:Choice>
              <mc:Fallback>
                <p:oleObj name="Equation" r:id="rId16" imgW="4520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08075" y="5703888"/>
                        <a:ext cx="4521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DA4EAB97-0066-307D-2A32-CF912D835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719885"/>
              </p:ext>
            </p:extLst>
          </p:nvPr>
        </p:nvGraphicFramePr>
        <p:xfrm>
          <a:off x="6119813" y="5791200"/>
          <a:ext cx="2133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33360" imgH="672840" progId="Equation.DSMT4">
                  <p:embed/>
                </p:oleObj>
              </mc:Choice>
              <mc:Fallback>
                <p:oleObj name="Equation" r:id="rId18" imgW="21333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19813" y="5791200"/>
                        <a:ext cx="2133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436064"/>
              </p:ext>
            </p:extLst>
          </p:nvPr>
        </p:nvGraphicFramePr>
        <p:xfrm>
          <a:off x="648726" y="1752814"/>
          <a:ext cx="1028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520" imgH="672840" progId="Equation.DSMT4">
                  <p:embed/>
                </p:oleObj>
              </mc:Choice>
              <mc:Fallback>
                <p:oleObj name="Equation" r:id="rId20" imgW="10285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8726" y="1752814"/>
                        <a:ext cx="1028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251295"/>
              </p:ext>
            </p:extLst>
          </p:nvPr>
        </p:nvGraphicFramePr>
        <p:xfrm>
          <a:off x="1219200" y="5029200"/>
          <a:ext cx="576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765760" imgH="406080" progId="Equation.DSMT4">
                  <p:embed/>
                </p:oleObj>
              </mc:Choice>
              <mc:Fallback>
                <p:oleObj name="Equation" r:id="rId22" imgW="5765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19200" y="5029200"/>
                        <a:ext cx="5765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676657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>
            <a:extLst>
              <a:ext uri="{FF2B5EF4-FFF2-40B4-BE49-F238E27FC236}">
                <a16:creationId xmlns:a16="http://schemas.microsoft.com/office/drawing/2014/main" id="{39E080A2-A5A2-AD62-9819-DCF676BE3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 dirty="0" err="1">
                <a:solidFill>
                  <a:srgbClr val="FF0000"/>
                </a:solidFill>
              </a:rPr>
              <a:t>Công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thức</a:t>
            </a:r>
            <a:r>
              <a:rPr lang="en-US" altLang="en-US" sz="2400" b="0" i="0" dirty="0">
                <a:solidFill>
                  <a:srgbClr val="FF0000"/>
                </a:solidFill>
              </a:rPr>
              <a:t> Simpson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tổng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quát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và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sai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  <a:r>
              <a:rPr lang="en-US" altLang="en-US" sz="2400" b="0" i="0" dirty="0" err="1">
                <a:solidFill>
                  <a:srgbClr val="FF0000"/>
                </a:solidFill>
              </a:rPr>
              <a:t>số</a:t>
            </a:r>
            <a:r>
              <a:rPr lang="en-US" altLang="en-US" sz="2400" b="0" i="0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709A27D-BF7E-E9BA-F3DA-401B2A4C37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408058"/>
              </p:ext>
            </p:extLst>
          </p:nvPr>
        </p:nvGraphicFramePr>
        <p:xfrm>
          <a:off x="5562600" y="24785"/>
          <a:ext cx="1003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672840" progId="Equation.DSMT4">
                  <p:embed/>
                </p:oleObj>
              </mc:Choice>
              <mc:Fallback>
                <p:oleObj name="Equation" r:id="rId2" imgW="10029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62600" y="24785"/>
                        <a:ext cx="1003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4C5C2E4-F990-20FC-5FCC-5F0EA327B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437256"/>
              </p:ext>
            </p:extLst>
          </p:nvPr>
        </p:nvGraphicFramePr>
        <p:xfrm>
          <a:off x="4991100" y="198120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419040" progId="Equation.DSMT4">
                  <p:embed/>
                </p:oleObj>
              </mc:Choice>
              <mc:Fallback>
                <p:oleObj name="Equation" r:id="rId4" imgW="20192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91100" y="1981200"/>
                        <a:ext cx="2019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5612756-73AF-168C-763E-2F132DBBA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096885"/>
              </p:ext>
            </p:extLst>
          </p:nvPr>
        </p:nvGraphicFramePr>
        <p:xfrm>
          <a:off x="596900" y="2667000"/>
          <a:ext cx="5511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11600" imgH="749160" progId="Equation.DSMT4">
                  <p:embed/>
                </p:oleObj>
              </mc:Choice>
              <mc:Fallback>
                <p:oleObj name="Equation" r:id="rId6" imgW="551160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6900" y="2667000"/>
                        <a:ext cx="55118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1B149639-3160-8965-FB44-56DB7041A4F6}"/>
              </a:ext>
            </a:extLst>
          </p:cNvPr>
          <p:cNvGrpSpPr/>
          <p:nvPr/>
        </p:nvGrpSpPr>
        <p:grpSpPr>
          <a:xfrm>
            <a:off x="457200" y="762000"/>
            <a:ext cx="8439458" cy="1178790"/>
            <a:chOff x="399742" y="1161355"/>
            <a:chExt cx="8439458" cy="1178790"/>
          </a:xfrm>
        </p:grpSpPr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220B26C9-9C2C-C6C6-584F-2B23DE642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742" y="1161355"/>
              <a:ext cx="84394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 dirty="0"/>
                <a:t>Chia         </a:t>
              </a:r>
              <a:r>
                <a:rPr lang="en-US" altLang="en-US" sz="2400" dirty="0" err="1"/>
                <a:t>thành</a:t>
              </a:r>
              <a:r>
                <a:rPr lang="en-US" altLang="en-US" sz="2400" dirty="0"/>
                <a:t> </a:t>
              </a:r>
              <a:r>
                <a:rPr lang="en-US" altLang="en-US" sz="2400" i="1" dirty="0"/>
                <a:t>n=</a:t>
              </a:r>
              <a:r>
                <a:rPr lang="en-US" altLang="en-US" sz="2400" dirty="0"/>
                <a:t>2</a:t>
              </a:r>
              <a:r>
                <a:rPr lang="en-US" altLang="en-US" sz="2400" i="1" dirty="0"/>
                <a:t>m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đoạn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bằng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nhau</a:t>
              </a:r>
              <a:r>
                <a:rPr lang="en-US" altLang="en-US" sz="2400" dirty="0"/>
                <a:t> (</a:t>
              </a:r>
              <a:r>
                <a:rPr lang="en-US" altLang="en-US" sz="2400" i="1" dirty="0"/>
                <a:t>n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nguyên</a:t>
              </a:r>
              <a:r>
                <a:rPr lang="en-US" altLang="en-US" sz="2400" dirty="0"/>
                <a:t>, </a:t>
              </a:r>
              <a:r>
                <a:rPr lang="en-US" altLang="en-US" sz="2400" dirty="0" err="1"/>
                <a:t>dương</a:t>
              </a:r>
              <a:r>
                <a:rPr lang="en-US" altLang="en-US" sz="2400" dirty="0"/>
                <a:t>, </a:t>
              </a:r>
              <a:r>
                <a:rPr lang="en-US" altLang="en-US" sz="2400" dirty="0" err="1"/>
                <a:t>chẵn</a:t>
              </a:r>
              <a:r>
                <a:rPr lang="en-US" altLang="en-US" sz="2400" dirty="0"/>
                <a:t>) </a:t>
              </a:r>
              <a:endParaRPr lang="en-US" altLang="en-US" sz="2400" b="0" i="1" dirty="0"/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B291FD6A-053A-CB63-0601-83383AA0AA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9635130"/>
                </p:ext>
              </p:extLst>
            </p:nvPr>
          </p:nvGraphicFramePr>
          <p:xfrm>
            <a:off x="1135326" y="1230786"/>
            <a:ext cx="596900" cy="3929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96880" imgH="393480" progId="Equation.DSMT4">
                    <p:embed/>
                  </p:oleObj>
                </mc:Choice>
                <mc:Fallback>
                  <p:oleObj name="Equation" r:id="rId8" imgW="5968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35326" y="1230786"/>
                          <a:ext cx="596900" cy="3929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508D2B2F-3BDD-5641-B858-C1CF21D9B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8435909"/>
                </p:ext>
              </p:extLst>
            </p:nvPr>
          </p:nvGraphicFramePr>
          <p:xfrm>
            <a:off x="520392" y="1820168"/>
            <a:ext cx="33401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40080" imgH="393480" progId="Equation.DSMT4">
                    <p:embed/>
                  </p:oleObj>
                </mc:Choice>
                <mc:Fallback>
                  <p:oleObj name="Equation" r:id="rId10" imgW="3340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20392" y="1820168"/>
                          <a:ext cx="33401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7D9C3A20-0E9D-0B0D-46C2-6D583B939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9207" y="1751410"/>
              <a:ext cx="2971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dirty="0" err="1"/>
                <a:t>có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độ</a:t>
              </a:r>
              <a:r>
                <a:rPr lang="en-US" altLang="en-US" sz="2400" dirty="0"/>
                <a:t> </a:t>
              </a:r>
              <a:r>
                <a:rPr lang="en-US" altLang="en-US" sz="2400" dirty="0" err="1"/>
                <a:t>dài</a:t>
              </a:r>
              <a:r>
                <a:rPr lang="en-US" altLang="en-US" sz="2400" dirty="0"/>
                <a:t>  </a:t>
              </a:r>
              <a:endParaRPr lang="en-US" altLang="en-US" sz="2400" b="0" i="1" dirty="0"/>
            </a:p>
          </p:txBody>
        </p:sp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47D5734E-3BD4-78B9-786C-7E7827DA8B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960260"/>
                </p:ext>
              </p:extLst>
            </p:nvPr>
          </p:nvGraphicFramePr>
          <p:xfrm>
            <a:off x="5257007" y="1667045"/>
            <a:ext cx="1879600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879560" imgH="672840" progId="Equation.DSMT4">
                    <p:embed/>
                  </p:oleObj>
                </mc:Choice>
                <mc:Fallback>
                  <p:oleObj name="Equation" r:id="rId12" imgW="1879560" imgH="6728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257007" y="1667045"/>
                          <a:ext cx="1879600" cy="673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2029472E-7B69-59F8-9455-F78F43D74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199044"/>
              </p:ext>
            </p:extLst>
          </p:nvPr>
        </p:nvGraphicFramePr>
        <p:xfrm>
          <a:off x="749300" y="2015728"/>
          <a:ext cx="410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01840" imgH="393480" progId="Equation.DSMT4">
                  <p:embed/>
                </p:oleObj>
              </mc:Choice>
              <mc:Fallback>
                <p:oleObj name="Equation" r:id="rId14" imgW="41018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9300" y="2015728"/>
                        <a:ext cx="4102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498174FC-D6BB-06F0-2D08-964CB90F89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921462"/>
              </p:ext>
            </p:extLst>
          </p:nvPr>
        </p:nvGraphicFramePr>
        <p:xfrm>
          <a:off x="596900" y="3581400"/>
          <a:ext cx="7797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797600" imgH="634680" progId="Equation.DSMT4">
                  <p:embed/>
                </p:oleObj>
              </mc:Choice>
              <mc:Fallback>
                <p:oleObj name="Equation" r:id="rId16" imgW="77976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6900" y="3581400"/>
                        <a:ext cx="77978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DBCFF17A-4E01-A51F-6AB6-16B2F77631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892151"/>
              </p:ext>
            </p:extLst>
          </p:nvPr>
        </p:nvGraphicFramePr>
        <p:xfrm>
          <a:off x="622299" y="4267200"/>
          <a:ext cx="791210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912080" imgH="685800" progId="Equation.DSMT4">
                  <p:embed/>
                </p:oleObj>
              </mc:Choice>
              <mc:Fallback>
                <p:oleObj name="Equation" r:id="rId18" imgW="79120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2299" y="4267200"/>
                        <a:ext cx="7912101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306024"/>
              </p:ext>
            </p:extLst>
          </p:nvPr>
        </p:nvGraphicFramePr>
        <p:xfrm>
          <a:off x="609600" y="5105400"/>
          <a:ext cx="5232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32240" imgH="342720" progId="Equation.DSMT4">
                  <p:embed/>
                </p:oleObj>
              </mc:Choice>
              <mc:Fallback>
                <p:oleObj name="Equation" r:id="rId20" imgW="5232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09600" y="5105400"/>
                        <a:ext cx="5232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40072"/>
              </p:ext>
            </p:extLst>
          </p:nvPr>
        </p:nvGraphicFramePr>
        <p:xfrm>
          <a:off x="492760" y="5715000"/>
          <a:ext cx="7531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530840" imgH="749160" progId="Equation.DSMT4">
                  <p:embed/>
                </p:oleObj>
              </mc:Choice>
              <mc:Fallback>
                <p:oleObj name="Equation" r:id="rId22" imgW="753084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2760" y="5715000"/>
                        <a:ext cx="75311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017074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3101BC7-E68A-4E24-F3BA-441A7CD45A2D}"/>
              </a:ext>
            </a:extLst>
          </p:cNvPr>
          <p:cNvGrpSpPr/>
          <p:nvPr/>
        </p:nvGrpSpPr>
        <p:grpSpPr>
          <a:xfrm>
            <a:off x="914400" y="0"/>
            <a:ext cx="7696200" cy="2843814"/>
            <a:chOff x="914400" y="0"/>
            <a:chExt cx="7696200" cy="284381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3C70092-2D42-C409-78C5-0EE309BA1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600" y="0"/>
              <a:ext cx="3726180" cy="2438400"/>
            </a:xfrm>
            <a:prstGeom prst="rect">
              <a:avLst/>
            </a:prstGeom>
          </p:spPr>
        </p:pic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B2EA703F-8DB9-6E4A-959B-4F26A4A5E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2382149"/>
              <a:ext cx="7696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Công thức Simpson cho trường hợp 3 nút nội suy</a:t>
              </a:r>
              <a:endParaRPr lang="en-US" altLang="en-US" sz="2400" b="0" i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95879E-A7C6-4E41-7B21-AF673A2601C0}"/>
              </a:ext>
            </a:extLst>
          </p:cNvPr>
          <p:cNvGrpSpPr/>
          <p:nvPr/>
        </p:nvGrpSpPr>
        <p:grpSpPr>
          <a:xfrm>
            <a:off x="893685" y="2971800"/>
            <a:ext cx="7696200" cy="3581400"/>
            <a:chOff x="893685" y="2895600"/>
            <a:chExt cx="7696200" cy="35814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4D4BAFD-A71A-4A5D-45DA-E47E26ED3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0" y="2895600"/>
              <a:ext cx="6629400" cy="3104098"/>
            </a:xfrm>
            <a:prstGeom prst="rect">
              <a:avLst/>
            </a:prstGeom>
          </p:spPr>
        </p:pic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89922919-0CDC-65D8-3A86-2F6CA3464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685" y="6015335"/>
              <a:ext cx="7696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/>
                <a:t>Công thức Simpson cho trường hợp 2</a:t>
              </a:r>
              <a:r>
                <a:rPr lang="en-US" altLang="en-US" sz="2400" i="1"/>
                <a:t>m</a:t>
              </a:r>
              <a:r>
                <a:rPr lang="en-US" altLang="en-US" sz="2400"/>
                <a:t>+1 nút nội suy</a:t>
              </a:r>
              <a:endParaRPr lang="en-US" altLang="en-US" sz="2400" b="0" i="0"/>
            </a:p>
          </p:txBody>
        </p:sp>
      </p:grpSp>
    </p:spTree>
    <p:extLst>
      <p:ext uri="{BB962C8B-B14F-4D97-AF65-F5344CB8AC3E}">
        <p14:creationId xmlns:p14="http://schemas.microsoft.com/office/powerpoint/2010/main" val="86581161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E58BA-6F74-BBFC-A0A3-6C2C6E43C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42691"/>
            <a:ext cx="8490751" cy="1784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27BE1A-3D3B-5EB8-2452-555061937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0"/>
            <a:ext cx="7239000" cy="103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60086"/>
      </p:ext>
    </p:extLst>
  </p:cSld>
  <p:clrMapOvr>
    <a:masterClrMapping/>
  </p:clrMapOvr>
  <p:transition spd="slow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FFB1B1-DD9D-0F91-8C0B-A4CBCFE91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3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62484"/>
      </p:ext>
    </p:extLst>
  </p:cSld>
  <p:clrMapOvr>
    <a:masterClrMapping/>
  </p:clrMapOvr>
  <p:transition spd="slow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852B02-47D5-16D5-2D04-27D01B88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8763000" cy="245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68282"/>
      </p:ext>
    </p:extLst>
  </p:cSld>
  <p:clrMapOvr>
    <a:masterClrMapping/>
  </p:clrMapOvr>
  <p:transition spd="slow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18A89A-106E-5DA0-C614-6773975EA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0"/>
            <a:ext cx="8915400" cy="225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75772"/>
      </p:ext>
    </p:extLst>
  </p:cSld>
  <p:clrMapOvr>
    <a:masterClrMapping/>
  </p:clrMapOvr>
  <p:transition spd="slow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3AAFF6-D201-6D1D-8E4D-4BE16216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5" y="21454"/>
            <a:ext cx="8991600" cy="191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40444"/>
      </p:ext>
    </p:extLst>
  </p:cSld>
  <p:clrMapOvr>
    <a:masterClrMapping/>
  </p:clrMapOvr>
  <p:transition spd="slow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0F1942-5B51-39C1-8C66-20474780C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13"/>
            <a:ext cx="9144000" cy="16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72276"/>
      </p:ext>
    </p:extLst>
  </p:cSld>
  <p:clrMapOvr>
    <a:masterClrMapping/>
  </p:clrMapOvr>
  <p:transition spd="slow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CF0044-FB0A-7946-8361-A7C5DFA0A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6200"/>
            <a:ext cx="8763000" cy="119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78510"/>
      </p:ext>
    </p:extLst>
  </p:cSld>
  <p:clrMapOvr>
    <a:masterClrMapping/>
  </p:clrMapOvr>
  <p:transition spd="slow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90B5B6-5DF7-504E-B0E0-FDE8650A9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8" y="0"/>
            <a:ext cx="8823664" cy="171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6400"/>
      </p:ext>
    </p:extLst>
  </p:cSld>
  <p:clrMapOvr>
    <a:masterClrMapping/>
  </p:clrMapOvr>
  <p:transition spd="slow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82C5C5-337E-6295-1118-F93A67C9D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8305800" cy="257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64701"/>
      </p:ext>
    </p:extLst>
  </p:cSld>
  <p:clrMapOvr>
    <a:masterClrMapping/>
  </p:clrMapOvr>
  <p:transition spd="slow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A2FFBE-4C6F-BE66-7A3E-71C181C36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"/>
            <a:ext cx="8686800" cy="302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54366"/>
      </p:ext>
    </p:extLst>
  </p:cSld>
  <p:clrMapOvr>
    <a:masterClrMapping/>
  </p:clrMapOvr>
  <p:transition spd="slow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9E584E-DD70-64D4-E292-5C8B42E9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34"/>
            <a:ext cx="9144000" cy="128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66648"/>
      </p:ext>
    </p:extLst>
  </p:cSld>
  <p:clrMapOvr>
    <a:masterClrMapping/>
  </p:clrMapOvr>
  <p:transition spd="slow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994008"/>
      </p:ext>
    </p:extLst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32901</TotalTime>
  <Words>557</Words>
  <Application>Microsoft Office PowerPoint</Application>
  <PresentationFormat>On-screen Show (4:3)</PresentationFormat>
  <Paragraphs>65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VNI-Revue</vt:lpstr>
      <vt:lpstr>VNI-Times</vt:lpstr>
      <vt:lpstr>Office Theme</vt:lpstr>
      <vt:lpstr>Equation</vt:lpstr>
      <vt:lpstr>MathType 7.0 Equation</vt:lpstr>
      <vt:lpstr>Trường Đại học Bách khoa tp Hồ Chí Minh Bộ môn Toán ứng dụng -------------------------------------------------------------------------------------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CoatsPP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HOÄI NGHÒ CHAÁT LÖÔÏNG LAÀN IV “Naêng suaát-Chaát löôïng chìa khoaù ñeå caïnh tranh vaø hoäi nhaäp” 21/11/01</dc:title>
  <dc:creator>Diem Lan</dc:creator>
  <cp:lastModifiedBy>sy dt</cp:lastModifiedBy>
  <cp:revision>1397</cp:revision>
  <cp:lastPrinted>2001-11-20T08:03:29Z</cp:lastPrinted>
  <dcterms:created xsi:type="dcterms:W3CDTF">2001-11-06T08:45:38Z</dcterms:created>
  <dcterms:modified xsi:type="dcterms:W3CDTF">2023-04-13T13:54:42Z</dcterms:modified>
</cp:coreProperties>
</file>