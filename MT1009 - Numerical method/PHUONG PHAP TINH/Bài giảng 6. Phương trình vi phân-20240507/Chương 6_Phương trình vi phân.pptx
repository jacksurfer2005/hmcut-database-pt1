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4" r:id="rId1"/>
  </p:sldMasterIdLst>
  <p:notesMasterIdLst>
    <p:notesMasterId r:id="rId27"/>
  </p:notesMasterIdLst>
  <p:handoutMasterIdLst>
    <p:handoutMasterId r:id="rId28"/>
  </p:handoutMasterIdLst>
  <p:sldIdLst>
    <p:sldId id="359" r:id="rId2"/>
    <p:sldId id="542" r:id="rId3"/>
    <p:sldId id="566" r:id="rId4"/>
    <p:sldId id="567" r:id="rId5"/>
    <p:sldId id="550" r:id="rId6"/>
    <p:sldId id="568" r:id="rId7"/>
    <p:sldId id="569" r:id="rId8"/>
    <p:sldId id="570" r:id="rId9"/>
    <p:sldId id="571" r:id="rId10"/>
    <p:sldId id="572" r:id="rId11"/>
    <p:sldId id="565" r:id="rId12"/>
    <p:sldId id="573" r:id="rId13"/>
    <p:sldId id="574" r:id="rId14"/>
    <p:sldId id="578" r:id="rId15"/>
    <p:sldId id="575" r:id="rId16"/>
    <p:sldId id="579" r:id="rId17"/>
    <p:sldId id="586" r:id="rId18"/>
    <p:sldId id="585" r:id="rId19"/>
    <p:sldId id="582" r:id="rId20"/>
    <p:sldId id="576" r:id="rId21"/>
    <p:sldId id="577" r:id="rId22"/>
    <p:sldId id="583" r:id="rId23"/>
    <p:sldId id="584" r:id="rId24"/>
    <p:sldId id="580" r:id="rId25"/>
    <p:sldId id="581" r:id="rId2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3300"/>
    <a:srgbClr val="009900"/>
    <a:srgbClr val="00FF99"/>
    <a:srgbClr val="009999"/>
    <a:srgbClr val="FF00FF"/>
    <a:srgbClr val="FFFFFF"/>
    <a:srgbClr val="CCFF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15620" autoAdjust="0"/>
    <p:restoredTop sz="94660" autoAdjust="0"/>
  </p:normalViewPr>
  <p:slideViewPr>
    <p:cSldViewPr>
      <p:cViewPr>
        <p:scale>
          <a:sx n="75" d="100"/>
          <a:sy n="75" d="100"/>
        </p:scale>
        <p:origin x="13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78"/>
    </p:cViewPr>
  </p:sorterViewPr>
  <p:notesViewPr>
    <p:cSldViewPr>
      <p:cViewPr varScale="1">
        <p:scale>
          <a:sx n="50" d="100"/>
          <a:sy n="50" d="100"/>
        </p:scale>
        <p:origin x="-828" y="-8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9561975-33CD-8B62-AC2C-A943B4597DE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E2417A9-D2E4-DF38-9361-0188EB5060F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1600" y="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EB2E4482-F787-60B3-6E44-7F302D8C9F6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1C53A776-0AF9-5536-A9F1-F46DE9E0DE1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1600" y="6477000"/>
            <a:ext cx="3962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20000"/>
              </a:spcBef>
              <a:buFontTx/>
              <a:buChar char="•"/>
              <a:defRPr sz="1200" b="0" i="0">
                <a:solidFill>
                  <a:schemeClr val="tx1"/>
                </a:solidFill>
                <a:latin typeface="VNI-Revue" pitchFamily="2" charset="0"/>
              </a:defRPr>
            </a:lvl1pPr>
          </a:lstStyle>
          <a:p>
            <a:pPr>
              <a:defRPr/>
            </a:pPr>
            <a:fld id="{BF5BB960-3977-4E26-BF89-32C7067A70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84F336F-81A1-94B1-588B-EA6B261992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AC7DF16-B9CE-B946-E0E8-BB16B3881A9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EC63AF9-C8B5-7D5C-DD44-8E6F41AD389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3258C54-8CEB-8E94-E853-B0036F42333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1906232-062C-5F78-1E00-6F71B1AB143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FontTx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477A1109-BDB9-E088-3354-25A06F9DDE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DA843FF-6D13-4E17-9277-208DC89070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3964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3C8646FF-241B-26E3-EFE8-7004C2F6F9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 i="1">
                <a:solidFill>
                  <a:srgbClr val="0000FF"/>
                </a:solidFill>
                <a:latin typeface="Times New Roman" panose="02020603050405020304" pitchFamily="18" charset="0"/>
              </a:defRPr>
            </a:lvl9pPr>
          </a:lstStyle>
          <a:p>
            <a:fld id="{E4AA0A1C-56DD-4EBF-A350-B84358358D7A}" type="slidenum">
              <a:rPr lang="en-US" altLang="en-US" sz="1200" b="0" i="0" smtClean="0">
                <a:solidFill>
                  <a:schemeClr val="tx1"/>
                </a:solidFill>
              </a:rPr>
              <a:pPr/>
              <a:t>1</a:t>
            </a:fld>
            <a:endParaRPr lang="en-US" altLang="en-US" sz="1200" b="0" i="0">
              <a:solidFill>
                <a:schemeClr val="tx1"/>
              </a:solidFill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C2EF2B86-F205-B8A3-E32D-4DDA55FE8C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0CE496C4-A4D6-1B21-5B2C-EC179B687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C190-67CD-61EA-D98A-2443E89B2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868F5-72C6-357B-67C3-6D8BF2128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82180-2DF7-B5C4-363A-750DDD4AF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25FB1-A58A-B82F-1B6F-D3AD1627D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8427E-E5A4-7E3B-AFB6-5AC0CD7D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83C982-C383-4EB2-AF9C-DEE0AF2CA4B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387343"/>
      </p:ext>
    </p:extLst>
  </p:cSld>
  <p:clrMapOvr>
    <a:masterClrMapping/>
  </p:clrMapOvr>
  <p:transition spd="slow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B571-7D32-74ED-6B7F-B8464A90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48861-E544-AF62-729F-C95B7579A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E8E41-D29E-7080-AF7D-DEB6C173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88837-9AF7-E4CD-B3F9-CD99A3CD2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4A26D-5D30-4342-E927-E4C14235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28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C442-5E31-D01B-2FDD-2C9C5407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CE4EC-59DC-CFE3-DED4-27F8F07C2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67F69-22BD-0779-2D3A-DF4F4AF2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D5DBA-3C8A-E1C1-EF47-52972EEB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2C7F2-FAC6-FF30-A8AB-4F000CD3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954DB3-F5E2-4838-AA39-EBE5F39640A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7083897"/>
      </p:ext>
    </p:extLst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762A-DDCF-7F1F-AF80-4901E28A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5E1E0-1921-E878-C0D7-F8B45D07CE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795E1-8182-C348-9914-7D7A6E9CB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34408-45A2-8A22-E087-79663A5EA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C78C5-44FB-042D-8EE9-8B82A5A5A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99C9E-2186-1E4D-E973-05EA99E0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4526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5B14-B6C9-1B88-DEBD-1A82FE93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80DCA-4DF5-6FB8-FAC0-E07F3838C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B0AE9-B186-71A5-3B8B-C56E1F1F7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15D7B4-C73E-89B3-4347-CB428886D3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267828-B35B-6CEB-D7EB-6EA066A12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9A06B-745A-4C27-04AB-A110DD04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7F548D-6715-905A-BB27-E84C380B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D88C7-9EAD-1CD1-1B40-F503280B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364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242A-23ED-3623-68F3-AACE37AC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7BC04-83D7-E7DE-D2A1-320BD7A0F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1745B-BB6E-A0A7-A841-4481C129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E51C5-296E-95A6-95EE-3192CC94C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97A422-EB1F-44D4-9FAF-2BB0C3EE147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644069"/>
      </p:ext>
    </p:extLst>
  </p:cSld>
  <p:clrMapOvr>
    <a:masterClrMapping/>
  </p:clrMapOvr>
  <p:transition spd="slow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63109A-DA82-08CF-2339-ABCE3985F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249DD-00D4-56AA-AB9E-40418BD5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DBC0D-4433-6F84-1B4C-89908CF6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7E38E1-3D55-42B5-875F-6FB9F23CC6E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1473189"/>
      </p:ext>
    </p:extLst>
  </p:cSld>
  <p:clrMapOvr>
    <a:masterClrMapping/>
  </p:clrMapOvr>
  <p:transition spd="slow"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47E5-653A-BF75-DB0C-3C95E497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2C36D-BEE0-FE0A-AAA2-0B8226B67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3288A9-7F60-54C7-4C74-4E7E9EEA2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FB344-F5EF-5489-8FB7-779B68A0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CFA3B-3CF2-E805-6E10-5DEEF499F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DB989-0051-2435-A808-27B5DA97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194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62BE-4EF0-907C-2F56-AA4AE1597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4D7A87-78E1-7F46-A9D2-989F22E2B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80D62-C050-670B-3B47-BB72E1E8A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1C418-A7CF-1DAE-A703-75DDFEC4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6A6F6-89D6-1C74-2081-1D6AD03A3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E7756-1D78-7001-08F7-7ACEAEA7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6281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F5D4A-6048-580F-1249-0E665CB2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9E9D0-D83F-9091-FAAD-BC44DB051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5B31A-573D-F552-2F0C-CFD91978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BB226-0174-68E5-4479-B1CCC80CC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46E58-0666-1AA0-E801-25C36165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557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966F4-E800-1284-80A5-1A5357FE9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4D696-E8CE-0842-1617-75D190AF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30D0A-AAAE-3254-3EA9-CB280132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976B9-EABC-1EC1-6780-BF1F6B296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BF92A-A3EF-9FC0-9A5F-17089BDC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612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24108C-8BA7-404D-0A30-043C9F5C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C9470-924D-B9B6-28EF-2EE4D7ED4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DE40D-2B1A-2202-5F1D-C7D354872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EF6F1-1520-F88F-1646-4828317D0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Khieáu Thieän Thuaät trính baøy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29CAC-1A7E-57EC-BA33-EB0D1F60C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4473B8F-FC01-4FCC-905E-9D9F2007F2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63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</p:sldLayoutIdLst>
  <p:transition spd="slow">
    <p:zoom/>
  </p:transition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3" Type="http://schemas.openxmlformats.org/officeDocument/2006/relationships/image" Target="../media/image1.wmf"/><Relationship Id="rId21" Type="http://schemas.openxmlformats.org/officeDocument/2006/relationships/image" Target="../media/image10.e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7.wmf"/><Relationship Id="rId5" Type="http://schemas.openxmlformats.org/officeDocument/2006/relationships/image" Target="../media/image14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27.bin"/><Relationship Id="rId26" Type="http://schemas.openxmlformats.org/officeDocument/2006/relationships/oleObject" Target="../embeddings/oleObject31.bin"/><Relationship Id="rId3" Type="http://schemas.openxmlformats.org/officeDocument/2006/relationships/image" Target="../media/image19.wmf"/><Relationship Id="rId21" Type="http://schemas.openxmlformats.org/officeDocument/2006/relationships/image" Target="../media/image28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6.wmf"/><Relationship Id="rId25" Type="http://schemas.openxmlformats.org/officeDocument/2006/relationships/image" Target="../media/image30.wmf"/><Relationship Id="rId2" Type="http://schemas.openxmlformats.org/officeDocument/2006/relationships/oleObject" Target="../embeddings/oleObject19.bin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wmf"/><Relationship Id="rId24" Type="http://schemas.openxmlformats.org/officeDocument/2006/relationships/oleObject" Target="../embeddings/oleObject30.bin"/><Relationship Id="rId5" Type="http://schemas.openxmlformats.org/officeDocument/2006/relationships/image" Target="../media/image20.wmf"/><Relationship Id="rId15" Type="http://schemas.openxmlformats.org/officeDocument/2006/relationships/image" Target="../media/image25.wmf"/><Relationship Id="rId23" Type="http://schemas.openxmlformats.org/officeDocument/2006/relationships/image" Target="../media/image29.wmf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7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2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Relationship Id="rId27" Type="http://schemas.openxmlformats.org/officeDocument/2006/relationships/image" Target="../media/image3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7.wmf"/><Relationship Id="rId18" Type="http://schemas.openxmlformats.org/officeDocument/2006/relationships/oleObject" Target="../embeddings/oleObject23.bin"/><Relationship Id="rId3" Type="http://schemas.openxmlformats.org/officeDocument/2006/relationships/image" Target="../media/image32.wmf"/><Relationship Id="rId21" Type="http://schemas.openxmlformats.org/officeDocument/2006/relationships/image" Target="../media/image24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22.w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5" Type="http://schemas.openxmlformats.org/officeDocument/2006/relationships/image" Target="../media/image38.wmf"/><Relationship Id="rId23" Type="http://schemas.openxmlformats.org/officeDocument/2006/relationships/image" Target="../media/image26.wmf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23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38.bin"/><Relationship Id="rId22" Type="http://schemas.openxmlformats.org/officeDocument/2006/relationships/oleObject" Target="../embeddings/oleObject2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1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1.wmf"/><Relationship Id="rId21" Type="http://schemas.openxmlformats.org/officeDocument/2006/relationships/image" Target="../media/image44.wmf"/><Relationship Id="rId7" Type="http://schemas.openxmlformats.org/officeDocument/2006/relationships/image" Target="../media/image40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16.wmf"/><Relationship Id="rId2" Type="http://schemas.openxmlformats.org/officeDocument/2006/relationships/oleObject" Target="../embeddings/oleObject39.bin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14.wmf"/><Relationship Id="rId5" Type="http://schemas.openxmlformats.org/officeDocument/2006/relationships/image" Target="../media/image39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3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4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0.wmf"/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12" Type="http://schemas.openxmlformats.org/officeDocument/2006/relationships/oleObject" Target="../embeddings/oleObject54.bin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49.wmf"/><Relationship Id="rId5" Type="http://schemas.openxmlformats.org/officeDocument/2006/relationships/image" Target="../media/image46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0.bin"/><Relationship Id="rId9" Type="http://schemas.openxmlformats.org/officeDocument/2006/relationships/image" Target="../media/image4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0.wmf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12" Type="http://schemas.openxmlformats.org/officeDocument/2006/relationships/oleObject" Target="../embeddings/oleObject54.bin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49.wmf"/><Relationship Id="rId5" Type="http://schemas.openxmlformats.org/officeDocument/2006/relationships/image" Target="../media/image52.wmf"/><Relationship Id="rId10" Type="http://schemas.openxmlformats.org/officeDocument/2006/relationships/oleObject" Target="../embeddings/oleObject53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4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60.bin"/><Relationship Id="rId3" Type="http://schemas.openxmlformats.org/officeDocument/2006/relationships/image" Target="../media/image1.wmf"/><Relationship Id="rId21" Type="http://schemas.openxmlformats.org/officeDocument/2006/relationships/image" Target="../media/image57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55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59.bin"/><Relationship Id="rId20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emf"/><Relationship Id="rId5" Type="http://schemas.openxmlformats.org/officeDocument/2006/relationships/image" Target="../media/image2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56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emf"/><Relationship Id="rId14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63.wmf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7.bin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3" Type="http://schemas.openxmlformats.org/officeDocument/2006/relationships/image" Target="../media/image70.w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7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7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7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81.wmf"/><Relationship Id="rId3" Type="http://schemas.openxmlformats.org/officeDocument/2006/relationships/image" Target="../media/image76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3.bin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0" Type="http://schemas.openxmlformats.org/officeDocument/2006/relationships/oleObject" Target="../embeddings/oleObject82.bin"/><Relationship Id="rId4" Type="http://schemas.openxmlformats.org/officeDocument/2006/relationships/oleObject" Target="../embeddings/oleObject79.bin"/><Relationship Id="rId9" Type="http://schemas.openxmlformats.org/officeDocument/2006/relationships/image" Target="../media/image7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image" Target="../media/image82.wmf"/><Relationship Id="rId7" Type="http://schemas.openxmlformats.org/officeDocument/2006/relationships/oleObject" Target="../embeddings/oleObject86.bin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wmf"/><Relationship Id="rId4" Type="http://schemas.openxmlformats.org/officeDocument/2006/relationships/oleObject" Target="../embeddings/oleObject8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89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9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image" Target="../media/image95.wmf"/><Relationship Id="rId18" Type="http://schemas.openxmlformats.org/officeDocument/2006/relationships/oleObject" Target="../embeddings/oleObject99.bin"/><Relationship Id="rId3" Type="http://schemas.openxmlformats.org/officeDocument/2006/relationships/image" Target="../media/image90.wmf"/><Relationship Id="rId21" Type="http://schemas.openxmlformats.org/officeDocument/2006/relationships/image" Target="../media/image99.wmf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96.bin"/><Relationship Id="rId17" Type="http://schemas.openxmlformats.org/officeDocument/2006/relationships/image" Target="../media/image97.wmf"/><Relationship Id="rId2" Type="http://schemas.openxmlformats.org/officeDocument/2006/relationships/oleObject" Target="../embeddings/oleObject91.bin"/><Relationship Id="rId16" Type="http://schemas.openxmlformats.org/officeDocument/2006/relationships/oleObject" Target="../embeddings/oleObject98.bin"/><Relationship Id="rId20" Type="http://schemas.openxmlformats.org/officeDocument/2006/relationships/oleObject" Target="../embeddings/oleObject10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5" Type="http://schemas.openxmlformats.org/officeDocument/2006/relationships/image" Target="../media/image96.wmf"/><Relationship Id="rId10" Type="http://schemas.openxmlformats.org/officeDocument/2006/relationships/oleObject" Target="../embeddings/oleObject95.bin"/><Relationship Id="rId19" Type="http://schemas.openxmlformats.org/officeDocument/2006/relationships/image" Target="../media/image98.wmf"/><Relationship Id="rId4" Type="http://schemas.openxmlformats.org/officeDocument/2006/relationships/oleObject" Target="../embeddings/oleObject92.bin"/><Relationship Id="rId9" Type="http://schemas.openxmlformats.org/officeDocument/2006/relationships/image" Target="../media/image93.wmf"/><Relationship Id="rId14" Type="http://schemas.openxmlformats.org/officeDocument/2006/relationships/oleObject" Target="../embeddings/oleObject9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13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2.wmf"/><Relationship Id="rId12" Type="http://schemas.openxmlformats.org/officeDocument/2006/relationships/oleObject" Target="../embeddings/oleObject106.bin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4.wmf"/><Relationship Id="rId5" Type="http://schemas.openxmlformats.org/officeDocument/2006/relationships/image" Target="../media/image101.wmf"/><Relationship Id="rId15" Type="http://schemas.openxmlformats.org/officeDocument/2006/relationships/image" Target="../media/image106.wmf"/><Relationship Id="rId10" Type="http://schemas.openxmlformats.org/officeDocument/2006/relationships/oleObject" Target="../embeddings/oleObject105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03.wmf"/><Relationship Id="rId14" Type="http://schemas.openxmlformats.org/officeDocument/2006/relationships/oleObject" Target="../embeddings/oleObject10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7" Type="http://schemas.openxmlformats.org/officeDocument/2006/relationships/image" Target="../media/image109.wmf"/><Relationship Id="rId2" Type="http://schemas.openxmlformats.org/officeDocument/2006/relationships/oleObject" Target="../embeddings/oleObject10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0.bin"/><Relationship Id="rId5" Type="http://schemas.openxmlformats.org/officeDocument/2006/relationships/image" Target="../media/image108.wmf"/><Relationship Id="rId4" Type="http://schemas.openxmlformats.org/officeDocument/2006/relationships/oleObject" Target="../embeddings/oleObject10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7" Type="http://schemas.openxmlformats.org/officeDocument/2006/relationships/image" Target="../media/image112.wmf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3.bin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11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3" Type="http://schemas.openxmlformats.org/officeDocument/2006/relationships/image" Target="../media/image113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1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115.wmf"/><Relationship Id="rId5" Type="http://schemas.openxmlformats.org/officeDocument/2006/relationships/image" Target="../media/image114.wmf"/><Relationship Id="rId10" Type="http://schemas.openxmlformats.org/officeDocument/2006/relationships/oleObject" Target="../embeddings/oleObject117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1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11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A5D180D4-A056-CB0B-D3B8-6EBCCCCE1B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1863" y="304800"/>
            <a:ext cx="7620000" cy="99218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Bách khoa tp Hồ Chí Minh</a:t>
            </a:r>
            <a:b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Bộ môn Toán ứng dụng</a:t>
            </a:r>
            <a:br>
              <a:rPr lang="en-US" altLang="en-US" sz="3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-------------------------------------------------------------------------------------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AF6C4A8-A6AE-C1B5-06EA-CBF2E10403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2209800"/>
            <a:ext cx="8077200" cy="3352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  <a:buFontTx/>
              <a:buNone/>
              <a:defRPr/>
            </a:pPr>
            <a:r>
              <a:rPr lang="en-US" sz="3000" b="1">
                <a:solidFill>
                  <a:srgbClr val="0000FF"/>
                </a:solidFill>
                <a:latin typeface="VNI-Times" pitchFamily="2" charset="0"/>
              </a:rPr>
              <a:t>			</a:t>
            </a:r>
            <a:r>
              <a:rPr lang="en-US" sz="30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 học Phương pháp tính	</a:t>
            </a:r>
          </a:p>
          <a:p>
            <a:pPr>
              <a:lnSpc>
                <a:spcPct val="130000"/>
              </a:lnSpc>
              <a:buFontTx/>
              <a:buNone/>
              <a:defRPr/>
            </a:pPr>
            <a:r>
              <a:rPr lang="en-US" sz="3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</a:t>
            </a:r>
            <a:r>
              <a:rPr lang="en-US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Chương 6:  Phương trình vi phân </a:t>
            </a: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endParaRPr lang="en-US" sz="3200" b="1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Tx/>
              <a:buNone/>
              <a:defRPr/>
            </a:pPr>
            <a:r>
              <a:rPr lang="en-US" sz="36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viên: TS Đặng Văn Vinh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sz="2000" b="1">
                <a:solidFill>
                  <a:schemeClr val="accent2"/>
                </a:solidFill>
                <a:latin typeface="+mj-lt"/>
              </a:rPr>
              <a:t>				</a:t>
            </a:r>
            <a:endParaRPr lang="en-US" sz="1800" b="1">
              <a:solidFill>
                <a:schemeClr val="accent2"/>
              </a:solidFill>
              <a:latin typeface="+mj-lt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E55FAF2C-1C93-A7F4-D1AE-6DAFADA11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10452"/>
            <a:ext cx="6248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Nội dung chương 6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A5AD6974-3EEC-471C-F148-4C73DE84B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068618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1/ </a:t>
            </a:r>
            <a:r>
              <a:rPr lang="en-US" altLang="en-US" sz="2400"/>
              <a:t>Phương pháp Euler giải phương trình vi phân</a:t>
            </a:r>
            <a:endParaRPr lang="en-US" altLang="en-US" sz="2400" b="0" i="0"/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58F313ED-9C4D-5B64-45D8-EA3342542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654" y="1981200"/>
            <a:ext cx="7798019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2/ Phương pháp Euler cải tiến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8D52233B-06C4-3BD0-370E-0F8F8111B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903715"/>
            <a:ext cx="779802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3/ Phương pháp Runge - Kutta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7AFD26EF-FB38-4C07-F07A-EA02F9207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654" y="3805801"/>
            <a:ext cx="779802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4/ Phương pháp sai phân hữu hạn</a:t>
            </a:r>
          </a:p>
        </p:txBody>
      </p:sp>
    </p:spTree>
    <p:extLst>
      <p:ext uri="{BB962C8B-B14F-4D97-AF65-F5344CB8AC3E}">
        <p14:creationId xmlns:p14="http://schemas.microsoft.com/office/powerpoint/2010/main" val="248971509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2" grpId="0"/>
      <p:bldP spid="4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8499BA08-E110-C015-0CAA-AF2086ACC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38100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1/ </a:t>
            </a:r>
            <a:r>
              <a:rPr lang="en-US" altLang="en-US" sz="2400">
                <a:solidFill>
                  <a:srgbClr val="FF0000"/>
                </a:solidFill>
              </a:rPr>
              <a:t>Phương pháp Euler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EBD8FCA-0AF4-949D-C1B1-38B875BC3389}"/>
              </a:ext>
            </a:extLst>
          </p:cNvPr>
          <p:cNvGrpSpPr/>
          <p:nvPr/>
        </p:nvGrpSpPr>
        <p:grpSpPr>
          <a:xfrm>
            <a:off x="385544" y="681335"/>
            <a:ext cx="8682256" cy="461665"/>
            <a:chOff x="325219" y="589678"/>
            <a:chExt cx="8682256" cy="461665"/>
          </a:xfrm>
        </p:grpSpPr>
        <p:sp>
          <p:nvSpPr>
            <p:cNvPr id="3" name="Text Box 6">
              <a:extLst>
                <a:ext uri="{FF2B5EF4-FFF2-40B4-BE49-F238E27FC236}">
                  <a16:creationId xmlns:a16="http://schemas.microsoft.com/office/drawing/2014/main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19" y="589678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Xét phương trình vi phân </a:t>
              </a:r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8DBAE3AF-72B8-FFF5-5FAB-706B6BF442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440991"/>
                </p:ext>
              </p:extLst>
            </p:nvPr>
          </p:nvGraphicFramePr>
          <p:xfrm>
            <a:off x="3810000" y="644943"/>
            <a:ext cx="3746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746160" imgH="406080" progId="Equation.DSMT4">
                    <p:embed/>
                  </p:oleObj>
                </mc:Choice>
                <mc:Fallback>
                  <p:oleObj name="Equation" r:id="rId2" imgW="37461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810000" y="644943"/>
                          <a:ext cx="3746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3C5A9A-01A2-886B-BC59-F2B143196325}"/>
              </a:ext>
            </a:extLst>
          </p:cNvPr>
          <p:cNvGrpSpPr/>
          <p:nvPr/>
        </p:nvGrpSpPr>
        <p:grpSpPr>
          <a:xfrm>
            <a:off x="461744" y="1290935"/>
            <a:ext cx="8682256" cy="461665"/>
            <a:chOff x="372844" y="1138535"/>
            <a:chExt cx="8682256" cy="461665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12B5DCAC-04AF-65F1-2A6E-2AD8C4505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844" y="1138535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Chia          thành </a:t>
              </a:r>
              <a:r>
                <a:rPr lang="en-US" altLang="en-US" sz="2400" b="0" i="1"/>
                <a:t>n</a:t>
              </a:r>
              <a:r>
                <a:rPr lang="en-US" altLang="en-US" sz="2400" b="0" i="0"/>
                <a:t> đoạn nhỏ bằng nhau bởi các điểm chia  </a:t>
              </a:r>
            </a:p>
          </p:txBody>
        </p:sp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EDCBD86A-4496-F778-2EAA-5322467B50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3202167"/>
                </p:ext>
              </p:extLst>
            </p:nvPr>
          </p:nvGraphicFramePr>
          <p:xfrm>
            <a:off x="1219200" y="1205061"/>
            <a:ext cx="5969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96880" imgH="393480" progId="Equation.DSMT4">
                    <p:embed/>
                  </p:oleObj>
                </mc:Choice>
                <mc:Fallback>
                  <p:oleObj name="Equation" r:id="rId4" imgW="5968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219200" y="1205061"/>
                          <a:ext cx="5969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4243729-E3AA-0768-7A57-FD139743F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705092"/>
              </p:ext>
            </p:extLst>
          </p:nvPr>
        </p:nvGraphicFramePr>
        <p:xfrm>
          <a:off x="1235075" y="1791268"/>
          <a:ext cx="4622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22760" imgH="672840" progId="Equation.DSMT4">
                  <p:embed/>
                </p:oleObj>
              </mc:Choice>
              <mc:Fallback>
                <p:oleObj name="Equation" r:id="rId6" imgW="46227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35075" y="1791268"/>
                        <a:ext cx="46228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34">
            <a:extLst>
              <a:ext uri="{FF2B5EF4-FFF2-40B4-BE49-F238E27FC236}">
                <a16:creationId xmlns:a16="http://schemas.microsoft.com/office/drawing/2014/main" id="{41FC60BA-700A-AA78-BD90-18726ECDFD9D}"/>
              </a:ext>
            </a:extLst>
          </p:cNvPr>
          <p:cNvGrpSpPr/>
          <p:nvPr/>
        </p:nvGrpSpPr>
        <p:grpSpPr>
          <a:xfrm>
            <a:off x="614144" y="2510135"/>
            <a:ext cx="8682256" cy="461665"/>
            <a:chOff x="325219" y="2252960"/>
            <a:chExt cx="8682256" cy="461665"/>
          </a:xfrm>
        </p:grpSpPr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CAEED56F-23CB-D439-F0E7-75225A004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19" y="225296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Gọi nghiệm đúng của phương trình là  </a:t>
              </a:r>
            </a:p>
          </p:txBody>
        </p: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E3E978E4-10B9-1785-49F3-1FF85545FB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6281299"/>
                </p:ext>
              </p:extLst>
            </p:nvPr>
          </p:nvGraphicFramePr>
          <p:xfrm>
            <a:off x="5216525" y="2314575"/>
            <a:ext cx="584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83920" imgH="393480" progId="Equation.DSMT4">
                    <p:embed/>
                  </p:oleObj>
                </mc:Choice>
                <mc:Fallback>
                  <p:oleObj name="Equation" r:id="rId8" imgW="58392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216525" y="2314575"/>
                          <a:ext cx="584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4C4D26A-6DCA-5639-1911-B89C03D6009D}"/>
              </a:ext>
            </a:extLst>
          </p:cNvPr>
          <p:cNvGrpSpPr/>
          <p:nvPr/>
        </p:nvGrpSpPr>
        <p:grpSpPr>
          <a:xfrm>
            <a:off x="614144" y="3119735"/>
            <a:ext cx="8682256" cy="461665"/>
            <a:chOff x="372844" y="2771803"/>
            <a:chExt cx="8682256" cy="461665"/>
          </a:xfrm>
        </p:grpSpPr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A86626D4-00C2-BB0B-F412-AB581B87E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844" y="2771803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Giá trị của nghiệm đúng tại     là  </a:t>
              </a:r>
            </a:p>
          </p:txBody>
        </p:sp>
        <p:graphicFrame>
          <p:nvGraphicFramePr>
            <p:cNvPr id="15" name="Object 14">
              <a:extLst>
                <a:ext uri="{FF2B5EF4-FFF2-40B4-BE49-F238E27FC236}">
                  <a16:creationId xmlns:a16="http://schemas.microsoft.com/office/drawing/2014/main" id="{09A7FA8A-66E3-8270-FD85-C6EB4E6733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6795487"/>
                </p:ext>
              </p:extLst>
            </p:nvPr>
          </p:nvGraphicFramePr>
          <p:xfrm>
            <a:off x="3962400" y="2890568"/>
            <a:ext cx="228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8600" imgH="342720" progId="Equation.DSMT4">
                    <p:embed/>
                  </p:oleObj>
                </mc:Choice>
                <mc:Fallback>
                  <p:oleObj name="Equation" r:id="rId10" imgW="2286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962400" y="2890568"/>
                          <a:ext cx="228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5">
              <a:extLst>
                <a:ext uri="{FF2B5EF4-FFF2-40B4-BE49-F238E27FC236}">
                  <a16:creationId xmlns:a16="http://schemas.microsoft.com/office/drawing/2014/main" id="{FEEDBC8B-347B-D9BA-1EF7-1A64EFAE04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2759413"/>
                </p:ext>
              </p:extLst>
            </p:nvPr>
          </p:nvGraphicFramePr>
          <p:xfrm>
            <a:off x="4609199" y="2805785"/>
            <a:ext cx="6604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660240" imgH="393480" progId="Equation.DSMT4">
                    <p:embed/>
                  </p:oleObj>
                </mc:Choice>
                <mc:Fallback>
                  <p:oleObj name="Equation" r:id="rId12" imgW="66024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609199" y="2805785"/>
                          <a:ext cx="6604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971DCE-F2BC-E0C8-0A12-E928963B0762}"/>
              </a:ext>
            </a:extLst>
          </p:cNvPr>
          <p:cNvGrpSpPr/>
          <p:nvPr/>
        </p:nvGrpSpPr>
        <p:grpSpPr>
          <a:xfrm>
            <a:off x="614144" y="3729335"/>
            <a:ext cx="8682256" cy="461665"/>
            <a:chOff x="457200" y="3267450"/>
            <a:chExt cx="8682256" cy="461665"/>
          </a:xfrm>
        </p:grpSpPr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5343E083-3949-FE2C-C53B-0B52F95E9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26745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Giá trị của gần đúng của nghiệm tại     là  </a:t>
              </a:r>
            </a:p>
          </p:txBody>
        </p:sp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D073CDB9-4B58-76C9-0455-7A19416804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4369383"/>
                </p:ext>
              </p:extLst>
            </p:nvPr>
          </p:nvGraphicFramePr>
          <p:xfrm>
            <a:off x="4996549" y="3363041"/>
            <a:ext cx="228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28600" imgH="342720" progId="Equation.DSMT4">
                    <p:embed/>
                  </p:oleObj>
                </mc:Choice>
                <mc:Fallback>
                  <p:oleObj name="Equation" r:id="rId14" imgW="228600" imgH="342720" progId="Equation.DSMT4">
                    <p:embed/>
                    <p:pic>
                      <p:nvPicPr>
                        <p:cNvPr id="15" name="Object 14">
                          <a:extLst>
                            <a:ext uri="{FF2B5EF4-FFF2-40B4-BE49-F238E27FC236}">
                              <a16:creationId xmlns:a16="http://schemas.microsoft.com/office/drawing/2014/main" id="{09A7FA8A-66E3-8270-FD85-C6EB4E67336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996549" y="3363041"/>
                          <a:ext cx="228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8">
              <a:extLst>
                <a:ext uri="{FF2B5EF4-FFF2-40B4-BE49-F238E27FC236}">
                  <a16:creationId xmlns:a16="http://schemas.microsoft.com/office/drawing/2014/main" id="{8ED1807A-6FF8-9CD0-CF88-A17528A73C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6860446"/>
                </p:ext>
              </p:extLst>
            </p:nvPr>
          </p:nvGraphicFramePr>
          <p:xfrm>
            <a:off x="5638800" y="3371850"/>
            <a:ext cx="24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41200" imgH="342720" progId="Equation.DSMT4">
                    <p:embed/>
                  </p:oleObj>
                </mc:Choice>
                <mc:Fallback>
                  <p:oleObj name="Equation" r:id="rId16" imgW="241200" imgH="342720" progId="Equation.DSMT4">
                    <p:embed/>
                    <p:pic>
                      <p:nvPicPr>
                        <p:cNvPr id="16" name="Object 15">
                          <a:extLst>
                            <a:ext uri="{FF2B5EF4-FFF2-40B4-BE49-F238E27FC236}">
                              <a16:creationId xmlns:a16="http://schemas.microsoft.com/office/drawing/2014/main" id="{FEEDBC8B-347B-D9BA-1EF7-1A64EFAE04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638800" y="3371850"/>
                          <a:ext cx="241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BFDA03E-1797-6BA3-711D-4F994ACC05A9}"/>
              </a:ext>
            </a:extLst>
          </p:cNvPr>
          <p:cNvGrpSpPr/>
          <p:nvPr/>
        </p:nvGrpSpPr>
        <p:grpSpPr>
          <a:xfrm>
            <a:off x="537944" y="4338935"/>
            <a:ext cx="8682256" cy="461665"/>
            <a:chOff x="537944" y="4338935"/>
            <a:chExt cx="8682256" cy="461665"/>
          </a:xfrm>
        </p:grpSpPr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BA389D3D-A998-A91F-7ACC-D0206F938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944" y="4338935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Khai triển Taylor của          tại     đến cấp 1 với phần dư Lagrange  </a:t>
              </a:r>
            </a:p>
          </p:txBody>
        </p:sp>
        <p:graphicFrame>
          <p:nvGraphicFramePr>
            <p:cNvPr id="22" name="Object 21">
              <a:extLst>
                <a:ext uri="{FF2B5EF4-FFF2-40B4-BE49-F238E27FC236}">
                  <a16:creationId xmlns:a16="http://schemas.microsoft.com/office/drawing/2014/main" id="{C32F7724-3274-BB6A-F535-B4C223B3879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073981"/>
                </p:ext>
              </p:extLst>
            </p:nvPr>
          </p:nvGraphicFramePr>
          <p:xfrm>
            <a:off x="3430369" y="4394858"/>
            <a:ext cx="584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583650" imgH="393323" progId="Equation.DSMT4">
                    <p:embed/>
                  </p:oleObj>
                </mc:Choice>
                <mc:Fallback>
                  <p:oleObj name="Equation" r:id="rId18" imgW="583650" imgH="393323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430369" y="4394858"/>
                          <a:ext cx="584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D8C28D93-82D3-C73A-D900-1AAFFC4C0E7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6152664"/>
                </p:ext>
              </p:extLst>
            </p:nvPr>
          </p:nvGraphicFramePr>
          <p:xfrm>
            <a:off x="4443194" y="4419600"/>
            <a:ext cx="228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28854" imgH="343211" progId="Equation.DSMT4">
                    <p:embed/>
                  </p:oleObj>
                </mc:Choice>
                <mc:Fallback>
                  <p:oleObj name="Equation" r:id="rId20" imgW="228854" imgH="343211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4443194" y="4419600"/>
                          <a:ext cx="228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74D3F146-EC62-681C-C614-42DCCC1EBD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554277"/>
              </p:ext>
            </p:extLst>
          </p:nvPr>
        </p:nvGraphicFramePr>
        <p:xfrm>
          <a:off x="927100" y="4847284"/>
          <a:ext cx="6299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298920" imgH="787320" progId="Equation.DSMT4">
                  <p:embed/>
                </p:oleObj>
              </mc:Choice>
              <mc:Fallback>
                <p:oleObj name="Equation" r:id="rId22" imgW="62989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27100" y="4847284"/>
                        <a:ext cx="6299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CAF2393C-4C10-50AB-716A-F6BED31AB488}"/>
              </a:ext>
            </a:extLst>
          </p:cNvPr>
          <p:cNvGrpSpPr/>
          <p:nvPr/>
        </p:nvGrpSpPr>
        <p:grpSpPr>
          <a:xfrm>
            <a:off x="598271" y="5855269"/>
            <a:ext cx="8682256" cy="469331"/>
            <a:chOff x="598271" y="5855269"/>
            <a:chExt cx="8682256" cy="469331"/>
          </a:xfrm>
        </p:grpSpPr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id="{F385D1E3-E5C1-69E6-DF62-DB9EB522D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271" y="5855269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Thay                                                         vào đẳng thức trên: </a:t>
              </a:r>
            </a:p>
          </p:txBody>
        </p:sp>
        <p:graphicFrame>
          <p:nvGraphicFramePr>
            <p:cNvPr id="30" name="Object 29">
              <a:extLst>
                <a:ext uri="{FF2B5EF4-FFF2-40B4-BE49-F238E27FC236}">
                  <a16:creationId xmlns:a16="http://schemas.microsoft.com/office/drawing/2014/main" id="{10F57E8E-3917-8E44-1B8D-63ED8207CB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9560204"/>
                </p:ext>
              </p:extLst>
            </p:nvPr>
          </p:nvGraphicFramePr>
          <p:xfrm>
            <a:off x="1489075" y="5880100"/>
            <a:ext cx="4114801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4114800" imgH="444240" progId="Equation.DSMT4">
                    <p:embed/>
                  </p:oleObj>
                </mc:Choice>
                <mc:Fallback>
                  <p:oleObj name="Equation" r:id="rId24" imgW="411480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489075" y="5880100"/>
                          <a:ext cx="4114801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0826183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AF917C-CD7F-E698-6FA6-5325A962E414}"/>
              </a:ext>
            </a:extLst>
          </p:cNvPr>
          <p:cNvGrpSpPr/>
          <p:nvPr/>
        </p:nvGrpSpPr>
        <p:grpSpPr>
          <a:xfrm>
            <a:off x="309344" y="1143000"/>
            <a:ext cx="8682256" cy="461665"/>
            <a:chOff x="309344" y="1143000"/>
            <a:chExt cx="8682256" cy="461665"/>
          </a:xfrm>
        </p:grpSpPr>
        <p:sp>
          <p:nvSpPr>
            <p:cNvPr id="3" name="Text Box 6">
              <a:extLst>
                <a:ext uri="{FF2B5EF4-FFF2-40B4-BE49-F238E27FC236}">
                  <a16:creationId xmlns:a16="http://schemas.microsoft.com/office/drawing/2014/main" id="{E300C72C-CF51-CB41-F840-78BA8507F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344" y="114300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Thay                       lần lượt bởi            ta có </a:t>
              </a:r>
            </a:p>
          </p:txBody>
        </p:sp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95DBD1D4-1730-D5BE-247E-E188FE41379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951903"/>
                </p:ext>
              </p:extLst>
            </p:nvPr>
          </p:nvGraphicFramePr>
          <p:xfrm>
            <a:off x="1223744" y="1195090"/>
            <a:ext cx="15494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49080" imgH="393480" progId="Equation.DSMT4">
                    <p:embed/>
                  </p:oleObj>
                </mc:Choice>
                <mc:Fallback>
                  <p:oleObj name="Equation" r:id="rId2" imgW="1549080" imgH="393480" progId="Equation.DSMT4">
                    <p:embed/>
                    <p:pic>
                      <p:nvPicPr>
                        <p:cNvPr id="30" name="Object 29">
                          <a:extLst>
                            <a:ext uri="{FF2B5EF4-FFF2-40B4-BE49-F238E27FC236}">
                              <a16:creationId xmlns:a16="http://schemas.microsoft.com/office/drawing/2014/main" id="{10F57E8E-3917-8E44-1B8D-63ED8207CB3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223744" y="1195090"/>
                          <a:ext cx="15494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91E422DB-78CA-37F9-A6A9-CAA5894DED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647547"/>
                </p:ext>
              </p:extLst>
            </p:nvPr>
          </p:nvGraphicFramePr>
          <p:xfrm>
            <a:off x="4366994" y="1200150"/>
            <a:ext cx="72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723600" imgH="342720" progId="Equation.DSMT4">
                    <p:embed/>
                  </p:oleObj>
                </mc:Choice>
                <mc:Fallback>
                  <p:oleObj name="Equation" r:id="rId4" imgW="7236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66994" y="1200150"/>
                          <a:ext cx="723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8BB571-0666-4C47-50BD-D6048E0975A7}"/>
              </a:ext>
            </a:extLst>
          </p:cNvPr>
          <p:cNvGrpSpPr/>
          <p:nvPr/>
        </p:nvGrpSpPr>
        <p:grpSpPr>
          <a:xfrm>
            <a:off x="703044" y="1824335"/>
            <a:ext cx="7450356" cy="461665"/>
            <a:chOff x="703044" y="1824335"/>
            <a:chExt cx="7450356" cy="461665"/>
          </a:xfrm>
        </p:grpSpPr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809C4166-5485-040B-4417-5A54C93BF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1824335"/>
              <a:ext cx="3124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với                    đã biết. </a:t>
              </a:r>
            </a:p>
          </p:txBody>
        </p:sp>
        <p:graphicFrame>
          <p:nvGraphicFramePr>
            <p:cNvPr id="2" name="Object 1">
              <a:extLst>
                <a:ext uri="{FF2B5EF4-FFF2-40B4-BE49-F238E27FC236}">
                  <a16:creationId xmlns:a16="http://schemas.microsoft.com/office/drawing/2014/main" id="{1F0CE058-F043-A099-ABE9-D3DD137138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4045000"/>
                </p:ext>
              </p:extLst>
            </p:nvPr>
          </p:nvGraphicFramePr>
          <p:xfrm>
            <a:off x="703044" y="1867843"/>
            <a:ext cx="4140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140000" imgH="393480" progId="Equation.DSMT4">
                    <p:embed/>
                  </p:oleObj>
                </mc:Choice>
                <mc:Fallback>
                  <p:oleObj name="Equation" r:id="rId6" imgW="4140000" imgH="393480" progId="Equation.DSMT4">
                    <p:embed/>
                    <p:pic>
                      <p:nvPicPr>
                        <p:cNvPr id="31" name="Object 30">
                          <a:extLst>
                            <a:ext uri="{FF2B5EF4-FFF2-40B4-BE49-F238E27FC236}">
                              <a16:creationId xmlns:a16="http://schemas.microsoft.com/office/drawing/2014/main" id="{DCB5B5DC-C527-431B-BE2F-A430C6839FB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03044" y="1867843"/>
                          <a:ext cx="4140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47C2A6FA-F2D8-7923-68E3-A5FD72B603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606125"/>
                </p:ext>
              </p:extLst>
            </p:nvPr>
          </p:nvGraphicFramePr>
          <p:xfrm>
            <a:off x="5791200" y="1863725"/>
            <a:ext cx="12319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31560" imgH="393480" progId="Equation.DSMT4">
                    <p:embed/>
                  </p:oleObj>
                </mc:Choice>
                <mc:Fallback>
                  <p:oleObj name="Equation" r:id="rId8" imgW="123156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791200" y="1863725"/>
                          <a:ext cx="12319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6">
            <a:extLst>
              <a:ext uri="{FF2B5EF4-FFF2-40B4-BE49-F238E27FC236}">
                <a16:creationId xmlns:a16="http://schemas.microsoft.com/office/drawing/2014/main" id="{B31C9E28-CE2B-E8AF-2EE4-DD5FA315B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97" y="2546647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/>
              <a:t>Đây là công thức Euler giải phương trình vi phân</a:t>
            </a:r>
            <a:endParaRPr lang="en-US" altLang="en-US" sz="2400" b="0" i="0"/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700F0BCD-1269-5D2B-32C3-69037DBD6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694" y="3287365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Người ta chứng minh được sai số của phương pháp Euler: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39599A-B2AA-C760-3E6A-E111156BA1DC}"/>
              </a:ext>
            </a:extLst>
          </p:cNvPr>
          <p:cNvGrpSpPr/>
          <p:nvPr/>
        </p:nvGrpSpPr>
        <p:grpSpPr>
          <a:xfrm>
            <a:off x="609600" y="4003675"/>
            <a:ext cx="8077200" cy="492125"/>
            <a:chOff x="609600" y="4003675"/>
            <a:chExt cx="8077200" cy="492125"/>
          </a:xfrm>
        </p:grpSpPr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9BE1899B-3566-02F2-4203-45F6E9F737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9469276"/>
                </p:ext>
              </p:extLst>
            </p:nvPr>
          </p:nvGraphicFramePr>
          <p:xfrm>
            <a:off x="609600" y="4051300"/>
            <a:ext cx="18669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866600" imgH="444240" progId="Equation.DSMT4">
                    <p:embed/>
                  </p:oleObj>
                </mc:Choice>
                <mc:Fallback>
                  <p:oleObj name="Equation" r:id="rId10" imgW="186660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09600" y="4051300"/>
                          <a:ext cx="18669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9608812A-3753-F328-D7E1-942A47A1B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5319" y="4003675"/>
              <a:ext cx="62914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với </a:t>
              </a:r>
              <a:r>
                <a:rPr lang="en-US" altLang="en-US" sz="2400" b="0" i="1"/>
                <a:t>M</a:t>
              </a:r>
              <a:r>
                <a:rPr lang="en-US" altLang="en-US" sz="2400" b="0" i="0"/>
                <a:t> là hằng số dương không phụ thuộc vào </a:t>
              </a:r>
              <a:r>
                <a:rPr lang="en-US" altLang="en-US" sz="2400" b="0" i="1"/>
                <a:t>h</a:t>
              </a:r>
              <a:r>
                <a:rPr lang="en-US" altLang="en-US" sz="2400" b="0" i="0"/>
                <a:t>.</a:t>
              </a:r>
            </a:p>
          </p:txBody>
        </p:sp>
      </p:grp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AEB9C8F7-1333-8F19-1BCD-061C263E9A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273914"/>
              </p:ext>
            </p:extLst>
          </p:nvPr>
        </p:nvGraphicFramePr>
        <p:xfrm>
          <a:off x="914400" y="232259"/>
          <a:ext cx="5778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78360" imgH="711000" progId="Equation.DSMT4">
                  <p:embed/>
                </p:oleObj>
              </mc:Choice>
              <mc:Fallback>
                <p:oleObj name="Equation" r:id="rId12" imgW="5778360" imgH="711000" progId="Equation.DSMT4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DCB5B5DC-C527-431B-BE2F-A430C6839F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14400" y="232259"/>
                        <a:ext cx="57785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3715716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6">
            <a:extLst>
              <a:ext uri="{FF2B5EF4-FFF2-40B4-BE49-F238E27FC236}">
                <a16:creationId xmlns:a16="http://schemas.microsoft.com/office/drawing/2014/main" id="{495C7057-DB1E-5617-8315-1EB994FCA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72" y="5870153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Calc </a:t>
            </a:r>
          </a:p>
        </p:txBody>
      </p:sp>
      <p:sp>
        <p:nvSpPr>
          <p:cNvPr id="10264" name="Text Box 29">
            <a:extLst>
              <a:ext uri="{FF2B5EF4-FFF2-40B4-BE49-F238E27FC236}">
                <a16:creationId xmlns:a16="http://schemas.microsoft.com/office/drawing/2014/main" id="{BD2EE327-1545-A040-6EAB-339F4DB2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87" y="0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009999"/>
                </a:solidFill>
              </a:rPr>
              <a:t>Ví dụ 1</a:t>
            </a:r>
          </a:p>
        </p:txBody>
      </p:sp>
      <p:sp>
        <p:nvSpPr>
          <p:cNvPr id="10265" name="Rectangle 30">
            <a:extLst>
              <a:ext uri="{FF2B5EF4-FFF2-40B4-BE49-F238E27FC236}">
                <a16:creationId xmlns:a16="http://schemas.microsoft.com/office/drawing/2014/main" id="{7D767F4A-21EF-1EF9-D827-B298CE79D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19" y="381001"/>
            <a:ext cx="8682255" cy="1079499"/>
          </a:xfrm>
          <a:prstGeom prst="rect">
            <a:avLst/>
          </a:prstGeom>
          <a:noFill/>
          <a:ln w="190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>
              <a:solidFill>
                <a:srgbClr val="0000FF"/>
              </a:solidFill>
            </a:endParaRPr>
          </a:p>
        </p:txBody>
      </p:sp>
      <p:sp>
        <p:nvSpPr>
          <p:cNvPr id="10266" name="Text Box 6">
            <a:extLst>
              <a:ext uri="{FF2B5EF4-FFF2-40B4-BE49-F238E27FC236}">
                <a16:creationId xmlns:a16="http://schemas.microsoft.com/office/drawing/2014/main" id="{826DD873-DB7C-EE89-2C12-8715844F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19" y="457200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Cho bài toán Côsi:                           . Hãy tìm nghiệm gần đúng bằng                </a:t>
            </a:r>
          </a:p>
        </p:txBody>
      </p:sp>
      <p:graphicFrame>
        <p:nvGraphicFramePr>
          <p:cNvPr id="10269" name="Object 6">
            <a:extLst>
              <a:ext uri="{FF2B5EF4-FFF2-40B4-BE49-F238E27FC236}">
                <a16:creationId xmlns:a16="http://schemas.microsoft.com/office/drawing/2014/main" id="{B5502EE2-55D2-3F2E-0E4F-3E12B73FE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0363418"/>
              </p:ext>
            </p:extLst>
          </p:nvPr>
        </p:nvGraphicFramePr>
        <p:xfrm>
          <a:off x="3429000" y="1066800"/>
          <a:ext cx="533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393480" progId="Equation.DSMT4">
                  <p:embed/>
                </p:oleObj>
              </mc:Choice>
              <mc:Fallback>
                <p:oleObj name="Equation" r:id="rId2" imgW="533160" imgH="393480" progId="Equation.DSMT4">
                  <p:embed/>
                  <p:pic>
                    <p:nvPicPr>
                      <p:cNvPr id="10269" name="Object 6">
                        <a:extLst>
                          <a:ext uri="{FF2B5EF4-FFF2-40B4-BE49-F238E27FC236}">
                            <a16:creationId xmlns:a16="http://schemas.microsoft.com/office/drawing/2014/main" id="{B5502EE2-55D2-3F2E-0E4F-3E12B73FE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066800"/>
                        <a:ext cx="533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AA7C15F-A8F8-55E6-ABAF-AC206B52F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421148"/>
              </p:ext>
            </p:extLst>
          </p:nvPr>
        </p:nvGraphicFramePr>
        <p:xfrm>
          <a:off x="2819400" y="500707"/>
          <a:ext cx="2032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840" imgH="431640" progId="Equation.DSMT4">
                  <p:embed/>
                </p:oleObj>
              </mc:Choice>
              <mc:Fallback>
                <p:oleObj name="Equation" r:id="rId4" imgW="2031840" imgH="4316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AA7C15F-A8F8-55E6-ABAF-AC206B52F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00707"/>
                        <a:ext cx="2032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50A5531A-45FA-03C4-2D82-F223642D3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19" y="1013121"/>
            <a:ext cx="84935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phương pháp Euler trên          với            . 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8388086-E575-D666-B8ED-B69D94DF6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246006"/>
              </p:ext>
            </p:extLst>
          </p:nvPr>
        </p:nvGraphicFramePr>
        <p:xfrm>
          <a:off x="4581525" y="1144586"/>
          <a:ext cx="800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9920" imgH="266400" progId="Equation.DSMT4">
                  <p:embed/>
                </p:oleObj>
              </mc:Choice>
              <mc:Fallback>
                <p:oleObj name="Equation" r:id="rId6" imgW="7999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81525" y="1144586"/>
                        <a:ext cx="8001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0859F5C5-6ADB-B130-F1AE-43EBCFBF7E04}"/>
              </a:ext>
            </a:extLst>
          </p:cNvPr>
          <p:cNvGrpSpPr/>
          <p:nvPr/>
        </p:nvGrpSpPr>
        <p:grpSpPr>
          <a:xfrm>
            <a:off x="590547" y="1487461"/>
            <a:ext cx="8248653" cy="3008338"/>
            <a:chOff x="590547" y="1487461"/>
            <a:chExt cx="8248653" cy="3008338"/>
          </a:xfrm>
        </p:grpSpPr>
        <p:graphicFrame>
          <p:nvGraphicFramePr>
            <p:cNvPr id="5" name="Table 6">
              <a:extLst>
                <a:ext uri="{FF2B5EF4-FFF2-40B4-BE49-F238E27FC236}">
                  <a16:creationId xmlns:a16="http://schemas.microsoft.com/office/drawing/2014/main" id="{DA4DCE44-F857-F625-E2C9-5576C221554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10022344"/>
                </p:ext>
              </p:extLst>
            </p:nvPr>
          </p:nvGraphicFramePr>
          <p:xfrm>
            <a:off x="590547" y="1676400"/>
            <a:ext cx="8248653" cy="2819399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704853">
                    <a:extLst>
                      <a:ext uri="{9D8B030D-6E8A-4147-A177-3AD203B41FA5}">
                        <a16:colId xmlns:a16="http://schemas.microsoft.com/office/drawing/2014/main" val="1936774396"/>
                      </a:ext>
                    </a:extLst>
                  </a:gridCol>
                  <a:gridCol w="1219200">
                    <a:extLst>
                      <a:ext uri="{9D8B030D-6E8A-4147-A177-3AD203B41FA5}">
                        <a16:colId xmlns:a16="http://schemas.microsoft.com/office/drawing/2014/main" val="3154895535"/>
                      </a:ext>
                    </a:extLst>
                  </a:gridCol>
                  <a:gridCol w="1447800">
                    <a:extLst>
                      <a:ext uri="{9D8B030D-6E8A-4147-A177-3AD203B41FA5}">
                        <a16:colId xmlns:a16="http://schemas.microsoft.com/office/drawing/2014/main" val="2616995824"/>
                      </a:ext>
                    </a:extLst>
                  </a:gridCol>
                  <a:gridCol w="1524000">
                    <a:extLst>
                      <a:ext uri="{9D8B030D-6E8A-4147-A177-3AD203B41FA5}">
                        <a16:colId xmlns:a16="http://schemas.microsoft.com/office/drawing/2014/main" val="771537911"/>
                      </a:ext>
                    </a:extLst>
                  </a:gridCol>
                  <a:gridCol w="1752600">
                    <a:extLst>
                      <a:ext uri="{9D8B030D-6E8A-4147-A177-3AD203B41FA5}">
                        <a16:colId xmlns:a16="http://schemas.microsoft.com/office/drawing/2014/main" val="1878705679"/>
                      </a:ext>
                    </a:extLst>
                  </a:gridCol>
                  <a:gridCol w="1600200">
                    <a:extLst>
                      <a:ext uri="{9D8B030D-6E8A-4147-A177-3AD203B41FA5}">
                        <a16:colId xmlns:a16="http://schemas.microsoft.com/office/drawing/2014/main" val="322983812"/>
                      </a:ext>
                    </a:extLst>
                  </a:gridCol>
                </a:tblGrid>
                <a:tr h="594359">
                  <a:tc>
                    <a:txBody>
                      <a:bodyPr/>
                      <a:lstStyle/>
                      <a:p>
                        <a:pPr algn="ctr"/>
                        <a:endParaRPr lang="en-US"/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extLst>
                    <a:ext uri="{0D108BD9-81ED-4DB2-BD59-A6C34878D82A}">
                      <a16:rowId xmlns:a16="http://schemas.microsoft.com/office/drawing/2014/main" val="51728683"/>
                    </a:ext>
                  </a:extLst>
                </a:tr>
                <a:tr h="741680">
                  <a:tc>
                    <a:txBody>
                      <a:bodyPr/>
                      <a:lstStyle/>
                      <a:p>
                        <a:pPr algn="ctr"/>
                        <a:r>
                          <a:rPr 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0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0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1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0.3678794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0.1839397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1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extLst>
                    <a:ext uri="{0D108BD9-81ED-4DB2-BD59-A6C34878D82A}">
                      <a16:rowId xmlns:a16="http://schemas.microsoft.com/office/drawing/2014/main" val="376996176"/>
                    </a:ext>
                  </a:extLst>
                </a:tr>
                <a:tr h="741680">
                  <a:tc>
                    <a:txBody>
                      <a:bodyPr/>
                      <a:lstStyle/>
                      <a:p>
                        <a:pPr algn="ctr"/>
                        <a:r>
                          <a:rPr 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0.5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1.1839397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0.504625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0.2523125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1.2140231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extLst>
                    <a:ext uri="{0D108BD9-81ED-4DB2-BD59-A6C34878D82A}">
                      <a16:rowId xmlns:a16="http://schemas.microsoft.com/office/drawing/2014/main" val="1279411918"/>
                    </a:ext>
                  </a:extLst>
                </a:tr>
                <a:tr h="741680">
                  <a:tc>
                    <a:txBody>
                      <a:bodyPr/>
                      <a:lstStyle/>
                      <a:p>
                        <a:pPr algn="ctr"/>
                        <a:r>
                          <a:rPr 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1.4362522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/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/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1.489988</a:t>
                        </a:r>
                      </a:p>
                    </a:txBody>
                    <a:tcPr>
                      <a:gradFill flip="none" rotWithShape="1">
                        <a:gsLst>
                          <a:gs pos="0">
                            <a:schemeClr val="accent3">
                              <a:lumMod val="5000"/>
                              <a:lumOff val="95000"/>
                            </a:schemeClr>
                          </a:gs>
                          <a:gs pos="74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83000">
                            <a:schemeClr val="accent3">
                              <a:lumMod val="45000"/>
                              <a:lumOff val="55000"/>
                            </a:schemeClr>
                          </a:gs>
                          <a:gs pos="100000">
                            <a:schemeClr val="accent3">
                              <a:lumMod val="30000"/>
                              <a:lumOff val="70000"/>
                            </a:schemeClr>
                          </a:gs>
                        </a:gsLst>
                        <a:lin ang="5400000" scaled="1"/>
                        <a:tileRect/>
                      </a:gradFill>
                    </a:tcPr>
                  </a:tc>
                  <a:extLst>
                    <a:ext uri="{0D108BD9-81ED-4DB2-BD59-A6C34878D82A}">
                      <a16:rowId xmlns:a16="http://schemas.microsoft.com/office/drawing/2014/main" val="2295272499"/>
                    </a:ext>
                  </a:extLst>
                </a:tr>
              </a:tbl>
            </a:graphicData>
          </a:graphic>
        </p:graphicFrame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0840814C-FB60-8058-3A4F-B324025AFE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545432"/>
                </p:ext>
              </p:extLst>
            </p:nvPr>
          </p:nvGraphicFramePr>
          <p:xfrm>
            <a:off x="990600" y="1763713"/>
            <a:ext cx="1143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120" imgH="241200" progId="Equation.DSMT4">
                    <p:embed/>
                  </p:oleObj>
                </mc:Choice>
                <mc:Fallback>
                  <p:oleObj name="Equation" r:id="rId8" imgW="11412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990600" y="1763713"/>
                          <a:ext cx="1143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61768862-B3C2-99C0-024B-EF790FB9CCA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998528"/>
                </p:ext>
              </p:extLst>
            </p:nvPr>
          </p:nvGraphicFramePr>
          <p:xfrm>
            <a:off x="1749574" y="1738313"/>
            <a:ext cx="228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8600" imgH="342720" progId="Equation.DSMT4">
                    <p:embed/>
                  </p:oleObj>
                </mc:Choice>
                <mc:Fallback>
                  <p:oleObj name="Equation" r:id="rId10" imgW="2286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749574" y="1738313"/>
                          <a:ext cx="228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4F854CF9-5DCB-C717-84ED-BC0971195C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5957203"/>
                </p:ext>
              </p:extLst>
            </p:nvPr>
          </p:nvGraphicFramePr>
          <p:xfrm>
            <a:off x="3035221" y="1685925"/>
            <a:ext cx="254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53800" imgH="342720" progId="Equation.DSMT4">
                    <p:embed/>
                  </p:oleObj>
                </mc:Choice>
                <mc:Fallback>
                  <p:oleObj name="Equation" r:id="rId12" imgW="253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035221" y="1685925"/>
                          <a:ext cx="254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05996AB1-EAB1-4716-B1B5-00F41F0ED1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240988"/>
                </p:ext>
              </p:extLst>
            </p:nvPr>
          </p:nvGraphicFramePr>
          <p:xfrm>
            <a:off x="4151996" y="1712913"/>
            <a:ext cx="10287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028520" imgH="393480" progId="Equation.DSMT4">
                    <p:embed/>
                  </p:oleObj>
                </mc:Choice>
                <mc:Fallback>
                  <p:oleObj name="Equation" r:id="rId14" imgW="102852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151996" y="1712913"/>
                          <a:ext cx="10287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7FE9BD26-4907-A92D-398F-D2F6E84639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0698726"/>
                </p:ext>
              </p:extLst>
            </p:nvPr>
          </p:nvGraphicFramePr>
          <p:xfrm>
            <a:off x="5943600" y="1687513"/>
            <a:ext cx="1117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117440" imgH="393480" progId="Equation.DSMT4">
                    <p:embed/>
                  </p:oleObj>
                </mc:Choice>
                <mc:Fallback>
                  <p:oleObj name="Equation" r:id="rId16" imgW="111744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943600" y="1687513"/>
                          <a:ext cx="11176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913D2FCA-10E0-11A5-3419-5D704AD2603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284579"/>
                </p:ext>
              </p:extLst>
            </p:nvPr>
          </p:nvGraphicFramePr>
          <p:xfrm>
            <a:off x="7451607" y="1487461"/>
            <a:ext cx="1270000" cy="850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69720" imgH="850680" progId="Equation.DSMT4">
                    <p:embed/>
                  </p:oleObj>
                </mc:Choice>
                <mc:Fallback>
                  <p:oleObj name="Equation" r:id="rId18" imgW="1269720" imgH="850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7451607" y="1487461"/>
                          <a:ext cx="1270000" cy="850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5C69F372-CC57-6352-C0A0-B9B73A42DB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378612"/>
              </p:ext>
            </p:extLst>
          </p:nvPr>
        </p:nvGraphicFramePr>
        <p:xfrm>
          <a:off x="5646313" y="970757"/>
          <a:ext cx="327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276360" imgH="393480" progId="Equation.DSMT4">
                  <p:embed/>
                </p:oleObj>
              </mc:Choice>
              <mc:Fallback>
                <p:oleObj name="Equation" r:id="rId20" imgW="32763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646313" y="970757"/>
                        <a:ext cx="32766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A3A2940-14B6-7218-3B5F-F95F4A42B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500555"/>
              </p:ext>
            </p:extLst>
          </p:nvPr>
        </p:nvGraphicFramePr>
        <p:xfrm>
          <a:off x="2556790" y="4664860"/>
          <a:ext cx="396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962160" imgH="380880" progId="Equation.DSMT4">
                  <p:embed/>
                </p:oleObj>
              </mc:Choice>
              <mc:Fallback>
                <p:oleObj name="Equation" r:id="rId22" imgW="3962160" imgH="3808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720FE877-B6ED-C979-C95D-99624675D9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556790" y="4664860"/>
                        <a:ext cx="3962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5F3C0DA8-24BA-CBAB-4F14-662BBCE183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718193"/>
              </p:ext>
            </p:extLst>
          </p:nvPr>
        </p:nvGraphicFramePr>
        <p:xfrm>
          <a:off x="2556790" y="5346698"/>
          <a:ext cx="3784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784320" imgH="317160" progId="Equation.DSMT4">
                  <p:embed/>
                </p:oleObj>
              </mc:Choice>
              <mc:Fallback>
                <p:oleObj name="Equation" r:id="rId24" imgW="378432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556790" y="5346698"/>
                        <a:ext cx="3784600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5638AD21-CA8A-751E-217C-496F5DAFFA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608734"/>
              </p:ext>
            </p:extLst>
          </p:nvPr>
        </p:nvGraphicFramePr>
        <p:xfrm>
          <a:off x="2070021" y="6046024"/>
          <a:ext cx="1219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18960" imgH="279360" progId="Equation.DSMT4">
                  <p:embed/>
                </p:oleObj>
              </mc:Choice>
              <mc:Fallback>
                <p:oleObj name="Equation" r:id="rId26" imgW="12189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070021" y="6046024"/>
                        <a:ext cx="1219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157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50A5531A-45FA-03C4-2D82-F223642D3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53" y="757535"/>
            <a:ext cx="84935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/>
              <a:t>đúng bằng </a:t>
            </a:r>
            <a:r>
              <a:rPr lang="en-US" altLang="en-US" sz="2400" b="0" i="0"/>
              <a:t>phương pháp Euler trên          với              .  </a:t>
            </a:r>
          </a:p>
        </p:txBody>
      </p:sp>
      <p:sp>
        <p:nvSpPr>
          <p:cNvPr id="10264" name="Text Box 29">
            <a:extLst>
              <a:ext uri="{FF2B5EF4-FFF2-40B4-BE49-F238E27FC236}">
                <a16:creationId xmlns:a16="http://schemas.microsoft.com/office/drawing/2014/main" id="{BD2EE327-1545-A040-6EAB-339F4DB2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87" y="0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009999"/>
                </a:solidFill>
              </a:rPr>
              <a:t>Ví dụ 2</a:t>
            </a:r>
          </a:p>
        </p:txBody>
      </p:sp>
      <p:sp>
        <p:nvSpPr>
          <p:cNvPr id="10265" name="Rectangle 30">
            <a:extLst>
              <a:ext uri="{FF2B5EF4-FFF2-40B4-BE49-F238E27FC236}">
                <a16:creationId xmlns:a16="http://schemas.microsoft.com/office/drawing/2014/main" id="{7D767F4A-21EF-1EF9-D827-B298CE79D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20" y="381000"/>
            <a:ext cx="8600994" cy="1214735"/>
          </a:xfrm>
          <a:prstGeom prst="rect">
            <a:avLst/>
          </a:prstGeom>
          <a:noFill/>
          <a:ln w="190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>
              <a:solidFill>
                <a:srgbClr val="0000FF"/>
              </a:solidFill>
            </a:endParaRPr>
          </a:p>
        </p:txBody>
      </p:sp>
      <p:sp>
        <p:nvSpPr>
          <p:cNvPr id="10266" name="Text Box 6">
            <a:extLst>
              <a:ext uri="{FF2B5EF4-FFF2-40B4-BE49-F238E27FC236}">
                <a16:creationId xmlns:a16="http://schemas.microsoft.com/office/drawing/2014/main" id="{826DD873-DB7C-EE89-2C12-8715844F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9313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Cho bài toán Côsi:                                    . Hãy tìm nghiệm gần</a:t>
            </a:r>
          </a:p>
        </p:txBody>
      </p:sp>
      <p:graphicFrame>
        <p:nvGraphicFramePr>
          <p:cNvPr id="10269" name="Object 6">
            <a:extLst>
              <a:ext uri="{FF2B5EF4-FFF2-40B4-BE49-F238E27FC236}">
                <a16:creationId xmlns:a16="http://schemas.microsoft.com/office/drawing/2014/main" id="{B5502EE2-55D2-3F2E-0E4F-3E12B73FE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5981577"/>
              </p:ext>
            </p:extLst>
          </p:nvPr>
        </p:nvGraphicFramePr>
        <p:xfrm>
          <a:off x="4857750" y="825240"/>
          <a:ext cx="571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320" imgH="393480" progId="Equation.DSMT4">
                  <p:embed/>
                </p:oleObj>
              </mc:Choice>
              <mc:Fallback>
                <p:oleObj name="Equation" r:id="rId2" imgW="571320" imgH="393480" progId="Equation.DSMT4">
                  <p:embed/>
                  <p:pic>
                    <p:nvPicPr>
                      <p:cNvPr id="10269" name="Object 6">
                        <a:extLst>
                          <a:ext uri="{FF2B5EF4-FFF2-40B4-BE49-F238E27FC236}">
                            <a16:creationId xmlns:a16="http://schemas.microsoft.com/office/drawing/2014/main" id="{B5502EE2-55D2-3F2E-0E4F-3E12B73FE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825240"/>
                        <a:ext cx="571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AA7C15F-A8F8-55E6-ABAF-AC206B52F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995511"/>
              </p:ext>
            </p:extLst>
          </p:nvPr>
        </p:nvGraphicFramePr>
        <p:xfrm>
          <a:off x="2798981" y="406400"/>
          <a:ext cx="2692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92080" imgH="431640" progId="Equation.DSMT4">
                  <p:embed/>
                </p:oleObj>
              </mc:Choice>
              <mc:Fallback>
                <p:oleObj name="Equation" r:id="rId4" imgW="2692080" imgH="4316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AA7C15F-A8F8-55E6-ABAF-AC206B52F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981" y="406400"/>
                        <a:ext cx="2692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8388086-E575-D666-B8ED-B69D94DF6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945144"/>
              </p:ext>
            </p:extLst>
          </p:nvPr>
        </p:nvGraphicFramePr>
        <p:xfrm>
          <a:off x="5994400" y="888740"/>
          <a:ext cx="939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600" imgH="266400" progId="Equation.DSMT4">
                  <p:embed/>
                </p:oleObj>
              </mc:Choice>
              <mc:Fallback>
                <p:oleObj name="Equation" r:id="rId6" imgW="939600" imgH="2664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A8388086-E575-D666-B8ED-B69D94DF6E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94400" y="888740"/>
                        <a:ext cx="939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B7570EE-BC66-0F5C-B3C4-590DC19E4E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563067"/>
              </p:ext>
            </p:extLst>
          </p:nvPr>
        </p:nvGraphicFramePr>
        <p:xfrm>
          <a:off x="4616450" y="1201738"/>
          <a:ext cx="349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92360" imgH="393480" progId="Equation.DSMT4">
                  <p:embed/>
                </p:oleObj>
              </mc:Choice>
              <mc:Fallback>
                <p:oleObj name="Equation" r:id="rId8" imgW="3492360" imgH="393480" progId="Equation.DSMT4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5C69F372-CC57-6352-C0A0-B9B73A42DB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16450" y="1201738"/>
                        <a:ext cx="3492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22AE5124-9F93-7B8C-EFB5-C39BE1954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622" y="5969923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Calc 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C28BA09-0F79-65BB-AE99-3EDB799815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820913"/>
              </p:ext>
            </p:extLst>
          </p:nvPr>
        </p:nvGraphicFramePr>
        <p:xfrm>
          <a:off x="1947863" y="4850477"/>
          <a:ext cx="396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62160" imgH="380880" progId="Equation.DSMT4">
                  <p:embed/>
                </p:oleObj>
              </mc:Choice>
              <mc:Fallback>
                <p:oleObj name="Equation" r:id="rId10" imgW="3962160" imgH="3808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A3A2940-14B6-7218-3B5F-F95F4A42B9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47863" y="4850477"/>
                        <a:ext cx="3962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E2EA417-7EB2-EC89-D491-55A0097C41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96029"/>
              </p:ext>
            </p:extLst>
          </p:nvPr>
        </p:nvGraphicFramePr>
        <p:xfrm>
          <a:off x="1947863" y="5264150"/>
          <a:ext cx="5003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03640" imgH="482400" progId="Equation.DSMT4">
                  <p:embed/>
                </p:oleObj>
              </mc:Choice>
              <mc:Fallback>
                <p:oleObj name="Equation" r:id="rId12" imgW="5003640" imgH="48240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5F3C0DA8-24BA-CBAB-4F14-662BBCE183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47863" y="5264150"/>
                        <a:ext cx="5003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3DA4B791-0160-49F0-1694-6EFD9E5622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974041"/>
              </p:ext>
            </p:extLst>
          </p:nvPr>
        </p:nvGraphicFramePr>
        <p:xfrm>
          <a:off x="2032000" y="6107113"/>
          <a:ext cx="1270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9720" imgH="279360" progId="Equation.DSMT4">
                  <p:embed/>
                </p:oleObj>
              </mc:Choice>
              <mc:Fallback>
                <p:oleObj name="Equation" r:id="rId14" imgW="1269720" imgH="27936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5638AD21-CA8A-751E-217C-496F5DAFFA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32000" y="6107113"/>
                        <a:ext cx="12700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FACD7526-26A8-5759-7539-DB7FCCC34698}"/>
              </a:ext>
            </a:extLst>
          </p:cNvPr>
          <p:cNvGrpSpPr/>
          <p:nvPr/>
        </p:nvGrpSpPr>
        <p:grpSpPr>
          <a:xfrm>
            <a:off x="815717" y="1935163"/>
            <a:ext cx="7642483" cy="2749050"/>
            <a:chOff x="815717" y="1935163"/>
            <a:chExt cx="7642483" cy="2749050"/>
          </a:xfrm>
        </p:grpSpPr>
        <p:graphicFrame>
          <p:nvGraphicFramePr>
            <p:cNvPr id="13" name="Table 13">
              <a:extLst>
                <a:ext uri="{FF2B5EF4-FFF2-40B4-BE49-F238E27FC236}">
                  <a16:creationId xmlns:a16="http://schemas.microsoft.com/office/drawing/2014/main" id="{2511CF51-2FBC-506A-CB20-35C98474962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79346219"/>
                </p:ext>
              </p:extLst>
            </p:nvPr>
          </p:nvGraphicFramePr>
          <p:xfrm>
            <a:off x="815717" y="1935163"/>
            <a:ext cx="7642483" cy="274905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844217">
                    <a:extLst>
                      <a:ext uri="{9D8B030D-6E8A-4147-A177-3AD203B41FA5}">
                        <a16:colId xmlns:a16="http://schemas.microsoft.com/office/drawing/2014/main" val="3974272585"/>
                      </a:ext>
                    </a:extLst>
                  </a:gridCol>
                  <a:gridCol w="1083266">
                    <a:extLst>
                      <a:ext uri="{9D8B030D-6E8A-4147-A177-3AD203B41FA5}">
                        <a16:colId xmlns:a16="http://schemas.microsoft.com/office/drawing/2014/main" val="3897259787"/>
                      </a:ext>
                    </a:extLst>
                  </a:gridCol>
                  <a:gridCol w="1692418">
                    <a:extLst>
                      <a:ext uri="{9D8B030D-6E8A-4147-A177-3AD203B41FA5}">
                        <a16:colId xmlns:a16="http://schemas.microsoft.com/office/drawing/2014/main" val="396251521"/>
                      </a:ext>
                    </a:extLst>
                  </a:gridCol>
                  <a:gridCol w="2310845">
                    <a:extLst>
                      <a:ext uri="{9D8B030D-6E8A-4147-A177-3AD203B41FA5}">
                        <a16:colId xmlns:a16="http://schemas.microsoft.com/office/drawing/2014/main" val="147221068"/>
                      </a:ext>
                    </a:extLst>
                  </a:gridCol>
                  <a:gridCol w="1711737">
                    <a:extLst>
                      <a:ext uri="{9D8B030D-6E8A-4147-A177-3AD203B41FA5}">
                        <a16:colId xmlns:a16="http://schemas.microsoft.com/office/drawing/2014/main" val="838067776"/>
                      </a:ext>
                    </a:extLst>
                  </a:gridCol>
                </a:tblGrid>
                <a:tr h="458175"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3241916759"/>
                    </a:ext>
                  </a:extLst>
                </a:tr>
                <a:tr h="458175"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0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2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2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0.2071067812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/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108436130"/>
                    </a:ext>
                  </a:extLst>
                </a:tr>
                <a:tr h="458175"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1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2.25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2.2071067812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0.2838921267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/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443678538"/>
                    </a:ext>
                  </a:extLst>
                </a:tr>
                <a:tr h="458175"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2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2.5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2.4909989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0.3636814406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/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108122591"/>
                    </a:ext>
                  </a:extLst>
                </a:tr>
                <a:tr h="458175"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3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2.75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2.854680348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0.4479161165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/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70810158"/>
                    </a:ext>
                  </a:extLst>
                </a:tr>
                <a:tr h="458175"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4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3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3.302596465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/>
                          <a:t>0.5373294278</a:t>
                        </a:r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endParaRPr lang="en-US"/>
                      </a:p>
                    </a:txBody>
                    <a:tcP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590061852"/>
                    </a:ext>
                  </a:extLst>
                </a:tr>
              </a:tbl>
            </a:graphicData>
          </a:graphic>
        </p:graphicFrame>
        <p:graphicFrame>
          <p:nvGraphicFramePr>
            <p:cNvPr id="14" name="Object 13">
              <a:extLst>
                <a:ext uri="{FF2B5EF4-FFF2-40B4-BE49-F238E27FC236}">
                  <a16:creationId xmlns:a16="http://schemas.microsoft.com/office/drawing/2014/main" id="{56A9B6F6-FEFF-6B81-2523-B00DC08358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7881904"/>
                </p:ext>
              </p:extLst>
            </p:nvPr>
          </p:nvGraphicFramePr>
          <p:xfrm>
            <a:off x="1103215" y="2063708"/>
            <a:ext cx="1143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14120" imgH="241200" progId="Equation.DSMT4">
                    <p:embed/>
                  </p:oleObj>
                </mc:Choice>
                <mc:Fallback>
                  <p:oleObj name="Equation" r:id="rId16" imgW="114120" imgH="241200" progId="Equation.DSMT4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0840814C-FB60-8058-3A4F-B324025AFE5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103215" y="2063708"/>
                          <a:ext cx="1143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4">
              <a:extLst>
                <a:ext uri="{FF2B5EF4-FFF2-40B4-BE49-F238E27FC236}">
                  <a16:creationId xmlns:a16="http://schemas.microsoft.com/office/drawing/2014/main" id="{C45C149B-10C1-9B57-9731-251900DA38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75742754"/>
                </p:ext>
              </p:extLst>
            </p:nvPr>
          </p:nvGraphicFramePr>
          <p:xfrm>
            <a:off x="1803400" y="1967810"/>
            <a:ext cx="228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228600" imgH="342720" progId="Equation.DSMT4">
                    <p:embed/>
                  </p:oleObj>
                </mc:Choice>
                <mc:Fallback>
                  <p:oleObj name="Equation" r:id="rId18" imgW="228600" imgH="34272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61768862-B3C2-99C0-024B-EF790FB9CCA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803400" y="1967810"/>
                          <a:ext cx="228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5">
              <a:extLst>
                <a:ext uri="{FF2B5EF4-FFF2-40B4-BE49-F238E27FC236}">
                  <a16:creationId xmlns:a16="http://schemas.microsoft.com/office/drawing/2014/main" id="{282587DC-738C-C105-F505-D41BCCA8DA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3912354"/>
                </p:ext>
              </p:extLst>
            </p:nvPr>
          </p:nvGraphicFramePr>
          <p:xfrm>
            <a:off x="3099794" y="2004222"/>
            <a:ext cx="254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53800" imgH="342720" progId="Equation.DSMT4">
                    <p:embed/>
                  </p:oleObj>
                </mc:Choice>
                <mc:Fallback>
                  <p:oleObj name="Equation" r:id="rId20" imgW="253800" imgH="342720" progId="Equation.DSMT4">
                    <p:embed/>
                    <p:pic>
                      <p:nvPicPr>
                        <p:cNvPr id="9" name="Object 8">
                          <a:extLst>
                            <a:ext uri="{FF2B5EF4-FFF2-40B4-BE49-F238E27FC236}">
                              <a16:creationId xmlns:a16="http://schemas.microsoft.com/office/drawing/2014/main" id="{4F854CF9-5DCB-C717-84ED-BC0971195CB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099794" y="2004222"/>
                          <a:ext cx="254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7">
              <a:extLst>
                <a:ext uri="{FF2B5EF4-FFF2-40B4-BE49-F238E27FC236}">
                  <a16:creationId xmlns:a16="http://schemas.microsoft.com/office/drawing/2014/main" id="{74C95150-B680-063F-C82B-BDD030A9C7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9389995"/>
                </p:ext>
              </p:extLst>
            </p:nvPr>
          </p:nvGraphicFramePr>
          <p:xfrm>
            <a:off x="4870450" y="1987508"/>
            <a:ext cx="11176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117440" imgH="393480" progId="Equation.DSMT4">
                    <p:embed/>
                  </p:oleObj>
                </mc:Choice>
                <mc:Fallback>
                  <p:oleObj name="Equation" r:id="rId22" imgW="1117440" imgH="393480" progId="Equation.DSMT4">
                    <p:embed/>
                    <p:pic>
                      <p:nvPicPr>
                        <p:cNvPr id="11" name="Object 10">
                          <a:extLst>
                            <a:ext uri="{FF2B5EF4-FFF2-40B4-BE49-F238E27FC236}">
                              <a16:creationId xmlns:a16="http://schemas.microsoft.com/office/drawing/2014/main" id="{7FE9BD26-4907-A92D-398F-D2F6E846390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4870450" y="1987508"/>
                          <a:ext cx="11176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4931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8499BA08-E110-C015-0CAA-AF2086ACC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38100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1/ </a:t>
            </a:r>
            <a:r>
              <a:rPr lang="en-US" altLang="en-US" sz="2400">
                <a:solidFill>
                  <a:srgbClr val="FF0000"/>
                </a:solidFill>
              </a:rPr>
              <a:t>Phương pháp Euler cải tiến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EBD8FCA-0AF4-949D-C1B1-38B875BC3389}"/>
              </a:ext>
            </a:extLst>
          </p:cNvPr>
          <p:cNvGrpSpPr/>
          <p:nvPr/>
        </p:nvGrpSpPr>
        <p:grpSpPr>
          <a:xfrm>
            <a:off x="385544" y="609600"/>
            <a:ext cx="8682256" cy="461665"/>
            <a:chOff x="325219" y="589678"/>
            <a:chExt cx="8682256" cy="461665"/>
          </a:xfrm>
        </p:grpSpPr>
        <p:sp>
          <p:nvSpPr>
            <p:cNvPr id="3" name="Text Box 6">
              <a:extLst>
                <a:ext uri="{FF2B5EF4-FFF2-40B4-BE49-F238E27FC236}">
                  <a16:creationId xmlns:a16="http://schemas.microsoft.com/office/drawing/2014/main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19" y="589678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Xét phương trình vi phân </a:t>
              </a:r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8DBAE3AF-72B8-FFF5-5FAB-706B6BF442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0000" y="644943"/>
            <a:ext cx="3746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746160" imgH="406080" progId="Equation.DSMT4">
                    <p:embed/>
                  </p:oleObj>
                </mc:Choice>
                <mc:Fallback>
                  <p:oleObj name="Equation" r:id="rId2" imgW="3746160" imgH="406080" progId="Equation.DSMT4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8DBAE3AF-72B8-FFF5-5FAB-706B6BF442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810000" y="644943"/>
                          <a:ext cx="3746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4243729-E3AA-0768-7A57-FD139743F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717737"/>
              </p:ext>
            </p:extLst>
          </p:nvPr>
        </p:nvGraphicFramePr>
        <p:xfrm>
          <a:off x="2107299" y="1238591"/>
          <a:ext cx="3073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73320" imgH="749160" progId="Equation.DSMT4">
                  <p:embed/>
                </p:oleObj>
              </mc:Choice>
              <mc:Fallback>
                <p:oleObj name="Equation" r:id="rId4" imgW="3073320" imgH="74916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4243729-E3AA-0768-7A57-FD139743F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07299" y="1238591"/>
                        <a:ext cx="30734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6">
            <a:extLst>
              <a:ext uri="{FF2B5EF4-FFF2-40B4-BE49-F238E27FC236}">
                <a16:creationId xmlns:a16="http://schemas.microsoft.com/office/drawing/2014/main" id="{CAEED56F-23CB-D439-F0E7-75225A004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846" y="2057400"/>
            <a:ext cx="9010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Tính gần đúng tích phân xác định ở vế trái bằng công thức hình thang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E056F56-F485-5484-116B-77C6637348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4360"/>
              </p:ext>
            </p:extLst>
          </p:nvPr>
        </p:nvGraphicFramePr>
        <p:xfrm>
          <a:off x="800100" y="2711411"/>
          <a:ext cx="6337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37080" imgH="647640" progId="Equation.DSMT4">
                  <p:embed/>
                </p:oleObj>
              </mc:Choice>
              <mc:Fallback>
                <p:oleObj name="Equation" r:id="rId6" imgW="633708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00100" y="2711411"/>
                        <a:ext cx="63373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1E290C90-2D8F-B8A9-B5CC-E69B011434D5}"/>
              </a:ext>
            </a:extLst>
          </p:cNvPr>
          <p:cNvGrpSpPr/>
          <p:nvPr/>
        </p:nvGrpSpPr>
        <p:grpSpPr>
          <a:xfrm>
            <a:off x="385544" y="3576935"/>
            <a:ext cx="8682256" cy="461665"/>
            <a:chOff x="385544" y="3576935"/>
            <a:chExt cx="8682256" cy="461665"/>
          </a:xfrm>
        </p:grpSpPr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3A5E5837-590C-ACDB-3B8D-52051DAC94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44" y="3576935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Thay                       lần lượt bởi            ta có </a:t>
              </a:r>
            </a:p>
          </p:txBody>
        </p:sp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927703F0-6F83-BF59-C1D2-48A06153EE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1510609"/>
                </p:ext>
              </p:extLst>
            </p:nvPr>
          </p:nvGraphicFramePr>
          <p:xfrm>
            <a:off x="1314450" y="3619500"/>
            <a:ext cx="15494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49080" imgH="393480" progId="Equation.DSMT4">
                    <p:embed/>
                  </p:oleObj>
                </mc:Choice>
                <mc:Fallback>
                  <p:oleObj name="Equation" r:id="rId8" imgW="1549080" imgH="393480" progId="Equation.DSMT4">
                    <p:embed/>
                    <p:pic>
                      <p:nvPicPr>
                        <p:cNvPr id="4" name="Object 3">
                          <a:extLst>
                            <a:ext uri="{FF2B5EF4-FFF2-40B4-BE49-F238E27FC236}">
                              <a16:creationId xmlns:a16="http://schemas.microsoft.com/office/drawing/2014/main" id="{95DBD1D4-1730-D5BE-247E-E188FE41379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314450" y="3619500"/>
                          <a:ext cx="15494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2">
              <a:extLst>
                <a:ext uri="{FF2B5EF4-FFF2-40B4-BE49-F238E27FC236}">
                  <a16:creationId xmlns:a16="http://schemas.microsoft.com/office/drawing/2014/main" id="{7F1C71B2-C46B-BC27-86BA-84F0A38129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18971608"/>
                </p:ext>
              </p:extLst>
            </p:nvPr>
          </p:nvGraphicFramePr>
          <p:xfrm>
            <a:off x="4457700" y="3624560"/>
            <a:ext cx="72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723600" imgH="342720" progId="Equation.DSMT4">
                    <p:embed/>
                  </p:oleObj>
                </mc:Choice>
                <mc:Fallback>
                  <p:oleObj name="Equation" r:id="rId10" imgW="723600" imgH="342720" progId="Equation.DSMT4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91E422DB-78CA-37F9-A6A9-CAA5894DED3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457700" y="3624560"/>
                          <a:ext cx="723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Text Box 6">
            <a:extLst>
              <a:ext uri="{FF2B5EF4-FFF2-40B4-BE49-F238E27FC236}">
                <a16:creationId xmlns:a16="http://schemas.microsoft.com/office/drawing/2014/main" id="{D06A368F-6560-39E0-7262-4DEBBE9C8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485" y="5599005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Người ta chứng minh được sai số của phương pháp Euler: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B15FECC-7131-75AB-1909-C170A6077630}"/>
              </a:ext>
            </a:extLst>
          </p:cNvPr>
          <p:cNvGrpSpPr/>
          <p:nvPr/>
        </p:nvGrpSpPr>
        <p:grpSpPr>
          <a:xfrm>
            <a:off x="511175" y="6188497"/>
            <a:ext cx="8121650" cy="491778"/>
            <a:chOff x="565150" y="5745510"/>
            <a:chExt cx="8121650" cy="491778"/>
          </a:xfrm>
        </p:grpSpPr>
        <p:graphicFrame>
          <p:nvGraphicFramePr>
            <p:cNvPr id="31" name="Object 30">
              <a:extLst>
                <a:ext uri="{FF2B5EF4-FFF2-40B4-BE49-F238E27FC236}">
                  <a16:creationId xmlns:a16="http://schemas.microsoft.com/office/drawing/2014/main" id="{8E441018-3090-5FE0-B8CA-C28AA19AE62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1991872"/>
                </p:ext>
              </p:extLst>
            </p:nvPr>
          </p:nvGraphicFramePr>
          <p:xfrm>
            <a:off x="565150" y="5792788"/>
            <a:ext cx="19558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55520" imgH="444240" progId="Equation.DSMT4">
                    <p:embed/>
                  </p:oleObj>
                </mc:Choice>
                <mc:Fallback>
                  <p:oleObj name="Equation" r:id="rId12" imgW="1955520" imgH="444240" progId="Equation.DSMT4">
                    <p:embed/>
                    <p:pic>
                      <p:nvPicPr>
                        <p:cNvPr id="11" name="Object 10">
                          <a:extLst>
                            <a:ext uri="{FF2B5EF4-FFF2-40B4-BE49-F238E27FC236}">
                              <a16:creationId xmlns:a16="http://schemas.microsoft.com/office/drawing/2014/main" id="{9BE1899B-3566-02F2-4203-45F6E9F737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65150" y="5792788"/>
                          <a:ext cx="19558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 Box 6">
              <a:extLst>
                <a:ext uri="{FF2B5EF4-FFF2-40B4-BE49-F238E27FC236}">
                  <a16:creationId xmlns:a16="http://schemas.microsoft.com/office/drawing/2014/main" id="{D3660425-4583-6525-400B-EEC363C97E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5319" y="5745510"/>
              <a:ext cx="629148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với </a:t>
              </a:r>
              <a:r>
                <a:rPr lang="en-US" altLang="en-US" sz="2400" b="0" i="1"/>
                <a:t>M</a:t>
              </a:r>
              <a:r>
                <a:rPr lang="en-US" altLang="en-US" sz="2400" b="0" i="0"/>
                <a:t> là hằng số dương không phụ thuộc vào </a:t>
              </a:r>
              <a:r>
                <a:rPr lang="en-US" altLang="en-US" sz="2400" b="0" i="1"/>
                <a:t>h</a:t>
              </a:r>
              <a:r>
                <a:rPr lang="en-US" altLang="en-US" sz="2400" b="0" i="0"/>
                <a:t>.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51F02D6-AC45-A16A-3B3F-C566A32D46A8}"/>
              </a:ext>
            </a:extLst>
          </p:cNvPr>
          <p:cNvGrpSpPr/>
          <p:nvPr/>
        </p:nvGrpSpPr>
        <p:grpSpPr>
          <a:xfrm>
            <a:off x="442694" y="4292278"/>
            <a:ext cx="8548906" cy="609600"/>
            <a:chOff x="442694" y="4292278"/>
            <a:chExt cx="8548906" cy="609600"/>
          </a:xfrm>
        </p:grpSpPr>
        <p:graphicFrame>
          <p:nvGraphicFramePr>
            <p:cNvPr id="21" name="Object 20">
              <a:extLst>
                <a:ext uri="{FF2B5EF4-FFF2-40B4-BE49-F238E27FC236}">
                  <a16:creationId xmlns:a16="http://schemas.microsoft.com/office/drawing/2014/main" id="{100F5511-0BE5-1E88-8365-59E7D0A9BD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1185698"/>
                </p:ext>
              </p:extLst>
            </p:nvPr>
          </p:nvGraphicFramePr>
          <p:xfrm>
            <a:off x="442694" y="4292278"/>
            <a:ext cx="55372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5537160" imgH="609480" progId="Equation.DSMT4">
                    <p:embed/>
                  </p:oleObj>
                </mc:Choice>
                <mc:Fallback>
                  <p:oleObj name="Equation" r:id="rId14" imgW="5537160" imgH="609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42694" y="4292278"/>
                          <a:ext cx="55372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Text Box 6">
              <a:extLst>
                <a:ext uri="{FF2B5EF4-FFF2-40B4-BE49-F238E27FC236}">
                  <a16:creationId xmlns:a16="http://schemas.microsoft.com/office/drawing/2014/main" id="{97B050A1-8925-DE75-5612-CD2B1F73A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4349711"/>
              <a:ext cx="3124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với                  đã biết. </a:t>
              </a:r>
            </a:p>
          </p:txBody>
        </p:sp>
        <p:graphicFrame>
          <p:nvGraphicFramePr>
            <p:cNvPr id="40" name="Object 39">
              <a:extLst>
                <a:ext uri="{FF2B5EF4-FFF2-40B4-BE49-F238E27FC236}">
                  <a16:creationId xmlns:a16="http://schemas.microsoft.com/office/drawing/2014/main" id="{14992A63-93BA-51B0-B190-1B02B4399E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6032232"/>
                </p:ext>
              </p:extLst>
            </p:nvPr>
          </p:nvGraphicFramePr>
          <p:xfrm>
            <a:off x="6521450" y="4380351"/>
            <a:ext cx="12319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231560" imgH="393480" progId="Equation.DSMT4">
                    <p:embed/>
                  </p:oleObj>
                </mc:Choice>
                <mc:Fallback>
                  <p:oleObj name="Equation" r:id="rId16" imgW="1231560" imgH="393480" progId="Equation.DSMT4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47C2A6FA-F2D8-7923-68E3-A5FD72B603A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6521450" y="4380351"/>
                          <a:ext cx="12319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5638310-AB3D-F747-F386-27624187DCD4}"/>
              </a:ext>
            </a:extLst>
          </p:cNvPr>
          <p:cNvGrpSpPr/>
          <p:nvPr/>
        </p:nvGrpSpPr>
        <p:grpSpPr>
          <a:xfrm>
            <a:off x="385544" y="4973463"/>
            <a:ext cx="8682256" cy="461665"/>
            <a:chOff x="385544" y="4939203"/>
            <a:chExt cx="8682256" cy="461665"/>
          </a:xfrm>
        </p:grpSpPr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32D5C2A3-C32A-122A-14CB-0B1964B6CC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44" y="4939203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</a:t>
              </a:r>
              <a:r>
                <a:rPr lang="en-US" altLang="en-US" sz="2400"/>
                <a:t>Để đơn giản, để thay       ở vế phải ta dùng  </a:t>
              </a:r>
              <a:endParaRPr lang="en-US" altLang="en-US" sz="2400" b="0" i="0"/>
            </a:p>
          </p:txBody>
        </p:sp>
        <p:graphicFrame>
          <p:nvGraphicFramePr>
            <p:cNvPr id="14" name="Object 13">
              <a:extLst>
                <a:ext uri="{FF2B5EF4-FFF2-40B4-BE49-F238E27FC236}">
                  <a16:creationId xmlns:a16="http://schemas.microsoft.com/office/drawing/2014/main" id="{CBA7F05F-F077-A91A-78D9-6AF283E0FF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6674870"/>
                </p:ext>
              </p:extLst>
            </p:nvPr>
          </p:nvGraphicFramePr>
          <p:xfrm>
            <a:off x="3140102" y="5005852"/>
            <a:ext cx="406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406080" imgH="342720" progId="Equation.DSMT4">
                    <p:embed/>
                  </p:oleObj>
                </mc:Choice>
                <mc:Fallback>
                  <p:oleObj name="Equation" r:id="rId18" imgW="406080" imgH="342720" progId="Equation.DSMT4">
                    <p:embed/>
                    <p:pic>
                      <p:nvPicPr>
                        <p:cNvPr id="13" name="Object 12">
                          <a:extLst>
                            <a:ext uri="{FF2B5EF4-FFF2-40B4-BE49-F238E27FC236}">
                              <a16:creationId xmlns:a16="http://schemas.microsoft.com/office/drawing/2014/main" id="{7F1C71B2-C46B-BC27-86BA-84F0A381299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140102" y="5005852"/>
                          <a:ext cx="406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4">
              <a:extLst>
                <a:ext uri="{FF2B5EF4-FFF2-40B4-BE49-F238E27FC236}">
                  <a16:creationId xmlns:a16="http://schemas.microsoft.com/office/drawing/2014/main" id="{D9ABF3BC-60A9-B838-31FC-0D608A85C3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3888192"/>
                </p:ext>
              </p:extLst>
            </p:nvPr>
          </p:nvGraphicFramePr>
          <p:xfrm>
            <a:off x="5867400" y="4977709"/>
            <a:ext cx="2235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2234880" imgH="393480" progId="Equation.DSMT4">
                    <p:embed/>
                  </p:oleObj>
                </mc:Choice>
                <mc:Fallback>
                  <p:oleObj name="Equation" r:id="rId20" imgW="2234880" imgH="393480" progId="Equation.DSMT4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CB7570EE-BC66-0F5C-B3C4-590DC19E4EC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5867400" y="4977709"/>
                          <a:ext cx="2235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348720301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50A5531A-45FA-03C4-2D82-F223642D3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66" y="1367135"/>
            <a:ext cx="84935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/>
              <a:t>trên đoạn           </a:t>
            </a:r>
            <a:r>
              <a:rPr lang="en-US" altLang="en-US" sz="2400" b="0" i="0"/>
              <a:t>với               .  </a:t>
            </a:r>
          </a:p>
        </p:txBody>
      </p:sp>
      <p:sp>
        <p:nvSpPr>
          <p:cNvPr id="10264" name="Text Box 29">
            <a:extLst>
              <a:ext uri="{FF2B5EF4-FFF2-40B4-BE49-F238E27FC236}">
                <a16:creationId xmlns:a16="http://schemas.microsoft.com/office/drawing/2014/main" id="{BD2EE327-1545-A040-6EAB-339F4DB2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87" y="0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009999"/>
                </a:solidFill>
              </a:rPr>
              <a:t>Ví dụ 3</a:t>
            </a:r>
          </a:p>
        </p:txBody>
      </p:sp>
      <p:sp>
        <p:nvSpPr>
          <p:cNvPr id="10265" name="Rectangle 30">
            <a:extLst>
              <a:ext uri="{FF2B5EF4-FFF2-40B4-BE49-F238E27FC236}">
                <a16:creationId xmlns:a16="http://schemas.microsoft.com/office/drawing/2014/main" id="{7D767F4A-21EF-1EF9-D827-B298CE79D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19" y="381000"/>
            <a:ext cx="8660031" cy="1447799"/>
          </a:xfrm>
          <a:prstGeom prst="rect">
            <a:avLst/>
          </a:prstGeom>
          <a:noFill/>
          <a:ln w="190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>
              <a:solidFill>
                <a:srgbClr val="0000FF"/>
              </a:solidFill>
            </a:endParaRPr>
          </a:p>
        </p:txBody>
      </p:sp>
      <p:sp>
        <p:nvSpPr>
          <p:cNvPr id="10266" name="Text Box 6">
            <a:extLst>
              <a:ext uri="{FF2B5EF4-FFF2-40B4-BE49-F238E27FC236}">
                <a16:creationId xmlns:a16="http://schemas.microsoft.com/office/drawing/2014/main" id="{826DD873-DB7C-EE89-2C12-8715844F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19" y="352673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Dùng phương pháp Euler cải tiến giải phương trình vi phân</a:t>
            </a:r>
          </a:p>
        </p:txBody>
      </p:sp>
      <p:graphicFrame>
        <p:nvGraphicFramePr>
          <p:cNvPr id="10269" name="Object 6">
            <a:extLst>
              <a:ext uri="{FF2B5EF4-FFF2-40B4-BE49-F238E27FC236}">
                <a16:creationId xmlns:a16="http://schemas.microsoft.com/office/drawing/2014/main" id="{B5502EE2-55D2-3F2E-0E4F-3E12B73FE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070889"/>
              </p:ext>
            </p:extLst>
          </p:nvPr>
        </p:nvGraphicFramePr>
        <p:xfrm>
          <a:off x="1771650" y="1426257"/>
          <a:ext cx="533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393480" progId="Equation.DSMT4">
                  <p:embed/>
                </p:oleObj>
              </mc:Choice>
              <mc:Fallback>
                <p:oleObj name="Equation" r:id="rId2" imgW="533160" imgH="393480" progId="Equation.DSMT4">
                  <p:embed/>
                  <p:pic>
                    <p:nvPicPr>
                      <p:cNvPr id="10269" name="Object 6">
                        <a:extLst>
                          <a:ext uri="{FF2B5EF4-FFF2-40B4-BE49-F238E27FC236}">
                            <a16:creationId xmlns:a16="http://schemas.microsoft.com/office/drawing/2014/main" id="{B5502EE2-55D2-3F2E-0E4F-3E12B73FE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1426257"/>
                        <a:ext cx="533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AA7C15F-A8F8-55E6-ABAF-AC206B52F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430090"/>
              </p:ext>
            </p:extLst>
          </p:nvPr>
        </p:nvGraphicFramePr>
        <p:xfrm>
          <a:off x="2054225" y="754063"/>
          <a:ext cx="2400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00120" imgH="685800" progId="Equation.DSMT4">
                  <p:embed/>
                </p:oleObj>
              </mc:Choice>
              <mc:Fallback>
                <p:oleObj name="Equation" r:id="rId4" imgW="2400120" imgH="68580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AA7C15F-A8F8-55E6-ABAF-AC206B52F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754063"/>
                        <a:ext cx="24003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8388086-E575-D666-B8ED-B69D94DF6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493310"/>
              </p:ext>
            </p:extLst>
          </p:nvPr>
        </p:nvGraphicFramePr>
        <p:xfrm>
          <a:off x="3124200" y="1500870"/>
          <a:ext cx="787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7320" imgH="266400" progId="Equation.DSMT4">
                  <p:embed/>
                </p:oleObj>
              </mc:Choice>
              <mc:Fallback>
                <p:oleObj name="Equation" r:id="rId6" imgW="787320" imgH="2664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A8388086-E575-D666-B8ED-B69D94DF6E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24200" y="1500870"/>
                        <a:ext cx="7874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5F4F509-5EA4-78F1-3261-32E09D8F42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668796"/>
              </p:ext>
            </p:extLst>
          </p:nvPr>
        </p:nvGraphicFramePr>
        <p:xfrm>
          <a:off x="4754328" y="800099"/>
          <a:ext cx="3810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9880" imgH="609480" progId="Equation.DSMT4">
                  <p:embed/>
                </p:oleObj>
              </mc:Choice>
              <mc:Fallback>
                <p:oleObj name="Equation" r:id="rId8" imgW="3809880" imgH="609480" progId="Equation.DSMT4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100F5511-0BE5-1E88-8365-59E7D0A9BD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54328" y="800099"/>
                        <a:ext cx="38100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EBDC684-B938-F912-1109-75B9012751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582428"/>
              </p:ext>
            </p:extLst>
          </p:nvPr>
        </p:nvGraphicFramePr>
        <p:xfrm>
          <a:off x="641350" y="1960538"/>
          <a:ext cx="6540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540480" imgH="609480" progId="Equation.DSMT4">
                  <p:embed/>
                </p:oleObj>
              </mc:Choice>
              <mc:Fallback>
                <p:oleObj name="Equation" r:id="rId10" imgW="654048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1350" y="1960538"/>
                        <a:ext cx="65405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5D2500C-B1FB-21FD-BC0C-233561610B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63259"/>
              </p:ext>
            </p:extLst>
          </p:nvPr>
        </p:nvGraphicFramePr>
        <p:xfrm>
          <a:off x="4838672" y="1367134"/>
          <a:ext cx="223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34880" imgH="406080" progId="Equation.DSMT4">
                  <p:embed/>
                </p:oleObj>
              </mc:Choice>
              <mc:Fallback>
                <p:oleObj name="Equation" r:id="rId12" imgW="2234880" imgH="4060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F0CE058-F043-A099-ABE9-D3DD137138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38672" y="1367134"/>
                        <a:ext cx="2235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4830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50A5531A-45FA-03C4-2D82-F223642D3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66" y="1295400"/>
            <a:ext cx="84935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/>
              <a:t>trên đoạn           </a:t>
            </a:r>
            <a:r>
              <a:rPr lang="en-US" altLang="en-US" sz="2400" b="0" i="0"/>
              <a:t>với               .  </a:t>
            </a:r>
          </a:p>
        </p:txBody>
      </p:sp>
      <p:sp>
        <p:nvSpPr>
          <p:cNvPr id="10264" name="Text Box 29">
            <a:extLst>
              <a:ext uri="{FF2B5EF4-FFF2-40B4-BE49-F238E27FC236}">
                <a16:creationId xmlns:a16="http://schemas.microsoft.com/office/drawing/2014/main" id="{BD2EE327-1545-A040-6EAB-339F4DB2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87" y="0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009999"/>
                </a:solidFill>
              </a:rPr>
              <a:t>Ví dụ 4</a:t>
            </a:r>
          </a:p>
        </p:txBody>
      </p:sp>
      <p:sp>
        <p:nvSpPr>
          <p:cNvPr id="10265" name="Rectangle 30">
            <a:extLst>
              <a:ext uri="{FF2B5EF4-FFF2-40B4-BE49-F238E27FC236}">
                <a16:creationId xmlns:a16="http://schemas.microsoft.com/office/drawing/2014/main" id="{7D767F4A-21EF-1EF9-D827-B298CE79D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19" y="381000"/>
            <a:ext cx="8660031" cy="1447799"/>
          </a:xfrm>
          <a:prstGeom prst="rect">
            <a:avLst/>
          </a:prstGeom>
          <a:noFill/>
          <a:ln w="190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>
              <a:solidFill>
                <a:srgbClr val="0000FF"/>
              </a:solidFill>
            </a:endParaRPr>
          </a:p>
        </p:txBody>
      </p:sp>
      <p:sp>
        <p:nvSpPr>
          <p:cNvPr id="10266" name="Text Box 6">
            <a:extLst>
              <a:ext uri="{FF2B5EF4-FFF2-40B4-BE49-F238E27FC236}">
                <a16:creationId xmlns:a16="http://schemas.microsoft.com/office/drawing/2014/main" id="{826DD873-DB7C-EE89-2C12-8715844F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19" y="336973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Dùng phương pháp Euler cải tiến giải phương trình vi phân</a:t>
            </a:r>
          </a:p>
        </p:txBody>
      </p:sp>
      <p:graphicFrame>
        <p:nvGraphicFramePr>
          <p:cNvPr id="10269" name="Object 6">
            <a:extLst>
              <a:ext uri="{FF2B5EF4-FFF2-40B4-BE49-F238E27FC236}">
                <a16:creationId xmlns:a16="http://schemas.microsoft.com/office/drawing/2014/main" id="{B5502EE2-55D2-3F2E-0E4F-3E12B73FE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637418"/>
              </p:ext>
            </p:extLst>
          </p:nvPr>
        </p:nvGraphicFramePr>
        <p:xfrm>
          <a:off x="1765300" y="1354522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760" imgH="393480" progId="Equation.DSMT4">
                  <p:embed/>
                </p:oleObj>
              </mc:Choice>
              <mc:Fallback>
                <p:oleObj name="Equation" r:id="rId2" imgW="545760" imgH="393480" progId="Equation.DSMT4">
                  <p:embed/>
                  <p:pic>
                    <p:nvPicPr>
                      <p:cNvPr id="10269" name="Object 6">
                        <a:extLst>
                          <a:ext uri="{FF2B5EF4-FFF2-40B4-BE49-F238E27FC236}">
                            <a16:creationId xmlns:a16="http://schemas.microsoft.com/office/drawing/2014/main" id="{B5502EE2-55D2-3F2E-0E4F-3E12B73FE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300" y="1354522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AA7C15F-A8F8-55E6-ABAF-AC206B52F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576853"/>
              </p:ext>
            </p:extLst>
          </p:nvPr>
        </p:nvGraphicFramePr>
        <p:xfrm>
          <a:off x="2418832" y="663446"/>
          <a:ext cx="22987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600" imgH="749160" progId="Equation.DSMT4">
                  <p:embed/>
                </p:oleObj>
              </mc:Choice>
              <mc:Fallback>
                <p:oleObj name="Equation" r:id="rId4" imgW="2298600" imgH="74916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AA7C15F-A8F8-55E6-ABAF-AC206B52F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8832" y="663446"/>
                        <a:ext cx="22987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8388086-E575-D666-B8ED-B69D94DF6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7004780"/>
              </p:ext>
            </p:extLst>
          </p:nvPr>
        </p:nvGraphicFramePr>
        <p:xfrm>
          <a:off x="3067050" y="1381125"/>
          <a:ext cx="7874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7320" imgH="266400" progId="Equation.DSMT4">
                  <p:embed/>
                </p:oleObj>
              </mc:Choice>
              <mc:Fallback>
                <p:oleObj name="Equation" r:id="rId6" imgW="787320" imgH="2664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A8388086-E575-D666-B8ED-B69D94DF6E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67050" y="1381125"/>
                        <a:ext cx="7874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6DC7275-D602-911E-29E3-B1C37D52EF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096225"/>
              </p:ext>
            </p:extLst>
          </p:nvPr>
        </p:nvGraphicFramePr>
        <p:xfrm>
          <a:off x="4883291" y="842665"/>
          <a:ext cx="3810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9880" imgH="609480" progId="Equation.DSMT4">
                  <p:embed/>
                </p:oleObj>
              </mc:Choice>
              <mc:Fallback>
                <p:oleObj name="Equation" r:id="rId8" imgW="3809880" imgH="609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5F4F509-5EA4-78F1-3261-32E09D8F42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83291" y="842665"/>
                        <a:ext cx="38100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E8E2F92-13A9-A69D-0226-2057F4E265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746856"/>
              </p:ext>
            </p:extLst>
          </p:nvPr>
        </p:nvGraphicFramePr>
        <p:xfrm>
          <a:off x="641350" y="1960538"/>
          <a:ext cx="6540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540480" imgH="609480" progId="Equation.DSMT4">
                  <p:embed/>
                </p:oleObj>
              </mc:Choice>
              <mc:Fallback>
                <p:oleObj name="Equation" r:id="rId10" imgW="6540480" imgH="60948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EBDC684-B938-F912-1109-75B9012751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1350" y="1960538"/>
                        <a:ext cx="65405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67853984-A411-F8BA-E1E0-6BA55955E6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880090"/>
              </p:ext>
            </p:extLst>
          </p:nvPr>
        </p:nvGraphicFramePr>
        <p:xfrm>
          <a:off x="4797566" y="1394767"/>
          <a:ext cx="223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34880" imgH="406080" progId="Equation.DSMT4">
                  <p:embed/>
                </p:oleObj>
              </mc:Choice>
              <mc:Fallback>
                <p:oleObj name="Equation" r:id="rId12" imgW="2234880" imgH="40608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5D2500C-B1FB-21FD-BC0C-233561610B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97566" y="1394767"/>
                        <a:ext cx="2235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7885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8499BA08-E110-C015-0CAA-AF2086ACC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38100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3/ </a:t>
            </a:r>
            <a:r>
              <a:rPr lang="en-US" altLang="en-US" sz="2400">
                <a:solidFill>
                  <a:srgbClr val="FF0000"/>
                </a:solidFill>
              </a:rPr>
              <a:t>Phương pháp Runge - Kutta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EBD8FCA-0AF4-949D-C1B1-38B875BC3389}"/>
              </a:ext>
            </a:extLst>
          </p:cNvPr>
          <p:cNvGrpSpPr/>
          <p:nvPr/>
        </p:nvGrpSpPr>
        <p:grpSpPr>
          <a:xfrm>
            <a:off x="381000" y="827244"/>
            <a:ext cx="8682256" cy="468156"/>
            <a:chOff x="320675" y="342022"/>
            <a:chExt cx="8682256" cy="468156"/>
          </a:xfrm>
        </p:grpSpPr>
        <p:sp>
          <p:nvSpPr>
            <p:cNvPr id="3" name="Text Box 6">
              <a:extLst>
                <a:ext uri="{FF2B5EF4-FFF2-40B4-BE49-F238E27FC236}">
                  <a16:creationId xmlns:a16="http://schemas.microsoft.com/office/drawing/2014/main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675" y="342022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Xét phương trình vi phân </a:t>
              </a:r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8DBAE3AF-72B8-FFF5-5FAB-706B6BF442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2745067"/>
                </p:ext>
              </p:extLst>
            </p:nvPr>
          </p:nvGraphicFramePr>
          <p:xfrm>
            <a:off x="3766122" y="403778"/>
            <a:ext cx="37465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746160" imgH="406080" progId="Equation.DSMT4">
                    <p:embed/>
                  </p:oleObj>
                </mc:Choice>
                <mc:Fallback>
                  <p:oleObj name="Equation" r:id="rId2" imgW="3746160" imgH="406080" progId="Equation.DSMT4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8DBAE3AF-72B8-FFF5-5FAB-706B6BF442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766122" y="403778"/>
                          <a:ext cx="37465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3C5A9A-01A2-886B-BC59-F2B143196325}"/>
              </a:ext>
            </a:extLst>
          </p:cNvPr>
          <p:cNvGrpSpPr/>
          <p:nvPr/>
        </p:nvGrpSpPr>
        <p:grpSpPr>
          <a:xfrm>
            <a:off x="424638" y="1491594"/>
            <a:ext cx="8682256" cy="461665"/>
            <a:chOff x="372844" y="1138535"/>
            <a:chExt cx="8682256" cy="461665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12B5DCAC-04AF-65F1-2A6E-2AD8C4505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844" y="1138535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Chia          thành </a:t>
              </a:r>
              <a:r>
                <a:rPr lang="en-US" altLang="en-US" sz="2400" b="0" i="1"/>
                <a:t>n</a:t>
              </a:r>
              <a:r>
                <a:rPr lang="en-US" altLang="en-US" sz="2400" b="0" i="0"/>
                <a:t> đoạn nhỏ bằng nhau bởi các điểm chia  </a:t>
              </a:r>
            </a:p>
          </p:txBody>
        </p:sp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EDCBD86A-4496-F778-2EAA-5322467B50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9200" y="1205061"/>
            <a:ext cx="5969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96880" imgH="393480" progId="Equation.DSMT4">
                    <p:embed/>
                  </p:oleObj>
                </mc:Choice>
                <mc:Fallback>
                  <p:oleObj name="Equation" r:id="rId4" imgW="596880" imgH="393480" progId="Equation.DSMT4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EDCBD86A-4496-F778-2EAA-5322467B50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219200" y="1205061"/>
                          <a:ext cx="5969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4243729-E3AA-0768-7A57-FD139743F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665155"/>
              </p:ext>
            </p:extLst>
          </p:nvPr>
        </p:nvGraphicFramePr>
        <p:xfrm>
          <a:off x="1230508" y="2052761"/>
          <a:ext cx="46228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22760" imgH="672840" progId="Equation.DSMT4">
                  <p:embed/>
                </p:oleObj>
              </mc:Choice>
              <mc:Fallback>
                <p:oleObj name="Equation" r:id="rId6" imgW="4622760" imgH="6728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4243729-E3AA-0768-7A57-FD139743F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30508" y="2052761"/>
                        <a:ext cx="46228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6BFDA03E-1797-6BA3-711D-4F994ACC05A9}"/>
              </a:ext>
            </a:extLst>
          </p:cNvPr>
          <p:cNvGrpSpPr/>
          <p:nvPr/>
        </p:nvGrpSpPr>
        <p:grpSpPr>
          <a:xfrm>
            <a:off x="455714" y="2748677"/>
            <a:ext cx="8682256" cy="461665"/>
            <a:chOff x="537944" y="4338935"/>
            <a:chExt cx="8682256" cy="461665"/>
          </a:xfrm>
        </p:grpSpPr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BA389D3D-A998-A91F-7ACC-D0206F938B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944" y="4338935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Khai triển Taylor của          tại     đến cấp 2 với phần dư Lagrange  </a:t>
              </a:r>
            </a:p>
          </p:txBody>
        </p:sp>
        <p:graphicFrame>
          <p:nvGraphicFramePr>
            <p:cNvPr id="22" name="Object 21">
              <a:extLst>
                <a:ext uri="{FF2B5EF4-FFF2-40B4-BE49-F238E27FC236}">
                  <a16:creationId xmlns:a16="http://schemas.microsoft.com/office/drawing/2014/main" id="{C32F7724-3274-BB6A-F535-B4C223B387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0369" y="4394858"/>
            <a:ext cx="584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83650" imgH="393323" progId="Equation.DSMT4">
                    <p:embed/>
                  </p:oleObj>
                </mc:Choice>
                <mc:Fallback>
                  <p:oleObj name="Equation" r:id="rId8" imgW="583650" imgH="393323" progId="Equation.DSMT4">
                    <p:embed/>
                    <p:pic>
                      <p:nvPicPr>
                        <p:cNvPr id="22" name="Object 21">
                          <a:extLst>
                            <a:ext uri="{FF2B5EF4-FFF2-40B4-BE49-F238E27FC236}">
                              <a16:creationId xmlns:a16="http://schemas.microsoft.com/office/drawing/2014/main" id="{C32F7724-3274-BB6A-F535-B4C223B3879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430369" y="4394858"/>
                          <a:ext cx="584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2">
              <a:extLst>
                <a:ext uri="{FF2B5EF4-FFF2-40B4-BE49-F238E27FC236}">
                  <a16:creationId xmlns:a16="http://schemas.microsoft.com/office/drawing/2014/main" id="{D8C28D93-82D3-C73A-D900-1AAFFC4C0E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3194" y="4419600"/>
            <a:ext cx="228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28854" imgH="343211" progId="Equation.DSMT4">
                    <p:embed/>
                  </p:oleObj>
                </mc:Choice>
                <mc:Fallback>
                  <p:oleObj name="Equation" r:id="rId10" imgW="228854" imgH="343211" progId="Equation.DSMT4">
                    <p:embed/>
                    <p:pic>
                      <p:nvPicPr>
                        <p:cNvPr id="23" name="Object 22">
                          <a:extLst>
                            <a:ext uri="{FF2B5EF4-FFF2-40B4-BE49-F238E27FC236}">
                              <a16:creationId xmlns:a16="http://schemas.microsoft.com/office/drawing/2014/main" id="{D8C28D93-82D3-C73A-D900-1AAFFC4C0E7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443194" y="4419600"/>
                          <a:ext cx="228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74D3F146-EC62-681C-C614-42DCCC1EBD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052554"/>
              </p:ext>
            </p:extLst>
          </p:nvPr>
        </p:nvGraphicFramePr>
        <p:xfrm>
          <a:off x="697013" y="3315442"/>
          <a:ext cx="7556501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556400" imgH="711000" progId="Equation.DSMT4">
                  <p:embed/>
                </p:oleObj>
              </mc:Choice>
              <mc:Fallback>
                <p:oleObj name="Equation" r:id="rId12" imgW="7556400" imgH="71100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74D3F146-EC62-681C-C614-42DCCC1EBD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7013" y="3315442"/>
                        <a:ext cx="7556501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7">
            <a:extLst>
              <a:ext uri="{FF2B5EF4-FFF2-40B4-BE49-F238E27FC236}">
                <a16:creationId xmlns:a16="http://schemas.microsoft.com/office/drawing/2014/main" id="{CAF2393C-4C10-50AB-716A-F6BED31AB488}"/>
              </a:ext>
            </a:extLst>
          </p:cNvPr>
          <p:cNvGrpSpPr/>
          <p:nvPr/>
        </p:nvGrpSpPr>
        <p:grpSpPr>
          <a:xfrm>
            <a:off x="424638" y="4194959"/>
            <a:ext cx="8682256" cy="469331"/>
            <a:chOff x="598271" y="5855269"/>
            <a:chExt cx="8682256" cy="469331"/>
          </a:xfrm>
        </p:grpSpPr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id="{F385D1E3-E5C1-69E6-DF62-DB9EB522D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271" y="5855269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Thay                                                         vào đẳng thức trên: </a:t>
              </a:r>
            </a:p>
          </p:txBody>
        </p:sp>
        <p:graphicFrame>
          <p:nvGraphicFramePr>
            <p:cNvPr id="30" name="Object 29">
              <a:extLst>
                <a:ext uri="{FF2B5EF4-FFF2-40B4-BE49-F238E27FC236}">
                  <a16:creationId xmlns:a16="http://schemas.microsoft.com/office/drawing/2014/main" id="{10F57E8E-3917-8E44-1B8D-63ED8207CB3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9075" y="5880100"/>
            <a:ext cx="4114801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114800" imgH="444240" progId="Equation.DSMT4">
                    <p:embed/>
                  </p:oleObj>
                </mc:Choice>
                <mc:Fallback>
                  <p:oleObj name="Equation" r:id="rId14" imgW="4114800" imgH="444240" progId="Equation.DSMT4">
                    <p:embed/>
                    <p:pic>
                      <p:nvPicPr>
                        <p:cNvPr id="30" name="Object 29">
                          <a:extLst>
                            <a:ext uri="{FF2B5EF4-FFF2-40B4-BE49-F238E27FC236}">
                              <a16:creationId xmlns:a16="http://schemas.microsoft.com/office/drawing/2014/main" id="{10F57E8E-3917-8E44-1B8D-63ED8207CB3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489075" y="5880100"/>
                          <a:ext cx="4114801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65A4B4D-18F1-4278-9029-236F91E61D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035026"/>
              </p:ext>
            </p:extLst>
          </p:nvPr>
        </p:nvGraphicFramePr>
        <p:xfrm>
          <a:off x="1294239" y="4651915"/>
          <a:ext cx="5880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879880" imgH="647640" progId="Equation.DSMT4">
                  <p:embed/>
                </p:oleObj>
              </mc:Choice>
              <mc:Fallback>
                <p:oleObj name="Equation" r:id="rId16" imgW="587988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294239" y="4651915"/>
                        <a:ext cx="58801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641EFDE7-95CF-99FC-C9B0-CF0766C2DA0F}"/>
              </a:ext>
            </a:extLst>
          </p:cNvPr>
          <p:cNvGrpSpPr/>
          <p:nvPr/>
        </p:nvGrpSpPr>
        <p:grpSpPr>
          <a:xfrm>
            <a:off x="364435" y="5335293"/>
            <a:ext cx="8682256" cy="461665"/>
            <a:chOff x="364435" y="5335293"/>
            <a:chExt cx="8682256" cy="461665"/>
          </a:xfrm>
        </p:grpSpPr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C4D321CF-5B98-3821-4A97-BB40B8793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435" y="5335293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với </a:t>
              </a:r>
            </a:p>
          </p:txBody>
        </p:sp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F79AD73B-1A76-F052-E35D-C69A93A5B0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7350601"/>
                </p:ext>
              </p:extLst>
            </p:nvPr>
          </p:nvGraphicFramePr>
          <p:xfrm>
            <a:off x="1154213" y="5362926"/>
            <a:ext cx="66421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642000" imgH="406080" progId="Equation.DSMT4">
                    <p:embed/>
                  </p:oleObj>
                </mc:Choice>
                <mc:Fallback>
                  <p:oleObj name="Equation" r:id="rId18" imgW="66420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154213" y="5362926"/>
                          <a:ext cx="66421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8563E8DE-7AB6-5899-9F99-4B7A077E8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840117"/>
              </p:ext>
            </p:extLst>
          </p:nvPr>
        </p:nvGraphicFramePr>
        <p:xfrm>
          <a:off x="1263705" y="5932634"/>
          <a:ext cx="56642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663880" imgH="647640" progId="Equation.DSMT4">
                  <p:embed/>
                </p:oleObj>
              </mc:Choice>
              <mc:Fallback>
                <p:oleObj name="Equation" r:id="rId20" imgW="566388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263705" y="5932634"/>
                        <a:ext cx="56642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34146605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56719355-75B3-3E77-61E7-0B0116BF8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9873" y="117501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Công thức </a:t>
            </a:r>
            <a:r>
              <a:rPr lang="en-US" altLang="en-US" sz="2400">
                <a:solidFill>
                  <a:srgbClr val="FF0000"/>
                </a:solidFill>
              </a:rPr>
              <a:t>Runge – Kutta bậc bốn (RK4)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D0BFE33-527D-6D68-CBE6-22AE301602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820214"/>
              </p:ext>
            </p:extLst>
          </p:nvPr>
        </p:nvGraphicFramePr>
        <p:xfrm>
          <a:off x="1524000" y="799534"/>
          <a:ext cx="4064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3680" imgH="609480" progId="Equation.DSMT4">
                  <p:embed/>
                </p:oleObj>
              </mc:Choice>
              <mc:Fallback>
                <p:oleObj name="Equation" r:id="rId2" imgW="4063680" imgH="609480" progId="Equation.DSMT4">
                  <p:embed/>
                  <p:pic>
                    <p:nvPicPr>
                      <p:cNvPr id="25" name="Object 24">
                        <a:extLst>
                          <a:ext uri="{FF2B5EF4-FFF2-40B4-BE49-F238E27FC236}">
                            <a16:creationId xmlns:a16="http://schemas.microsoft.com/office/drawing/2014/main" id="{8563E8DE-7AB6-5899-9F99-4B7A077E88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0" y="799534"/>
                        <a:ext cx="40640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8C60446-1C8D-3477-E02C-AB3531ED0A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163944"/>
              </p:ext>
            </p:extLst>
          </p:nvPr>
        </p:nvGraphicFramePr>
        <p:xfrm>
          <a:off x="2429676" y="1818198"/>
          <a:ext cx="166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419040" progId="Equation.DSMT4">
                  <p:embed/>
                </p:oleObj>
              </mc:Choice>
              <mc:Fallback>
                <p:oleObj name="Equation" r:id="rId4" imgW="16635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29676" y="1818198"/>
                        <a:ext cx="16637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9FEF888-4B27-756C-0F53-F2B15BF1B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139861"/>
              </p:ext>
            </p:extLst>
          </p:nvPr>
        </p:nvGraphicFramePr>
        <p:xfrm>
          <a:off x="2425700" y="2636045"/>
          <a:ext cx="2679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79480" imgH="685800" progId="Equation.DSMT4">
                  <p:embed/>
                </p:oleObj>
              </mc:Choice>
              <mc:Fallback>
                <p:oleObj name="Equation" r:id="rId6" imgW="26794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25700" y="2636045"/>
                        <a:ext cx="26797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D7E50A7-B78B-6C75-9D9E-FBF2CFE2CB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083681"/>
              </p:ext>
            </p:extLst>
          </p:nvPr>
        </p:nvGraphicFramePr>
        <p:xfrm>
          <a:off x="2366673" y="3484563"/>
          <a:ext cx="2705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05040" imgH="685800" progId="Equation.DSMT4">
                  <p:embed/>
                </p:oleObj>
              </mc:Choice>
              <mc:Fallback>
                <p:oleObj name="Equation" r:id="rId8" imgW="270504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66673" y="3484563"/>
                        <a:ext cx="27051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27EC0CC-8137-DE73-BC7C-DD6F0BA4A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706884"/>
              </p:ext>
            </p:extLst>
          </p:nvPr>
        </p:nvGraphicFramePr>
        <p:xfrm>
          <a:off x="2366673" y="4419600"/>
          <a:ext cx="254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9800" imgH="419040" progId="Equation.DSMT4">
                  <p:embed/>
                </p:oleObj>
              </mc:Choice>
              <mc:Fallback>
                <p:oleObj name="Equation" r:id="rId10" imgW="25398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66673" y="4419600"/>
                        <a:ext cx="2540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ED91839-F1E3-7E4F-C99A-B4B6A7EEBB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22745"/>
              </p:ext>
            </p:extLst>
          </p:nvPr>
        </p:nvGraphicFramePr>
        <p:xfrm>
          <a:off x="5486400" y="4530145"/>
          <a:ext cx="1663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63560" imgH="279360" progId="Equation.DSMT4">
                  <p:embed/>
                </p:oleObj>
              </mc:Choice>
              <mc:Fallback>
                <p:oleObj name="Equation" r:id="rId12" imgW="16635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486400" y="4530145"/>
                        <a:ext cx="1663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7994008"/>
      </p:ext>
    </p:extLst>
  </p:cSld>
  <p:clrMapOvr>
    <a:masterClrMapping/>
  </p:clrMapOvr>
  <p:transition spd="slow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8EA024A-921F-B7CA-675E-F59ABD4F3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1" y="230832"/>
            <a:ext cx="8574819" cy="1190272"/>
          </a:xfrm>
          <a:prstGeom prst="rect">
            <a:avLst/>
          </a:prstGeom>
        </p:spPr>
      </p:pic>
      <p:sp>
        <p:nvSpPr>
          <p:cNvPr id="9" name="Text Box 29">
            <a:extLst>
              <a:ext uri="{FF2B5EF4-FFF2-40B4-BE49-F238E27FC236}">
                <a16:creationId xmlns:a16="http://schemas.microsoft.com/office/drawing/2014/main" id="{C2DA2D05-A621-FFFD-1952-E6920337D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-36269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009999"/>
                </a:solidFill>
              </a:rPr>
              <a:t>Ví dụ 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1460352-9097-A097-80CA-ECCD321C1352}"/>
              </a:ext>
            </a:extLst>
          </p:cNvPr>
          <p:cNvGrpSpPr/>
          <p:nvPr/>
        </p:nvGrpSpPr>
        <p:grpSpPr>
          <a:xfrm>
            <a:off x="76200" y="1403173"/>
            <a:ext cx="8682256" cy="523902"/>
            <a:chOff x="-76200" y="1536380"/>
            <a:chExt cx="8682256" cy="523902"/>
          </a:xfrm>
        </p:grpSpPr>
        <p:sp>
          <p:nvSpPr>
            <p:cNvPr id="2" name="Text Box 6">
              <a:extLst>
                <a:ext uri="{FF2B5EF4-FFF2-40B4-BE49-F238E27FC236}">
                  <a16:creationId xmlns:a16="http://schemas.microsoft.com/office/drawing/2014/main" id="{F335C481-ED46-39FC-C134-996AC81D0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6200" y="153638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Nhập </a:t>
              </a:r>
            </a:p>
          </p:txBody>
        </p:sp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79DC68AC-DAEE-A84C-5E54-F934BCA1E5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7908062"/>
                </p:ext>
              </p:extLst>
            </p:nvPr>
          </p:nvGraphicFramePr>
          <p:xfrm>
            <a:off x="1007378" y="1590382"/>
            <a:ext cx="32385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238200" imgH="469800" progId="Equation.DSMT4">
                    <p:embed/>
                  </p:oleObj>
                </mc:Choice>
                <mc:Fallback>
                  <p:oleObj name="Equation" r:id="rId3" imgW="3238200" imgH="469800" progId="Equation.DSMT4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8DBAE3AF-72B8-FFF5-5FAB-706B6BF442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07378" y="1590382"/>
                          <a:ext cx="3238500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Text Box 6">
            <a:extLst>
              <a:ext uri="{FF2B5EF4-FFF2-40B4-BE49-F238E27FC236}">
                <a16:creationId xmlns:a16="http://schemas.microsoft.com/office/drawing/2014/main" id="{48A48F25-0427-74C6-BADD-87B8D3BF0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864838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Calc    X? 1 Y? M=3.2                    1.1725652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44E17B07-1D22-0963-2B3E-D316BA621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34" y="2334738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shift +sto +A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C21C143F-CBA4-632F-6106-4F3035A58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34" y="2734166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Calc    X? 1+0.125 Y? M+A/2        1.213537107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7A86307C-0EC2-E430-E0C7-8053EDED5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34" y="3125127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shift +sto +B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998AF6D1-6F7A-E9A7-2A91-139C8FDF3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944" y="3505200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Calc    X? 1+0.125 Y? M+B/2         1.213692         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E9E34824-F6A6-5A16-B57C-DA6C263AB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881735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shift +sto +C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B8B94115-4116-7201-63B8-3A8B75D46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267200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Calc    X? 1+0.25 Y? M+C               1.290504862 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9E764C7-0F06-1C46-8846-9BB46F80BF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5211288"/>
              </p:ext>
            </p:extLst>
          </p:nvPr>
        </p:nvGraphicFramePr>
        <p:xfrm>
          <a:off x="368611" y="4781727"/>
          <a:ext cx="3759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59120" imgH="672840" progId="Equation.DSMT4">
                  <p:embed/>
                </p:oleObj>
              </mc:Choice>
              <mc:Fallback>
                <p:oleObj name="Equation" r:id="rId5" imgW="375912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8611" y="4781727"/>
                        <a:ext cx="37592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6">
            <a:extLst>
              <a:ext uri="{FF2B5EF4-FFF2-40B4-BE49-F238E27FC236}">
                <a16:creationId xmlns:a16="http://schemas.microsoft.com/office/drawing/2014/main" id="{80A8A6A4-856B-387E-76BE-61FD917AB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33" y="5400825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Lặp lại quá trình trên với A, B, C, D mới để tính y(1.5)</a:t>
            </a:r>
          </a:p>
        </p:txBody>
      </p:sp>
    </p:spTree>
    <p:extLst>
      <p:ext uri="{BB962C8B-B14F-4D97-AF65-F5344CB8AC3E}">
        <p14:creationId xmlns:p14="http://schemas.microsoft.com/office/powerpoint/2010/main" val="144019904"/>
      </p:ext>
    </p:extLst>
  </p:cSld>
  <p:clrMapOvr>
    <a:masterClrMapping/>
  </p:clrMapOvr>
  <p:transition spd="slow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91E64C-4C46-C309-89D6-588B0217F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76545"/>
            <a:ext cx="7391400" cy="1203251"/>
          </a:xfrm>
          <a:prstGeom prst="rect">
            <a:avLst/>
          </a:prstGeom>
        </p:spPr>
      </p:pic>
      <p:sp>
        <p:nvSpPr>
          <p:cNvPr id="3" name="Text Box 29">
            <a:extLst>
              <a:ext uri="{FF2B5EF4-FFF2-40B4-BE49-F238E27FC236}">
                <a16:creationId xmlns:a16="http://schemas.microsoft.com/office/drawing/2014/main" id="{03AA6CD9-D9A4-203B-8E99-D7F40FB8E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87" y="0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009999"/>
                </a:solidFill>
              </a:rPr>
              <a:t>Ví dụ 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EEC01DC-F1B4-086F-F3C1-5ECA80E0EDDA}"/>
              </a:ext>
            </a:extLst>
          </p:cNvPr>
          <p:cNvGrpSpPr/>
          <p:nvPr/>
        </p:nvGrpSpPr>
        <p:grpSpPr>
          <a:xfrm>
            <a:off x="304800" y="1636683"/>
            <a:ext cx="8682256" cy="523905"/>
            <a:chOff x="-76200" y="1536380"/>
            <a:chExt cx="8682256" cy="523905"/>
          </a:xfrm>
        </p:grpSpPr>
        <p:sp>
          <p:nvSpPr>
            <p:cNvPr id="5" name="Text Box 6">
              <a:extLst>
                <a:ext uri="{FF2B5EF4-FFF2-40B4-BE49-F238E27FC236}">
                  <a16:creationId xmlns:a16="http://schemas.microsoft.com/office/drawing/2014/main" id="{0C420E17-CF43-2B75-CCB2-818B79475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6200" y="153638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Nhập </a:t>
              </a:r>
            </a:p>
          </p:txBody>
        </p:sp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D1B1CBAC-6E30-7CCC-9510-36FC5EE117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041752"/>
                </p:ext>
              </p:extLst>
            </p:nvPr>
          </p:nvGraphicFramePr>
          <p:xfrm>
            <a:off x="1541463" y="1590385"/>
            <a:ext cx="21717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71520" imgH="469800" progId="Equation.DSMT4">
                    <p:embed/>
                  </p:oleObj>
                </mc:Choice>
                <mc:Fallback>
                  <p:oleObj name="Equation" r:id="rId3" imgW="2171520" imgH="469800" progId="Equation.DSMT4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79DC68AC-DAEE-A84C-5E54-F934BCA1E55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41463" y="1590385"/>
                          <a:ext cx="2171700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6">
            <a:extLst>
              <a:ext uri="{FF2B5EF4-FFF2-40B4-BE49-F238E27FC236}">
                <a16:creationId xmlns:a16="http://schemas.microsoft.com/office/drawing/2014/main" id="{781A9061-B982-1528-3823-2919EFFF0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98348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Calc    X? 1 Y? 0.5 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C69E9EE2-9586-E57A-972A-C36B20956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34" y="2568248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shift +sto +A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F6FF9C16-E14B-0BF9-4B0D-CD5DEF9C02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34" y="2967676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Calc    X? 1.1 Y? 0.5+A/2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8F43681E-36E4-2EF1-A8FF-FFB8AB314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34" y="3358637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shift +sto +B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6D5A7740-F31A-0FEA-A559-561E3E6F1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544" y="3738710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Calc    X? 1.1 Y? 0.5+B/2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05DA9AEB-DDC7-1D2E-859D-5CD98AC98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115245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shift +sto +C</a:t>
            </a: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8775FE05-E7CF-DA7D-9DD9-24AEE091D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500710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Bấm Calc    X? 1.2 Y? M+C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487E089B-C051-3140-04ED-44EEA4B13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092629"/>
              </p:ext>
            </p:extLst>
          </p:nvPr>
        </p:nvGraphicFramePr>
        <p:xfrm>
          <a:off x="666750" y="5014913"/>
          <a:ext cx="3619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19440" imgH="672840" progId="Equation.DSMT4">
                  <p:embed/>
                </p:oleObj>
              </mc:Choice>
              <mc:Fallback>
                <p:oleObj name="Equation" r:id="rId5" imgW="3619440" imgH="672840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19E764C7-0F06-1C46-8846-9BB46F80BF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6750" y="5014913"/>
                        <a:ext cx="36195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0381637"/>
      </p:ext>
    </p:extLst>
  </p:cSld>
  <p:clrMapOvr>
    <a:masterClrMapping/>
  </p:clrMapOvr>
  <p:transition spd="slow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8499BA08-E110-C015-0CAA-AF2086ACC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38100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4/ </a:t>
            </a:r>
            <a:r>
              <a:rPr lang="en-US" altLang="en-US" sz="2400">
                <a:solidFill>
                  <a:srgbClr val="FF0000"/>
                </a:solidFill>
              </a:rPr>
              <a:t>Hệ phương trình vi phân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DBAE3AF-72B8-FFF5-5FAB-706B6BF442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251678"/>
              </p:ext>
            </p:extLst>
          </p:nvPr>
        </p:nvGraphicFramePr>
        <p:xfrm>
          <a:off x="1346523" y="484509"/>
          <a:ext cx="2489200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040" imgH="2247840" progId="Equation.DSMT4">
                  <p:embed/>
                </p:oleObj>
              </mc:Choice>
              <mc:Fallback>
                <p:oleObj name="Equation" r:id="rId2" imgW="2489040" imgH="22478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DBAE3AF-72B8-FFF5-5FAB-706B6BF44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46523" y="484509"/>
                        <a:ext cx="2489200" cy="224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163C5A9A-01A2-886B-BC59-F2B143196325}"/>
              </a:ext>
            </a:extLst>
          </p:cNvPr>
          <p:cNvGrpSpPr/>
          <p:nvPr/>
        </p:nvGrpSpPr>
        <p:grpSpPr>
          <a:xfrm>
            <a:off x="304800" y="3759583"/>
            <a:ext cx="8682256" cy="461665"/>
            <a:chOff x="372844" y="1138535"/>
            <a:chExt cx="8682256" cy="461665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12B5DCAC-04AF-65F1-2A6E-2AD8C4505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844" y="1138535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Chia          thành </a:t>
              </a:r>
              <a:r>
                <a:rPr lang="en-US" altLang="en-US" sz="2400" b="0" i="1"/>
                <a:t>n</a:t>
              </a:r>
              <a:r>
                <a:rPr lang="en-US" altLang="en-US" sz="2400" b="0" i="0"/>
                <a:t> đoạn nhỏ bằng nhau bởi các điểm chia  </a:t>
              </a:r>
            </a:p>
          </p:txBody>
        </p:sp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EDCBD86A-4496-F778-2EAA-5322467B50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9200" y="1205061"/>
            <a:ext cx="5969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96880" imgH="393480" progId="Equation.DSMT4">
                    <p:embed/>
                  </p:oleObj>
                </mc:Choice>
                <mc:Fallback>
                  <p:oleObj name="Equation" r:id="rId4" imgW="596880" imgH="393480" progId="Equation.DSMT4">
                    <p:embed/>
                    <p:pic>
                      <p:nvPicPr>
                        <p:cNvPr id="7" name="Object 6">
                          <a:extLst>
                            <a:ext uri="{FF2B5EF4-FFF2-40B4-BE49-F238E27FC236}">
                              <a16:creationId xmlns:a16="http://schemas.microsoft.com/office/drawing/2014/main" id="{EDCBD86A-4496-F778-2EAA-5322467B50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219200" y="1205061"/>
                          <a:ext cx="5969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4243729-E3AA-0768-7A57-FD139743F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714024"/>
              </p:ext>
            </p:extLst>
          </p:nvPr>
        </p:nvGraphicFramePr>
        <p:xfrm>
          <a:off x="1556073" y="4203700"/>
          <a:ext cx="4559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59040" imgH="672840" progId="Equation.DSMT4">
                  <p:embed/>
                </p:oleObj>
              </mc:Choice>
              <mc:Fallback>
                <p:oleObj name="Equation" r:id="rId6" imgW="4559040" imgH="67284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4243729-E3AA-0768-7A57-FD139743F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56073" y="4203700"/>
                        <a:ext cx="4559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0DD39C74-D7DB-186C-34C7-749C8B7EAB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297385"/>
              </p:ext>
            </p:extLst>
          </p:nvPr>
        </p:nvGraphicFramePr>
        <p:xfrm>
          <a:off x="4832029" y="1193800"/>
          <a:ext cx="9525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52200" imgH="266400" progId="Equation.DSMT4">
                  <p:embed/>
                </p:oleObj>
              </mc:Choice>
              <mc:Fallback>
                <p:oleObj name="Equation" r:id="rId8" imgW="9522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32029" y="1193800"/>
                        <a:ext cx="9525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B7BFFEE3-1C67-D4F7-CFC7-33ACC43AB03D}"/>
              </a:ext>
            </a:extLst>
          </p:cNvPr>
          <p:cNvGrpSpPr/>
          <p:nvPr/>
        </p:nvGrpSpPr>
        <p:grpSpPr>
          <a:xfrm>
            <a:off x="76200" y="2667000"/>
            <a:ext cx="8852640" cy="989755"/>
            <a:chOff x="76200" y="2667000"/>
            <a:chExt cx="8852640" cy="989755"/>
          </a:xfrm>
        </p:grpSpPr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5D9CB6C8-CC94-2C35-DDAD-2EF42C2E8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" y="2667000"/>
              <a:ext cx="88526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sử dụng cả ba công thức: Euler, Euler cải tiến, Runge – Kutta cấp 4</a:t>
              </a:r>
            </a:p>
          </p:txBody>
        </p:sp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278B96D3-6030-C38F-C19C-4F1C44B4E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392" y="319509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ta có các công thức để giải hệ phương trình vi phân cấp 1.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1331144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B1A9B689-4606-0906-02C0-18298A104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01" y="685800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Công thức Euler cho hệ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6A21C7CF-1DE1-30D5-9135-D1822837C0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69934"/>
              </p:ext>
            </p:extLst>
          </p:nvPr>
        </p:nvGraphicFramePr>
        <p:xfrm>
          <a:off x="3581400" y="640327"/>
          <a:ext cx="28575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57320" imgH="876240" progId="Equation.DSMT4">
                  <p:embed/>
                </p:oleObj>
              </mc:Choice>
              <mc:Fallback>
                <p:oleObj name="Equation" r:id="rId2" imgW="2857320" imgH="87624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DBAE3AF-72B8-FFF5-5FAB-706B6BF44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81400" y="640327"/>
                        <a:ext cx="28575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7D0FE141-79B9-1D00-F253-D2454B1CB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64" y="2338581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Công thức Euler cải tiến cho hệ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4DA0E63-E4DC-ECBF-F1B1-78007E48E9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169324"/>
              </p:ext>
            </p:extLst>
          </p:nvPr>
        </p:nvGraphicFramePr>
        <p:xfrm>
          <a:off x="1910411" y="3129597"/>
          <a:ext cx="49276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27320" imgH="1460160" progId="Equation.DSMT4">
                  <p:embed/>
                </p:oleObj>
              </mc:Choice>
              <mc:Fallback>
                <p:oleObj name="Equation" r:id="rId4" imgW="4927320" imgH="146016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A21C7CF-1DE1-30D5-9135-D1822837C0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10411" y="3129597"/>
                        <a:ext cx="4927600" cy="146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1D1C0A6-DFE1-AD33-507B-999B9D3AA2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430453"/>
              </p:ext>
            </p:extLst>
          </p:nvPr>
        </p:nvGraphicFramePr>
        <p:xfrm>
          <a:off x="1947517" y="4932459"/>
          <a:ext cx="26543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54280" imgH="876240" progId="Equation.DSMT4">
                  <p:embed/>
                </p:oleObj>
              </mc:Choice>
              <mc:Fallback>
                <p:oleObj name="Equation" r:id="rId6" imgW="265428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47517" y="4932459"/>
                        <a:ext cx="26543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3946019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56719355-75B3-3E77-61E7-0B0116BF8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9873" y="117501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Công thức </a:t>
            </a:r>
            <a:r>
              <a:rPr lang="en-US" altLang="en-US" sz="2400">
                <a:solidFill>
                  <a:srgbClr val="FF0000"/>
                </a:solidFill>
              </a:rPr>
              <a:t>Runge – Kutta bậc bốn (RK4) cho hệ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D0BFE33-527D-6D68-CBE6-22AE301602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401541"/>
              </p:ext>
            </p:extLst>
          </p:nvPr>
        </p:nvGraphicFramePr>
        <p:xfrm>
          <a:off x="1905000" y="695526"/>
          <a:ext cx="41656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65560" imgH="1346040" progId="Equation.DSMT4">
                  <p:embed/>
                </p:oleObj>
              </mc:Choice>
              <mc:Fallback>
                <p:oleObj name="Equation" r:id="rId2" imgW="4165560" imgH="13460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9D0BFE33-527D-6D68-CBE6-22AE301602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5000" y="695526"/>
                        <a:ext cx="4165600" cy="134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8C60446-1C8D-3477-E02C-AB3531ED0A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748427"/>
              </p:ext>
            </p:extLst>
          </p:nvPr>
        </p:nvGraphicFramePr>
        <p:xfrm>
          <a:off x="2134318" y="2384926"/>
          <a:ext cx="1892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419040" progId="Equation.DSMT4">
                  <p:embed/>
                </p:oleObj>
              </mc:Choice>
              <mc:Fallback>
                <p:oleObj name="Equation" r:id="rId4" imgW="1892160" imgH="4190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8C60446-1C8D-3477-E02C-AB3531ED0A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34318" y="2384926"/>
                        <a:ext cx="1892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9FEF888-4B27-756C-0F53-F2B15BF1B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95790"/>
              </p:ext>
            </p:extLst>
          </p:nvPr>
        </p:nvGraphicFramePr>
        <p:xfrm>
          <a:off x="2101850" y="2844800"/>
          <a:ext cx="3644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44640" imgH="812520" progId="Equation.DSMT4">
                  <p:embed/>
                </p:oleObj>
              </mc:Choice>
              <mc:Fallback>
                <p:oleObj name="Equation" r:id="rId6" imgW="3644640" imgH="81252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9FEF888-4B27-756C-0F53-F2B15BF1B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01850" y="2844800"/>
                        <a:ext cx="3644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27EC0CC-8137-DE73-BC7C-DD6F0BA4A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574008"/>
              </p:ext>
            </p:extLst>
          </p:nvPr>
        </p:nvGraphicFramePr>
        <p:xfrm>
          <a:off x="2094561" y="4594033"/>
          <a:ext cx="3429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9000" imgH="482400" progId="Equation.DSMT4">
                  <p:embed/>
                </p:oleObj>
              </mc:Choice>
              <mc:Fallback>
                <p:oleObj name="Equation" r:id="rId8" imgW="3429000" imgH="4824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27EC0CC-8137-DE73-BC7C-DD6F0BA4A2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94561" y="4594033"/>
                        <a:ext cx="34290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BAF9518-5CBF-6D1C-7BB3-0AD03D9779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9744143"/>
              </p:ext>
            </p:extLst>
          </p:nvPr>
        </p:nvGraphicFramePr>
        <p:xfrm>
          <a:off x="2101850" y="3766382"/>
          <a:ext cx="3644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44640" imgH="812520" progId="Equation.DSMT4">
                  <p:embed/>
                </p:oleObj>
              </mc:Choice>
              <mc:Fallback>
                <p:oleObj name="Equation" r:id="rId10" imgW="36446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01850" y="3766382"/>
                        <a:ext cx="3644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24430FAF-3A06-E835-AB78-0027BA3FBFC2}"/>
              </a:ext>
            </a:extLst>
          </p:cNvPr>
          <p:cNvGrpSpPr/>
          <p:nvPr/>
        </p:nvGrpSpPr>
        <p:grpSpPr>
          <a:xfrm>
            <a:off x="1905000" y="5329633"/>
            <a:ext cx="8682256" cy="461665"/>
            <a:chOff x="1600200" y="5482282"/>
            <a:chExt cx="8682256" cy="461665"/>
          </a:xfrm>
        </p:grpSpPr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FEE06994-5D46-6280-98C3-F72FF18428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5482282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Tương tự cho </a:t>
              </a:r>
            </a:p>
          </p:txBody>
        </p:sp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111439F3-9097-D6F8-57CF-89039CE0BF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92117150"/>
                </p:ext>
              </p:extLst>
            </p:nvPr>
          </p:nvGraphicFramePr>
          <p:xfrm>
            <a:off x="3554841" y="5515615"/>
            <a:ext cx="15494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49080" imgH="393480" progId="Equation.DSMT4">
                    <p:embed/>
                  </p:oleObj>
                </mc:Choice>
                <mc:Fallback>
                  <p:oleObj name="Equation" r:id="rId12" imgW="15490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554841" y="5515615"/>
                          <a:ext cx="15494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7116247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03A1E516-8459-F555-EF47-094F92C9D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6200" y="1447800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/>
              <a:t>Đổi biến </a:t>
            </a:r>
            <a:endParaRPr lang="en-US" altLang="en-US" sz="2400" b="0" i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A261822-790F-BBF9-451E-F5ED28A68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131125"/>
              </p:ext>
            </p:extLst>
          </p:nvPr>
        </p:nvGraphicFramePr>
        <p:xfrm>
          <a:off x="1447800" y="1509556"/>
          <a:ext cx="1460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393480" progId="Equation.DSMT4">
                  <p:embed/>
                </p:oleObj>
              </mc:Choice>
              <mc:Fallback>
                <p:oleObj name="Equation" r:id="rId2" imgW="1460160" imgH="39348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A261822-790F-BBF9-451E-F5ED28A68C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47800" y="1509556"/>
                        <a:ext cx="1460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0816DAA7-ACC8-F64A-0C74-A39B960D8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903256"/>
            <a:ext cx="480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/>
              <a:t>Ta có hệ </a:t>
            </a:r>
            <a:endParaRPr lang="en-US" altLang="en-US" sz="2400" b="0" i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76F8651-94E4-691B-ECA3-9AD1B483CE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03043"/>
              </p:ext>
            </p:extLst>
          </p:nvPr>
        </p:nvGraphicFramePr>
        <p:xfrm>
          <a:off x="5334000" y="1544864"/>
          <a:ext cx="2819400" cy="1158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24000" imgH="1612800" progId="Equation.DSMT4">
                  <p:embed/>
                </p:oleObj>
              </mc:Choice>
              <mc:Fallback>
                <p:oleObj name="Equation" r:id="rId4" imgW="3924000" imgH="16128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76F8651-94E4-691B-ECA3-9AD1B483CE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34000" y="1544864"/>
                        <a:ext cx="2819400" cy="11587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D072DC1-4649-F32E-74C7-C86995D56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87" y="0"/>
            <a:ext cx="8278813" cy="1432595"/>
          </a:xfrm>
          <a:prstGeom prst="rect">
            <a:avLst/>
          </a:prstGeom>
        </p:spPr>
      </p:pic>
      <p:sp>
        <p:nvSpPr>
          <p:cNvPr id="12" name="Text Box 6">
            <a:extLst>
              <a:ext uri="{FF2B5EF4-FFF2-40B4-BE49-F238E27FC236}">
                <a16:creationId xmlns:a16="http://schemas.microsoft.com/office/drawing/2014/main" id="{3EE20BC4-A2F7-9E0F-41B2-6C4529C49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864873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Công thức Euler cho hệ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EEE574C6-FA9D-2561-6906-77362CFC47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915266"/>
              </p:ext>
            </p:extLst>
          </p:nvPr>
        </p:nvGraphicFramePr>
        <p:xfrm>
          <a:off x="3627438" y="2819400"/>
          <a:ext cx="2895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95480" imgH="876240" progId="Equation.DSMT4">
                  <p:embed/>
                </p:oleObj>
              </mc:Choice>
              <mc:Fallback>
                <p:oleObj name="Equation" r:id="rId7" imgW="2895480" imgH="8762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A21C7CF-1DE1-30D5-9135-D1822837C0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27438" y="2819400"/>
                        <a:ext cx="28956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7251900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FCDBBB-5E91-45A5-6B00-9C455ED9D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050"/>
            <a:ext cx="9144000" cy="1435835"/>
          </a:xfrm>
          <a:prstGeom prst="rect">
            <a:avLst/>
          </a:prstGeom>
        </p:spPr>
      </p:pic>
      <p:sp>
        <p:nvSpPr>
          <p:cNvPr id="2" name="Text Box 6">
            <a:extLst>
              <a:ext uri="{FF2B5EF4-FFF2-40B4-BE49-F238E27FC236}">
                <a16:creationId xmlns:a16="http://schemas.microsoft.com/office/drawing/2014/main" id="{03A1E516-8459-F555-EF47-094F92C9D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513044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/>
              <a:t>Đổi biến </a:t>
            </a:r>
            <a:endParaRPr lang="en-US" altLang="en-US" sz="2400" b="0" i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A261822-790F-BBF9-451E-F5ED28A68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913273"/>
              </p:ext>
            </p:extLst>
          </p:nvPr>
        </p:nvGraphicFramePr>
        <p:xfrm>
          <a:off x="1600200" y="1574800"/>
          <a:ext cx="1460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60160" imgH="393480" progId="Equation.DSMT4">
                  <p:embed/>
                </p:oleObj>
              </mc:Choice>
              <mc:Fallback>
                <p:oleObj name="Equation" r:id="rId3" imgW="1460160" imgH="39348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DBAE3AF-72B8-FFF5-5FAB-706B6BF442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0200" y="1574800"/>
                        <a:ext cx="1460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0816DAA7-ACC8-F64A-0C74-A39B960D8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316385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/>
              <a:t>Ta có hệ </a:t>
            </a:r>
            <a:endParaRPr lang="en-US" altLang="en-US" sz="2400" b="0" i="0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76F8651-94E4-691B-ECA3-9AD1B483CE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124978"/>
              </p:ext>
            </p:extLst>
          </p:nvPr>
        </p:nvGraphicFramePr>
        <p:xfrm>
          <a:off x="1914525" y="1981200"/>
          <a:ext cx="26670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6880" imgH="1282680" progId="Equation.DSMT4">
                  <p:embed/>
                </p:oleObj>
              </mc:Choice>
              <mc:Fallback>
                <p:oleObj name="Equation" r:id="rId5" imgW="2666880" imgH="12826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6A21C7CF-1DE1-30D5-9135-D1822837C0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4525" y="1981200"/>
                        <a:ext cx="26670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11EDE15A-9F26-FC7B-A00F-0F6A3236E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64" y="3311622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Công thức Euler cải tiến cho hệ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BB993E1-03F9-F97E-29D2-DC02CEBB4B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097199"/>
              </p:ext>
            </p:extLst>
          </p:nvPr>
        </p:nvGraphicFramePr>
        <p:xfrm>
          <a:off x="1839913" y="3886200"/>
          <a:ext cx="50673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067000" imgH="1460160" progId="Equation.DSMT4">
                  <p:embed/>
                </p:oleObj>
              </mc:Choice>
              <mc:Fallback>
                <p:oleObj name="Equation" r:id="rId7" imgW="5067000" imgH="14601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F4DA0E63-E4DC-ECBF-F1B1-78007E48E9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9913" y="3886200"/>
                        <a:ext cx="5067300" cy="146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26B9483-8202-EB86-E9FB-66D1359D33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853942"/>
              </p:ext>
            </p:extLst>
          </p:nvPr>
        </p:nvGraphicFramePr>
        <p:xfrm>
          <a:off x="1935163" y="5562600"/>
          <a:ext cx="2679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79480" imgH="876240" progId="Equation.DSMT4">
                  <p:embed/>
                </p:oleObj>
              </mc:Choice>
              <mc:Fallback>
                <p:oleObj name="Equation" r:id="rId9" imgW="2679480" imgH="87624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1D1C0A6-DFE1-AD33-507B-999B9D3AA2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35163" y="5562600"/>
                        <a:ext cx="26797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4172363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8499BA08-E110-C015-0CAA-AF2086ACC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38100"/>
            <a:ext cx="7543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FF0000"/>
                </a:solidFill>
              </a:rPr>
              <a:t>5/ </a:t>
            </a:r>
            <a:r>
              <a:rPr lang="en-US" altLang="en-US" sz="2400">
                <a:solidFill>
                  <a:srgbClr val="FF0000"/>
                </a:solidFill>
              </a:rPr>
              <a:t>Phương pháp sai phân hữu hạn</a:t>
            </a:r>
            <a:endParaRPr lang="en-US" altLang="en-US" sz="2400" b="0" i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EBD8FCA-0AF4-949D-C1B1-38B875BC3389}"/>
              </a:ext>
            </a:extLst>
          </p:cNvPr>
          <p:cNvGrpSpPr/>
          <p:nvPr/>
        </p:nvGrpSpPr>
        <p:grpSpPr>
          <a:xfrm>
            <a:off x="537944" y="483051"/>
            <a:ext cx="8682256" cy="876300"/>
            <a:chOff x="325219" y="311736"/>
            <a:chExt cx="8682256" cy="876300"/>
          </a:xfrm>
        </p:grpSpPr>
        <p:sp>
          <p:nvSpPr>
            <p:cNvPr id="3" name="Text Box 6">
              <a:extLst>
                <a:ext uri="{FF2B5EF4-FFF2-40B4-BE49-F238E27FC236}">
                  <a16:creationId xmlns:a16="http://schemas.microsoft.com/office/drawing/2014/main" id="{43ACC847-62A0-D63B-8C0A-CDC33471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19" y="589678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Xét phương trình</a:t>
              </a:r>
            </a:p>
          </p:txBody>
        </p:sp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8DBAE3AF-72B8-FFF5-5FAB-706B6BF442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9790836"/>
                </p:ext>
              </p:extLst>
            </p:nvPr>
          </p:nvGraphicFramePr>
          <p:xfrm>
            <a:off x="2785369" y="311736"/>
            <a:ext cx="3886200" cy="876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886200" imgH="876240" progId="Equation.DSMT4">
                    <p:embed/>
                  </p:oleObj>
                </mc:Choice>
                <mc:Fallback>
                  <p:oleObj name="Equation" r:id="rId2" imgW="3886200" imgH="876240" progId="Equation.DSMT4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8DBAE3AF-72B8-FFF5-5FAB-706B6BF4423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785369" y="311736"/>
                          <a:ext cx="3886200" cy="876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74D3F146-EC62-681C-C614-42DCCC1EBD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844655"/>
              </p:ext>
            </p:extLst>
          </p:nvPr>
        </p:nvGraphicFramePr>
        <p:xfrm>
          <a:off x="666750" y="3451225"/>
          <a:ext cx="6832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32440" imgH="711000" progId="Equation.DSMT4">
                  <p:embed/>
                </p:oleObj>
              </mc:Choice>
              <mc:Fallback>
                <p:oleObj name="Equation" r:id="rId4" imgW="6832440" imgH="711000" progId="Equation.DSMT4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74D3F146-EC62-681C-C614-42DCCC1EBD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6750" y="3451225"/>
                        <a:ext cx="68326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2610DFD-C98A-4A99-BBFA-C7EA76B1B7AF}"/>
              </a:ext>
            </a:extLst>
          </p:cNvPr>
          <p:cNvGrpSpPr/>
          <p:nvPr/>
        </p:nvGrpSpPr>
        <p:grpSpPr>
          <a:xfrm>
            <a:off x="441203" y="1529237"/>
            <a:ext cx="8682256" cy="948851"/>
            <a:chOff x="441203" y="1529237"/>
            <a:chExt cx="8682256" cy="948851"/>
          </a:xfrm>
        </p:grpSpPr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CAEED56F-23CB-D439-F0E7-75225A004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203" y="1529237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Chia đoạn         thành </a:t>
              </a:r>
              <a:r>
                <a:rPr lang="en-US" altLang="en-US" sz="2400" b="0" i="1"/>
                <a:t>n</a:t>
              </a:r>
              <a:r>
                <a:rPr lang="en-US" altLang="en-US" sz="2400" b="0" i="0"/>
                <a:t> đoạn nhỏ bằng nhau bởi các điểm </a:t>
              </a:r>
            </a:p>
          </p:txBody>
        </p:sp>
        <p:graphicFrame>
          <p:nvGraphicFramePr>
            <p:cNvPr id="10" name="Object 9">
              <a:extLst>
                <a:ext uri="{FF2B5EF4-FFF2-40B4-BE49-F238E27FC236}">
                  <a16:creationId xmlns:a16="http://schemas.microsoft.com/office/drawing/2014/main" id="{E3E978E4-10B9-1785-49F3-1FF85545FB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7124384"/>
                </p:ext>
              </p:extLst>
            </p:nvPr>
          </p:nvGraphicFramePr>
          <p:xfrm>
            <a:off x="1898650" y="1563688"/>
            <a:ext cx="5969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96880" imgH="393480" progId="Equation.DSMT4">
                    <p:embed/>
                  </p:oleObj>
                </mc:Choice>
                <mc:Fallback>
                  <p:oleObj name="Equation" r:id="rId6" imgW="596880" imgH="393480" progId="Equation.DSMT4">
                    <p:embed/>
                    <p:pic>
                      <p:nvPicPr>
                        <p:cNvPr id="10" name="Object 9">
                          <a:extLst>
                            <a:ext uri="{FF2B5EF4-FFF2-40B4-BE49-F238E27FC236}">
                              <a16:creationId xmlns:a16="http://schemas.microsoft.com/office/drawing/2014/main" id="{E3E978E4-10B9-1785-49F3-1FF85545FBE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898650" y="1563688"/>
                          <a:ext cx="5969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3">
              <a:extLst>
                <a:ext uri="{FF2B5EF4-FFF2-40B4-BE49-F238E27FC236}">
                  <a16:creationId xmlns:a16="http://schemas.microsoft.com/office/drawing/2014/main" id="{668FEC21-B397-1572-4406-E89A6B0FCE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2865464"/>
                </p:ext>
              </p:extLst>
            </p:nvPr>
          </p:nvGraphicFramePr>
          <p:xfrm>
            <a:off x="1697038" y="2135188"/>
            <a:ext cx="332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327120" imgH="342720" progId="Equation.DSMT4">
                    <p:embed/>
                  </p:oleObj>
                </mc:Choice>
                <mc:Fallback>
                  <p:oleObj name="Equation" r:id="rId8" imgW="33271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697038" y="2135188"/>
                          <a:ext cx="3327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ED300A0-A5CE-D5A9-E5AB-B145DE22125E}"/>
              </a:ext>
            </a:extLst>
          </p:cNvPr>
          <p:cNvGrpSpPr/>
          <p:nvPr/>
        </p:nvGrpSpPr>
        <p:grpSpPr>
          <a:xfrm>
            <a:off x="537944" y="2734290"/>
            <a:ext cx="8682256" cy="461665"/>
            <a:chOff x="537944" y="2734290"/>
            <a:chExt cx="8682256" cy="461665"/>
          </a:xfrm>
        </p:grpSpPr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5343E083-3949-FE2C-C53B-0B52F95E9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944" y="273429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Khai triển Taylor của     đến cấp 3 tại </a:t>
              </a:r>
            </a:p>
          </p:txBody>
        </p:sp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1539038F-5772-40A0-543C-F9965CB060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443769"/>
                </p:ext>
              </p:extLst>
            </p:nvPr>
          </p:nvGraphicFramePr>
          <p:xfrm>
            <a:off x="5286375" y="2816225"/>
            <a:ext cx="266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66400" imgH="342720" progId="Equation.DSMT4">
                    <p:embed/>
                  </p:oleObj>
                </mc:Choice>
                <mc:Fallback>
                  <p:oleObj name="Equation" r:id="rId10" imgW="2664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5286375" y="2816225"/>
                          <a:ext cx="266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2">
              <a:extLst>
                <a:ext uri="{FF2B5EF4-FFF2-40B4-BE49-F238E27FC236}">
                  <a16:creationId xmlns:a16="http://schemas.microsoft.com/office/drawing/2014/main" id="{055EEFF6-8CE9-8514-6278-01F6A058276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1503981"/>
                </p:ext>
              </p:extLst>
            </p:nvPr>
          </p:nvGraphicFramePr>
          <p:xfrm>
            <a:off x="3378255" y="2899427"/>
            <a:ext cx="2032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03040" imgH="241200" progId="Equation.DSMT4">
                    <p:embed/>
                  </p:oleObj>
                </mc:Choice>
                <mc:Fallback>
                  <p:oleObj name="Equation" r:id="rId12" imgW="20304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3378255" y="2899427"/>
                          <a:ext cx="2032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0C4327CF-28B2-21A4-05BC-EEB1A0A136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514811"/>
              </p:ext>
            </p:extLst>
          </p:nvPr>
        </p:nvGraphicFramePr>
        <p:xfrm>
          <a:off x="946150" y="4924425"/>
          <a:ext cx="5067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067000" imgH="647640" progId="Equation.DSMT4">
                  <p:embed/>
                </p:oleObj>
              </mc:Choice>
              <mc:Fallback>
                <p:oleObj name="Equation" r:id="rId14" imgW="506700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46150" y="4924425"/>
                        <a:ext cx="50673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3433094D-17F3-0DB8-04CC-48224B1362E2}"/>
              </a:ext>
            </a:extLst>
          </p:cNvPr>
          <p:cNvGrpSpPr/>
          <p:nvPr/>
        </p:nvGrpSpPr>
        <p:grpSpPr>
          <a:xfrm>
            <a:off x="547221" y="4245922"/>
            <a:ext cx="8682256" cy="461665"/>
            <a:chOff x="547221" y="4245922"/>
            <a:chExt cx="8682256" cy="461665"/>
          </a:xfrm>
        </p:grpSpPr>
        <p:sp>
          <p:nvSpPr>
            <p:cNvPr id="29" name="Text Box 6">
              <a:extLst>
                <a:ext uri="{FF2B5EF4-FFF2-40B4-BE49-F238E27FC236}">
                  <a16:creationId xmlns:a16="http://schemas.microsoft.com/office/drawing/2014/main" id="{F385D1E3-E5C1-69E6-DF62-DB9EB522D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21" y="4245922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Thay                         và   </a:t>
              </a:r>
            </a:p>
          </p:txBody>
        </p:sp>
        <p:graphicFrame>
          <p:nvGraphicFramePr>
            <p:cNvPr id="30" name="Object 29">
              <a:extLst>
                <a:ext uri="{FF2B5EF4-FFF2-40B4-BE49-F238E27FC236}">
                  <a16:creationId xmlns:a16="http://schemas.microsoft.com/office/drawing/2014/main" id="{10F57E8E-3917-8E44-1B8D-63ED8207CB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25384762"/>
                </p:ext>
              </p:extLst>
            </p:nvPr>
          </p:nvGraphicFramePr>
          <p:xfrm>
            <a:off x="1387475" y="4349750"/>
            <a:ext cx="1790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90640" imgH="342720" progId="Equation.DSMT4">
                    <p:embed/>
                  </p:oleObj>
                </mc:Choice>
                <mc:Fallback>
                  <p:oleObj name="Equation" r:id="rId16" imgW="1790640" imgH="342720" progId="Equation.DSMT4">
                    <p:embed/>
                    <p:pic>
                      <p:nvPicPr>
                        <p:cNvPr id="30" name="Object 29">
                          <a:extLst>
                            <a:ext uri="{FF2B5EF4-FFF2-40B4-BE49-F238E27FC236}">
                              <a16:creationId xmlns:a16="http://schemas.microsoft.com/office/drawing/2014/main" id="{10F57E8E-3917-8E44-1B8D-63ED8207CB3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387475" y="4349750"/>
                          <a:ext cx="1790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86A233D1-9CDD-0A7F-AA89-A361064C47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8348295"/>
                </p:ext>
              </p:extLst>
            </p:nvPr>
          </p:nvGraphicFramePr>
          <p:xfrm>
            <a:off x="3651250" y="4349750"/>
            <a:ext cx="1778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777680" imgH="342720" progId="Equation.DSMT4">
                    <p:embed/>
                  </p:oleObj>
                </mc:Choice>
                <mc:Fallback>
                  <p:oleObj name="Equation" r:id="rId18" imgW="17776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3651250" y="4349750"/>
                          <a:ext cx="1778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CF87992-0AAA-2263-D5FD-0FF472EDC9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409319"/>
              </p:ext>
            </p:extLst>
          </p:nvPr>
        </p:nvGraphicFramePr>
        <p:xfrm>
          <a:off x="958850" y="5592763"/>
          <a:ext cx="50546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054400" imgH="647640" progId="Equation.DSMT4">
                  <p:embed/>
                </p:oleObj>
              </mc:Choice>
              <mc:Fallback>
                <p:oleObj name="Equation" r:id="rId20" imgW="505440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58850" y="5592763"/>
                        <a:ext cx="50546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9920995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0352C4F-2B80-7BEA-B156-A45FCB6A03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84115"/>
              </p:ext>
            </p:extLst>
          </p:nvPr>
        </p:nvGraphicFramePr>
        <p:xfrm>
          <a:off x="1162050" y="76200"/>
          <a:ext cx="387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3240" imgH="393480" progId="Equation.DSMT4">
                  <p:embed/>
                </p:oleObj>
              </mc:Choice>
              <mc:Fallback>
                <p:oleObj name="Equation" r:id="rId2" imgW="3873240" imgH="3934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CF87992-0AAA-2263-D5FD-0FF472EDC9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62050" y="76200"/>
                        <a:ext cx="38735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13C7E4A0-4AA1-35D9-3E55-ECC0514F27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491649"/>
              </p:ext>
            </p:extLst>
          </p:nvPr>
        </p:nvGraphicFramePr>
        <p:xfrm>
          <a:off x="727075" y="673100"/>
          <a:ext cx="6057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57720" imgH="622080" progId="Equation.DSMT4">
                  <p:embed/>
                </p:oleObj>
              </mc:Choice>
              <mc:Fallback>
                <p:oleObj name="Equation" r:id="rId4" imgW="605772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7075" y="673100"/>
                        <a:ext cx="60579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E90ADF0-2B91-FACE-B1A4-68DAC97860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51797"/>
              </p:ext>
            </p:extLst>
          </p:nvPr>
        </p:nvGraphicFramePr>
        <p:xfrm>
          <a:off x="742950" y="1339850"/>
          <a:ext cx="4495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95680" imgH="622080" progId="Equation.DSMT4">
                  <p:embed/>
                </p:oleObj>
              </mc:Choice>
              <mc:Fallback>
                <p:oleObj name="Equation" r:id="rId6" imgW="449568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42950" y="1339850"/>
                        <a:ext cx="44958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>
            <a:extLst>
              <a:ext uri="{FF2B5EF4-FFF2-40B4-BE49-F238E27FC236}">
                <a16:creationId xmlns:a16="http://schemas.microsoft.com/office/drawing/2014/main" id="{711C2B16-7C59-077E-AA9D-06C27592F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423" y="2267851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</a:t>
            </a:r>
            <a:r>
              <a:rPr lang="en-US" altLang="en-US" sz="2400"/>
              <a:t>Thay vào phương trình đã cho, ta có</a:t>
            </a:r>
            <a:endParaRPr lang="en-US" altLang="en-US" sz="2400" b="0" i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281A5FA-A85E-06A7-F1F2-11165FCF27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985860"/>
              </p:ext>
            </p:extLst>
          </p:nvPr>
        </p:nvGraphicFramePr>
        <p:xfrm>
          <a:off x="412750" y="2935288"/>
          <a:ext cx="8305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305560" imgH="660240" progId="Equation.DSMT4">
                  <p:embed/>
                </p:oleObj>
              </mc:Choice>
              <mc:Fallback>
                <p:oleObj name="Equation" r:id="rId8" imgW="830556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2750" y="2935288"/>
                        <a:ext cx="8305800" cy="66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FBE381B-C0E2-2547-2CF0-788538E790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433506"/>
              </p:ext>
            </p:extLst>
          </p:nvPr>
        </p:nvGraphicFramePr>
        <p:xfrm>
          <a:off x="931628" y="4536526"/>
          <a:ext cx="147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73120" imgH="330120" progId="Equation.DSMT4">
                  <p:embed/>
                </p:oleObj>
              </mc:Choice>
              <mc:Fallback>
                <p:oleObj name="Equation" r:id="rId10" imgW="14731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31628" y="4536526"/>
                        <a:ext cx="1473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F3F0924-59DA-529A-9785-03B36FD12A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7007871"/>
              </p:ext>
            </p:extLst>
          </p:nvPr>
        </p:nvGraphicFramePr>
        <p:xfrm>
          <a:off x="381000" y="3738563"/>
          <a:ext cx="62357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235560" imgH="622080" progId="Equation.DSMT4">
                  <p:embed/>
                </p:oleObj>
              </mc:Choice>
              <mc:Fallback>
                <p:oleObj name="Equation" r:id="rId12" imgW="623556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81000" y="3738563"/>
                        <a:ext cx="62357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74CC309-6949-4D87-E9AD-33CA8C220C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865009"/>
              </p:ext>
            </p:extLst>
          </p:nvPr>
        </p:nvGraphicFramePr>
        <p:xfrm>
          <a:off x="642938" y="5175250"/>
          <a:ext cx="5359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359320" imgH="685800" progId="Equation.DSMT4">
                  <p:embed/>
                </p:oleObj>
              </mc:Choice>
              <mc:Fallback>
                <p:oleObj name="Equation" r:id="rId14" imgW="535932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42938" y="5175250"/>
                        <a:ext cx="53594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9351919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8673D6B-A19F-DA94-C4B7-B60754FC627A}"/>
              </a:ext>
            </a:extLst>
          </p:cNvPr>
          <p:cNvGrpSpPr/>
          <p:nvPr/>
        </p:nvGrpSpPr>
        <p:grpSpPr>
          <a:xfrm>
            <a:off x="230872" y="0"/>
            <a:ext cx="8682256" cy="461665"/>
            <a:chOff x="230872" y="0"/>
            <a:chExt cx="8682256" cy="461665"/>
          </a:xfrm>
        </p:grpSpPr>
        <p:sp>
          <p:nvSpPr>
            <p:cNvPr id="2" name="Text Box 6">
              <a:extLst>
                <a:ext uri="{FF2B5EF4-FFF2-40B4-BE49-F238E27FC236}">
                  <a16:creationId xmlns:a16="http://schemas.microsoft.com/office/drawing/2014/main" id="{4C06A8F9-B9AD-2E9F-F0DE-DC78AE69CD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72" y="0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Ta c</a:t>
              </a:r>
              <a:r>
                <a:rPr lang="en-US" altLang="en-US" sz="2400"/>
                <a:t>ó hệ phương trình ma trận </a:t>
              </a:r>
              <a:endParaRPr lang="en-US" altLang="en-US" sz="2400" b="0" i="0"/>
            </a:p>
          </p:txBody>
        </p:sp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9D9D16F6-1FB3-3342-690F-CFB0B7135F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2278816"/>
                </p:ext>
              </p:extLst>
            </p:nvPr>
          </p:nvGraphicFramePr>
          <p:xfrm>
            <a:off x="4178300" y="127000"/>
            <a:ext cx="7874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787320" imgH="253800" progId="Equation.DSMT4">
                    <p:embed/>
                  </p:oleObj>
                </mc:Choice>
                <mc:Fallback>
                  <p:oleObj name="Equation" r:id="rId2" imgW="787320" imgH="253800" progId="Equation.DSMT4">
                    <p:embed/>
                    <p:pic>
                      <p:nvPicPr>
                        <p:cNvPr id="2" name="Object 1">
                          <a:extLst>
                            <a:ext uri="{FF2B5EF4-FFF2-40B4-BE49-F238E27FC236}">
                              <a16:creationId xmlns:a16="http://schemas.microsoft.com/office/drawing/2014/main" id="{A0352C4F-2B80-7BEA-B156-A45FCB6A03E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178300" y="127000"/>
                          <a:ext cx="7874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6239C4E-7E5D-8D92-ECA7-AAE90C3FF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589276"/>
              </p:ext>
            </p:extLst>
          </p:nvPr>
        </p:nvGraphicFramePr>
        <p:xfrm>
          <a:off x="838200" y="607218"/>
          <a:ext cx="6273800" cy="313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73720" imgH="3136680" progId="Equation.DSMT4">
                  <p:embed/>
                </p:oleObj>
              </mc:Choice>
              <mc:Fallback>
                <p:oleObj name="Equation" r:id="rId4" imgW="6273720" imgH="3136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607218"/>
                        <a:ext cx="6273800" cy="313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7C31EA5-EB7A-D464-B064-29C686A5F9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657764"/>
              </p:ext>
            </p:extLst>
          </p:nvPr>
        </p:nvGraphicFramePr>
        <p:xfrm>
          <a:off x="1981200" y="4114800"/>
          <a:ext cx="3657600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57600" imgH="2374560" progId="Equation.DSMT4">
                  <p:embed/>
                </p:oleObj>
              </mc:Choice>
              <mc:Fallback>
                <p:oleObj name="Equation" r:id="rId6" imgW="3657600" imgH="237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81200" y="4114800"/>
                        <a:ext cx="3657600" cy="237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0461772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E07B860-4448-C190-D517-DE8DBD71A310}"/>
              </a:ext>
            </a:extLst>
          </p:cNvPr>
          <p:cNvGrpSpPr/>
          <p:nvPr/>
        </p:nvGrpSpPr>
        <p:grpSpPr>
          <a:xfrm>
            <a:off x="443191" y="393135"/>
            <a:ext cx="8682256" cy="461665"/>
            <a:chOff x="443191" y="393135"/>
            <a:chExt cx="8682256" cy="461665"/>
          </a:xfrm>
        </p:grpSpPr>
        <p:sp>
          <p:nvSpPr>
            <p:cNvPr id="2" name="Text Box 6">
              <a:extLst>
                <a:ext uri="{FF2B5EF4-FFF2-40B4-BE49-F238E27FC236}">
                  <a16:creationId xmlns:a16="http://schemas.microsoft.com/office/drawing/2014/main" id="{4C06A8F9-B9AD-2E9F-F0DE-DC78AE69CD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191" y="393135"/>
              <a:ext cx="86822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457200" indent="-4572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buFontTx/>
                <a:buNone/>
              </a:pPr>
              <a:r>
                <a:rPr lang="en-US" altLang="en-US" sz="2400" b="0" i="0"/>
                <a:t> Trường hợp A vuông cấp 3:</a:t>
              </a:r>
            </a:p>
          </p:txBody>
        </p:sp>
        <p:graphicFrame>
          <p:nvGraphicFramePr>
            <p:cNvPr id="3" name="Object 2">
              <a:extLst>
                <a:ext uri="{FF2B5EF4-FFF2-40B4-BE49-F238E27FC236}">
                  <a16:creationId xmlns:a16="http://schemas.microsoft.com/office/drawing/2014/main" id="{9D9D16F6-1FB3-3342-690F-CFB0B7135F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3102502"/>
                </p:ext>
              </p:extLst>
            </p:nvPr>
          </p:nvGraphicFramePr>
          <p:xfrm>
            <a:off x="4038600" y="527170"/>
            <a:ext cx="6223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22080" imgH="241200" progId="Equation.DSMT4">
                    <p:embed/>
                  </p:oleObj>
                </mc:Choice>
                <mc:Fallback>
                  <p:oleObj name="Equation" r:id="rId2" imgW="622080" imgH="241200" progId="Equation.DSMT4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9D9D16F6-1FB3-3342-690F-CFB0B7135F9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4038600" y="527170"/>
                          <a:ext cx="6223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9068B94F-4AA6-5F31-D2B5-1A5A84EF9C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2505793"/>
              </p:ext>
            </p:extLst>
          </p:nvPr>
        </p:nvGraphicFramePr>
        <p:xfrm>
          <a:off x="1881753" y="1143000"/>
          <a:ext cx="33274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27120" imgH="1866600" progId="Equation.DSMT4">
                  <p:embed/>
                </p:oleObj>
              </mc:Choice>
              <mc:Fallback>
                <p:oleObj name="Equation" r:id="rId4" imgW="3327120" imgH="18666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F6239C4E-7E5D-8D92-ECA7-AAE90C3FF5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81753" y="1143000"/>
                        <a:ext cx="3327400" cy="186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8034C48-64C6-CDE2-6A32-FDD8B443AF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060217"/>
              </p:ext>
            </p:extLst>
          </p:nvPr>
        </p:nvGraphicFramePr>
        <p:xfrm>
          <a:off x="1881753" y="3298100"/>
          <a:ext cx="31115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11480" imgH="1688760" progId="Equation.DSMT4">
                  <p:embed/>
                </p:oleObj>
              </mc:Choice>
              <mc:Fallback>
                <p:oleObj name="Equation" r:id="rId6" imgW="3111480" imgH="16887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7C31EA5-EB7A-D464-B064-29C686A5F9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81753" y="3298100"/>
                        <a:ext cx="3111500" cy="168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8095819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50A5531A-45FA-03C4-2D82-F223642D3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453" y="757535"/>
            <a:ext cx="84935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/>
              <a:t>Sử dụng pp sai phân hữu hạn, tính          trong [0,1], với              . </a:t>
            </a:r>
            <a:endParaRPr lang="en-US" altLang="en-US" sz="2400" b="0" i="0"/>
          </a:p>
        </p:txBody>
      </p:sp>
      <p:sp>
        <p:nvSpPr>
          <p:cNvPr id="10264" name="Text Box 29">
            <a:extLst>
              <a:ext uri="{FF2B5EF4-FFF2-40B4-BE49-F238E27FC236}">
                <a16:creationId xmlns:a16="http://schemas.microsoft.com/office/drawing/2014/main" id="{BD2EE327-1545-A040-6EAB-339F4DB28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87" y="0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>
                <a:solidFill>
                  <a:srgbClr val="009999"/>
                </a:solidFill>
              </a:rPr>
              <a:t>Ví dụ 7</a:t>
            </a:r>
          </a:p>
        </p:txBody>
      </p:sp>
      <p:sp>
        <p:nvSpPr>
          <p:cNvPr id="10265" name="Rectangle 30">
            <a:extLst>
              <a:ext uri="{FF2B5EF4-FFF2-40B4-BE49-F238E27FC236}">
                <a16:creationId xmlns:a16="http://schemas.microsoft.com/office/drawing/2014/main" id="{7D767F4A-21EF-1EF9-D827-B298CE79D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20" y="381000"/>
            <a:ext cx="8576795" cy="998357"/>
          </a:xfrm>
          <a:prstGeom prst="rect">
            <a:avLst/>
          </a:prstGeom>
          <a:noFill/>
          <a:ln w="19050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2600">
              <a:solidFill>
                <a:srgbClr val="0000FF"/>
              </a:solidFill>
            </a:endParaRPr>
          </a:p>
        </p:txBody>
      </p:sp>
      <p:sp>
        <p:nvSpPr>
          <p:cNvPr id="10266" name="Text Box 6">
            <a:extLst>
              <a:ext uri="{FF2B5EF4-FFF2-40B4-BE49-F238E27FC236}">
                <a16:creationId xmlns:a16="http://schemas.microsoft.com/office/drawing/2014/main" id="{826DD873-DB7C-EE89-2C12-8715844F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9313"/>
            <a:ext cx="8682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buFontTx/>
              <a:buNone/>
            </a:pPr>
            <a:r>
              <a:rPr lang="en-US" altLang="en-US" sz="2400" b="0" i="0"/>
              <a:t> Cho ptvp                                                                       .</a:t>
            </a:r>
          </a:p>
        </p:txBody>
      </p:sp>
      <p:graphicFrame>
        <p:nvGraphicFramePr>
          <p:cNvPr id="10269" name="Object 6">
            <a:extLst>
              <a:ext uri="{FF2B5EF4-FFF2-40B4-BE49-F238E27FC236}">
                <a16:creationId xmlns:a16="http://schemas.microsoft.com/office/drawing/2014/main" id="{B5502EE2-55D2-3F2E-0E4F-3E12B73FE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508272"/>
              </p:ext>
            </p:extLst>
          </p:nvPr>
        </p:nvGraphicFramePr>
        <p:xfrm>
          <a:off x="4724400" y="811107"/>
          <a:ext cx="58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83920" imgH="393480" progId="Equation.DSMT4">
                  <p:embed/>
                </p:oleObj>
              </mc:Choice>
              <mc:Fallback>
                <p:oleObj name="Equation" r:id="rId2" imgW="583920" imgH="393480" progId="Equation.DSMT4">
                  <p:embed/>
                  <p:pic>
                    <p:nvPicPr>
                      <p:cNvPr id="10269" name="Object 6">
                        <a:extLst>
                          <a:ext uri="{FF2B5EF4-FFF2-40B4-BE49-F238E27FC236}">
                            <a16:creationId xmlns:a16="http://schemas.microsoft.com/office/drawing/2014/main" id="{B5502EE2-55D2-3F2E-0E4F-3E12B73FE5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811107"/>
                        <a:ext cx="584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AA7C15F-A8F8-55E6-ABAF-AC206B52F5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626391"/>
              </p:ext>
            </p:extLst>
          </p:nvPr>
        </p:nvGraphicFramePr>
        <p:xfrm>
          <a:off x="1770063" y="367620"/>
          <a:ext cx="5181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181480" imgH="431640" progId="Equation.DSMT4">
                  <p:embed/>
                </p:oleObj>
              </mc:Choice>
              <mc:Fallback>
                <p:oleObj name="Equation" r:id="rId4" imgW="5181480" imgH="43164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CAA7C15F-A8F8-55E6-ABAF-AC206B52F5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367620"/>
                        <a:ext cx="5181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8388086-E575-D666-B8ED-B69D94DF6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001364"/>
              </p:ext>
            </p:extLst>
          </p:nvPr>
        </p:nvGraphicFramePr>
        <p:xfrm>
          <a:off x="7375937" y="887438"/>
          <a:ext cx="9398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600" imgH="266400" progId="Equation.DSMT4">
                  <p:embed/>
                </p:oleObj>
              </mc:Choice>
              <mc:Fallback>
                <p:oleObj name="Equation" r:id="rId6" imgW="939600" imgH="2664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A8388086-E575-D666-B8ED-B69D94DF6E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75937" y="887438"/>
                        <a:ext cx="9398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76BE3518-6A5A-DF00-B0B9-7B9D92D6E5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6829904"/>
              </p:ext>
            </p:extLst>
          </p:nvPr>
        </p:nvGraphicFramePr>
        <p:xfrm>
          <a:off x="1881753" y="1718400"/>
          <a:ext cx="33274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27120" imgH="1866600" progId="Equation.DSMT4">
                  <p:embed/>
                </p:oleObj>
              </mc:Choice>
              <mc:Fallback>
                <p:oleObj name="Equation" r:id="rId8" imgW="3327120" imgH="1866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068B94F-4AA6-5F31-D2B5-1A5A84EF9C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81753" y="1718400"/>
                        <a:ext cx="3327400" cy="186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725DD67D-A14A-7BBA-FFCA-676B375306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685648"/>
              </p:ext>
            </p:extLst>
          </p:nvPr>
        </p:nvGraphicFramePr>
        <p:xfrm>
          <a:off x="1881753" y="3873500"/>
          <a:ext cx="31115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11480" imgH="1688760" progId="Equation.DSMT4">
                  <p:embed/>
                </p:oleObj>
              </mc:Choice>
              <mc:Fallback>
                <p:oleObj name="Equation" r:id="rId10" imgW="3111480" imgH="168876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48034C48-64C6-CDE2-6A32-FDD8B443AF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81753" y="3873500"/>
                        <a:ext cx="3111500" cy="168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314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A74EA2-E89B-2A74-A258-3E2D3F4C1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0"/>
            <a:ext cx="8534400" cy="1732763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993B00D-3BC9-C70B-1FC1-B97D441F08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1289277"/>
              </p:ext>
            </p:extLst>
          </p:nvPr>
        </p:nvGraphicFramePr>
        <p:xfrm>
          <a:off x="1881753" y="2023200"/>
          <a:ext cx="33274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27120" imgH="1866600" progId="Equation.DSMT4">
                  <p:embed/>
                </p:oleObj>
              </mc:Choice>
              <mc:Fallback>
                <p:oleObj name="Equation" r:id="rId3" imgW="3327120" imgH="18666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9068B94F-4AA6-5F31-D2B5-1A5A84EF9C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81753" y="2023200"/>
                        <a:ext cx="3327400" cy="186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34B1AC0-3E5D-8A65-C02A-3BABE47DDF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493714"/>
              </p:ext>
            </p:extLst>
          </p:nvPr>
        </p:nvGraphicFramePr>
        <p:xfrm>
          <a:off x="1881753" y="4178300"/>
          <a:ext cx="3111500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11480" imgH="1688760" progId="Equation.DSMT4">
                  <p:embed/>
                </p:oleObj>
              </mc:Choice>
              <mc:Fallback>
                <p:oleObj name="Equation" r:id="rId5" imgW="3111480" imgH="168876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48034C48-64C6-CDE2-6A32-FDD8B443AF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81753" y="4178300"/>
                        <a:ext cx="3111500" cy="168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8920498"/>
      </p:ext>
    </p:extLst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5DF682-3C08-EA74-308A-10B142856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3191"/>
            <a:ext cx="8229600" cy="136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19688"/>
      </p:ext>
    </p:extLst>
  </p:cSld>
  <p:clrMapOvr>
    <a:masterClrMapping/>
  </p:clrMapOvr>
  <p:transition spd="slow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33459</TotalTime>
  <Words>828</Words>
  <Application>Microsoft Office PowerPoint</Application>
  <PresentationFormat>On-screen Show (4:3)</PresentationFormat>
  <Paragraphs>134</Paragraphs>
  <Slides>25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VNI-Revue</vt:lpstr>
      <vt:lpstr>VNI-Times</vt:lpstr>
      <vt:lpstr>Office Theme</vt:lpstr>
      <vt:lpstr>Equation</vt:lpstr>
      <vt:lpstr>MathType 7.0 Equation</vt:lpstr>
      <vt:lpstr>Trường Đại học Bách khoa tp Hồ Chí Minh Bộ môn Toán ứng dụng -------------------------------------------------------------------------------------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CoatsPP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HOÄI NGHÒ CHAÁT LÖÔÏNG LAÀN IV “Naêng suaát-Chaát löôïng chìa khoaù ñeå caïnh tranh vaø hoäi nhaäp” 21/11/01</dc:title>
  <dc:creator>Diem Lan</dc:creator>
  <cp:lastModifiedBy>sy dt</cp:lastModifiedBy>
  <cp:revision>1479</cp:revision>
  <cp:lastPrinted>2001-11-20T08:03:29Z</cp:lastPrinted>
  <dcterms:created xsi:type="dcterms:W3CDTF">2001-11-06T08:45:38Z</dcterms:created>
  <dcterms:modified xsi:type="dcterms:W3CDTF">2023-04-18T02:18:48Z</dcterms:modified>
</cp:coreProperties>
</file>