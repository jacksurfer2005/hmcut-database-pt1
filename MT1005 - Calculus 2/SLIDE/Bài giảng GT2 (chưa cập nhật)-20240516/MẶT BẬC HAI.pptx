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5" r:id="rId4"/>
    <p:sldId id="294" r:id="rId5"/>
    <p:sldId id="306" r:id="rId6"/>
    <p:sldId id="295" r:id="rId7"/>
    <p:sldId id="301" r:id="rId8"/>
    <p:sldId id="338" r:id="rId9"/>
    <p:sldId id="339" r:id="rId10"/>
    <p:sldId id="286" r:id="rId11"/>
    <p:sldId id="261" r:id="rId12"/>
    <p:sldId id="266" r:id="rId13"/>
    <p:sldId id="28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4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10" Type="http://schemas.openxmlformats.org/officeDocument/2006/relationships/image" Target="../media/image18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F802-5D59-441B-8029-2AD8000CD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52D39-09BE-45DB-84C1-C5E923310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9532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>
            <a:extLst>
              <a:ext uri="{FF2B5EF4-FFF2-40B4-BE49-F238E27FC236}">
                <a16:creationId xmlns:a16="http://schemas.microsoft.com/office/drawing/2014/main" id="{DDE7CDAB-0E91-4C84-AADB-424673CA7B4A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967619" y="741214"/>
            <a:ext cx="10353524" cy="0"/>
          </a:xfrm>
          <a:prstGeom prst="line">
            <a:avLst/>
          </a:prstGeom>
          <a:noFill/>
          <a:ln w="28575" algn="ctr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207" y="48490"/>
            <a:ext cx="10361587" cy="658086"/>
          </a:xfrm>
        </p:spPr>
        <p:txBody>
          <a:bodyPr>
            <a:normAutofit/>
          </a:bodyPr>
          <a:lstStyle>
            <a:lvl1pPr algn="ctr">
              <a:defRPr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061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43DD-35C5-42F6-B9EE-35F6203F7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78680-E0DD-4B5B-86F6-9DAF5B12F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3CBFE-B712-4877-BDF4-3DEBDBDFB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8B48B-5C9C-4E96-A29D-3DEA9CCE9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394B6-8145-4059-842E-8C14D614E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6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03455-64A0-47C1-BE60-F1B884A7F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9DB69-3F0E-463F-883F-AEB78E080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2CA76-EC14-4EE0-9565-58E26DBD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CB373-6AEF-43A1-8B88-83DFFE0B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C6D39-5061-4F8C-9E6C-363370C9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4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AA812-7D3A-439A-AFBB-B8091883E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1A7C8-4EC2-4581-9AC6-0181589A3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1A81-9368-469F-81BB-F43434D89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18A12-E49F-411C-B939-124E171EA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ED6A9-3873-4BC2-A3CF-502D5AB7B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19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F114-23E5-4C69-ABCD-8890A1E54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27773-75FA-4F31-9C23-39D4CBB55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970FE-29BF-4DB7-BB8A-38AE5D771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DB568-1FDF-42CF-90EE-330129759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8BC49-8359-4332-A367-64B80DE28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505ED-5A8E-4FF0-90C9-770B5B1C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89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9BB0-B034-4920-9763-9CDAF494F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1E7A0-84B2-4E67-B2B3-F6BB84E7F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62A62-3C88-4A40-8505-127B730F0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791FE9-2AED-4517-970A-1ECED119F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B0563A-7890-424F-A260-231033301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42E43A-959F-44C8-BE2C-79340D5B1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3B47EF-A3F0-400A-B5F5-AE292D08D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FC937-BAA9-46E6-ABEA-2BEA9445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49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04B90-05A2-4A06-976D-C9B628B6E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9D2263-72D1-44BF-9B64-691801A4F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03AD39-CB76-4C94-80F9-3E2CAE2CD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A5223-C7B3-480D-A683-A1D91D3F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263393-DC52-4529-8B97-01B6A7A4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B37CD5-FF9C-4178-9128-D667020B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C55B9-0FE4-48CF-9621-D211E3F1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41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C80A-A509-4751-BCA4-25A6C9CD6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BAB57-E03A-4C3D-83C5-1CA958886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B53AE-5E42-4A89-B1E0-508E15847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C4E21-7F35-4F64-A91D-BC92700BC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4D06F-300D-4072-8615-EA09C9C6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44557-3828-4FD3-B449-22250EF2C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57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76D2-9B95-4EF3-9EBB-952792BB0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B4B0FC-C48F-4A23-AEB7-CBCAA6A073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91942-459B-4CBD-B65C-C925F5E76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797C9-A6CD-425E-8648-3FE0E18CE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61D10-4DD4-485E-9A46-D3428AE14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9F6AE-7A36-48D1-8FE0-7B436880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34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321B6-F509-4B51-9B03-50BB20107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3B83B3-F490-4B26-9F14-BF3B52272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5E912-5813-49B5-9048-D342A0692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5C40A-7748-4D04-AA8C-86F7271CF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1DBC9-8DFB-462B-94F4-3B1C9055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381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038651-C90D-4F6E-8447-331B1DF640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76E14-9A5C-41B4-867F-F01F91A36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C0DB7-D1B2-4FA5-9CD0-9DC61FA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AEF4E-4774-4E31-8D1C-0E93E1648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355A0-2DC2-4219-9C83-D9F95E37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4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6D163-8F86-44EA-B466-F58555511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268BD-A7AC-4DB9-A2FB-F4A888865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E117F-4E45-4EAB-990F-A1B63DF620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4796B-FB72-42F4-8D5C-0D1306B6DC1B}" type="datetimeFigureOut">
              <a:rPr lang="en-US" smtClean="0"/>
              <a:t>1/14/2022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BE27D-1901-4844-A5EC-B4CDF29FA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4D199-F605-4010-ACBC-AF16891C3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87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6.wmf"/><Relationship Id="rId3" Type="http://schemas.openxmlformats.org/officeDocument/2006/relationships/oleObject" Target="../embeddings/oleObject5.bin"/><Relationship Id="rId21" Type="http://schemas.openxmlformats.org/officeDocument/2006/relationships/oleObject" Target="../embeddings/oleObject14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wmf"/><Relationship Id="rId20" Type="http://schemas.openxmlformats.org/officeDocument/2006/relationships/image" Target="../media/image17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12.wmf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4.wmf"/><Relationship Id="rId22" Type="http://schemas.openxmlformats.org/officeDocument/2006/relationships/image" Target="../media/image1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4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8.png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png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2.png"/><Relationship Id="rId4" Type="http://schemas.openxmlformats.org/officeDocument/2006/relationships/image" Target="../media/image31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548DA4-692C-4CD7-AC0C-01FC27B27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3488"/>
            <a:ext cx="9144000" cy="2387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MẶT BẬC HAI</a:t>
            </a:r>
            <a:br>
              <a:rPr lang="en-US" dirty="0"/>
            </a:b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(Quadratic surfaces)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15710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BDFA380E-AC7D-4B03-98FE-04EB727ACF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nghĩa</a:t>
            </a:r>
            <a:r>
              <a:rPr lang="en-US" altLang="en-US" dirty="0"/>
              <a:t> </a:t>
            </a:r>
            <a:r>
              <a:rPr lang="en-US" altLang="en-US" dirty="0" err="1"/>
              <a:t>mặt</a:t>
            </a:r>
            <a:r>
              <a:rPr lang="en-US" altLang="en-US" dirty="0"/>
              <a:t> </a:t>
            </a:r>
            <a:r>
              <a:rPr lang="en-US" altLang="en-US" dirty="0" err="1"/>
              <a:t>bậc</a:t>
            </a:r>
            <a:r>
              <a:rPr lang="en-US" altLang="en-US" dirty="0"/>
              <a:t> 2</a:t>
            </a:r>
          </a:p>
        </p:txBody>
      </p:sp>
      <p:sp>
        <p:nvSpPr>
          <p:cNvPr id="9219" name="Text Box 6">
            <a:extLst>
              <a:ext uri="{FF2B5EF4-FFF2-40B4-BE49-F238E27FC236}">
                <a16:creationId xmlns:a16="http://schemas.microsoft.com/office/drawing/2014/main" id="{FEA97153-4D6C-4A27-B5D2-29B8CFC0E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207" y="1028847"/>
            <a:ext cx="5006109" cy="488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Phương trình tổng quát  của mặt bậc 2:</a:t>
            </a:r>
          </a:p>
        </p:txBody>
      </p:sp>
      <p:sp>
        <p:nvSpPr>
          <p:cNvPr id="9220" name="Text Box 8">
            <a:extLst>
              <a:ext uri="{FF2B5EF4-FFF2-40B4-BE49-F238E27FC236}">
                <a16:creationId xmlns:a16="http://schemas.microsoft.com/office/drawing/2014/main" id="{6D10A793-0F46-411E-8F24-02688CA8F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231" y="2763929"/>
            <a:ext cx="535274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trong  đó ít nhất 1 số hạng bậc 2 phải khác 0.</a:t>
            </a:r>
          </a:p>
        </p:txBody>
      </p:sp>
      <p:sp>
        <p:nvSpPr>
          <p:cNvPr id="9221" name="TextBox 5">
            <a:extLst>
              <a:ext uri="{FF2B5EF4-FFF2-40B4-BE49-F238E27FC236}">
                <a16:creationId xmlns:a16="http://schemas.microsoft.com/office/drawing/2014/main" id="{3DA1B925-529F-4B8A-B284-3FD8E9D16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147" y="3846678"/>
            <a:ext cx="197041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 chính tắc:</a:t>
            </a:r>
          </a:p>
        </p:txBody>
      </p:sp>
      <p:graphicFrame>
        <p:nvGraphicFramePr>
          <p:cNvPr id="9222" name="Object 6">
            <a:extLst>
              <a:ext uri="{FF2B5EF4-FFF2-40B4-BE49-F238E27FC236}">
                <a16:creationId xmlns:a16="http://schemas.microsoft.com/office/drawing/2014/main" id="{EA560123-70C7-41B8-833B-7D5B61637F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5142090"/>
              </p:ext>
            </p:extLst>
          </p:nvPr>
        </p:nvGraphicFramePr>
        <p:xfrm>
          <a:off x="3121874" y="3885700"/>
          <a:ext cx="6287979" cy="391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8369300" imgH="520700" progId="Equation.DSMT4">
                  <p:embed/>
                </p:oleObj>
              </mc:Choice>
              <mc:Fallback>
                <p:oleObj name="Equation" r:id="rId3" imgW="8369300" imgH="520700" progId="Equation.DSMT4">
                  <p:embed/>
                  <p:pic>
                    <p:nvPicPr>
                      <p:cNvPr id="9222" name="Object 6">
                        <a:extLst>
                          <a:ext uri="{FF2B5EF4-FFF2-40B4-BE49-F238E27FC236}">
                            <a16:creationId xmlns:a16="http://schemas.microsoft.com/office/drawing/2014/main" id="{EA560123-70C7-41B8-833B-7D5B61637F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1874" y="3885700"/>
                        <a:ext cx="6287979" cy="391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Box 7">
            <a:extLst>
              <a:ext uri="{FF2B5EF4-FFF2-40B4-BE49-F238E27FC236}">
                <a16:creationId xmlns:a16="http://schemas.microsoft.com/office/drawing/2014/main" id="{8178755C-EB8C-46AD-B63E-B86AD0FC1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2558" y="4649588"/>
            <a:ext cx="535274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Hoặc chỉ còn lại 2 biến như các đường Conic.</a:t>
            </a:r>
          </a:p>
        </p:txBody>
      </p:sp>
      <p:graphicFrame>
        <p:nvGraphicFramePr>
          <p:cNvPr id="9224" name="Object 9">
            <a:extLst>
              <a:ext uri="{FF2B5EF4-FFF2-40B4-BE49-F238E27FC236}">
                <a16:creationId xmlns:a16="http://schemas.microsoft.com/office/drawing/2014/main" id="{0A3A6376-E79C-46D2-A4AF-69BC8A8F4D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526585"/>
              </p:ext>
            </p:extLst>
          </p:nvPr>
        </p:nvGraphicFramePr>
        <p:xfrm>
          <a:off x="1730231" y="1960902"/>
          <a:ext cx="72580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8051760" imgH="457200" progId="Equation.DSMT4">
                  <p:embed/>
                </p:oleObj>
              </mc:Choice>
              <mc:Fallback>
                <p:oleObj name="Equation" r:id="rId5" imgW="8051760" imgH="457200" progId="Equation.DSMT4">
                  <p:embed/>
                  <p:pic>
                    <p:nvPicPr>
                      <p:cNvPr id="9224" name="Object 9">
                        <a:extLst>
                          <a:ext uri="{FF2B5EF4-FFF2-40B4-BE49-F238E27FC236}">
                            <a16:creationId xmlns:a16="http://schemas.microsoft.com/office/drawing/2014/main" id="{0A3A6376-E79C-46D2-A4AF-69BC8A8F4D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231" y="1960902"/>
                        <a:ext cx="725805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/>
      <p:bldP spid="9220" grpId="0"/>
      <p:bldP spid="9221" grpId="0"/>
      <p:bldP spid="92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D1EEBAFB-7EF2-4F57-BAA8-B96D4EECCB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5 loại mặt bậc 2 c</a:t>
            </a:r>
            <a:r>
              <a:rPr lang="vi-VN" altLang="en-US"/>
              <a:t>ơ</a:t>
            </a:r>
            <a:r>
              <a:rPr lang="en-US" altLang="en-US"/>
              <a:t> bản</a:t>
            </a:r>
          </a:p>
        </p:txBody>
      </p:sp>
      <p:sp>
        <p:nvSpPr>
          <p:cNvPr id="12291" name="TextBox 2">
            <a:extLst>
              <a:ext uri="{FF2B5EF4-FFF2-40B4-BE49-F238E27FC236}">
                <a16:creationId xmlns:a16="http://schemas.microsoft.com/office/drawing/2014/main" id="{FA2BAD2D-6557-41E6-BB01-02A1176CD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207" y="1016434"/>
            <a:ext cx="5731164" cy="2570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Ellipsoid </a:t>
            </a: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Cầu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Paraboloid (elliptic/ hyperbolic)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Hyperboloid (1 tầng / 2 tầng)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Nón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Trụ (elliptic/hyperbolic/parabolic)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E4E785-A78A-408D-B930-62E71A5F2AD2}"/>
              </a:ext>
            </a:extLst>
          </p:cNvPr>
          <p:cNvSpPr txBox="1"/>
          <p:nvPr/>
        </p:nvSpPr>
        <p:spPr>
          <a:xfrm>
            <a:off x="915206" y="3999346"/>
            <a:ext cx="10361587" cy="539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tọa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C9AC1036-24E7-4E6C-ABBD-521F95B53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Cách gọi tên các mặt chính tắc</a:t>
            </a:r>
          </a:p>
        </p:txBody>
      </p:sp>
      <p:grpSp>
        <p:nvGrpSpPr>
          <p:cNvPr id="13315" name="Group 13">
            <a:extLst>
              <a:ext uri="{FF2B5EF4-FFF2-40B4-BE49-F238E27FC236}">
                <a16:creationId xmlns:a16="http://schemas.microsoft.com/office/drawing/2014/main" id="{5860369E-3E48-4B81-8619-5F9D2C7F035C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990600"/>
            <a:ext cx="5867400" cy="3352800"/>
            <a:chOff x="624" y="1056"/>
            <a:chExt cx="4560" cy="2883"/>
          </a:xfrm>
        </p:grpSpPr>
        <p:pic>
          <p:nvPicPr>
            <p:cNvPr id="13318" name="Picture 14">
              <a:extLst>
                <a:ext uri="{FF2B5EF4-FFF2-40B4-BE49-F238E27FC236}">
                  <a16:creationId xmlns:a16="http://schemas.microsoft.com/office/drawing/2014/main" id="{3CBEB0F0-A5A3-4D59-8C40-E9B406D3F2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1056"/>
              <a:ext cx="4560" cy="28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9" name="Line 15">
              <a:extLst>
                <a:ext uri="{FF2B5EF4-FFF2-40B4-BE49-F238E27FC236}">
                  <a16:creationId xmlns:a16="http://schemas.microsoft.com/office/drawing/2014/main" id="{56B5C134-C417-4CB3-852C-77D94D9EA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3" y="1296"/>
              <a:ext cx="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0" name="Line 16">
              <a:extLst>
                <a:ext uri="{FF2B5EF4-FFF2-40B4-BE49-F238E27FC236}">
                  <a16:creationId xmlns:a16="http://schemas.microsoft.com/office/drawing/2014/main" id="{CFC969F6-434F-4320-9D21-16147FC23B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496"/>
              <a:ext cx="1392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1" name="Line 17">
              <a:extLst>
                <a:ext uri="{FF2B5EF4-FFF2-40B4-BE49-F238E27FC236}">
                  <a16:creationId xmlns:a16="http://schemas.microsoft.com/office/drawing/2014/main" id="{6357D1E3-0C52-4BA4-AB51-92B7E94BAC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2496"/>
              <a:ext cx="1056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Oval 18">
              <a:extLst>
                <a:ext uri="{FF2B5EF4-FFF2-40B4-BE49-F238E27FC236}">
                  <a16:creationId xmlns:a16="http://schemas.microsoft.com/office/drawing/2014/main" id="{5BF9BFAB-CD1A-4BA6-B637-6F30B6424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811"/>
              <a:ext cx="816" cy="136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23" name="Oval 19">
              <a:extLst>
                <a:ext uri="{FF2B5EF4-FFF2-40B4-BE49-F238E27FC236}">
                  <a16:creationId xmlns:a16="http://schemas.microsoft.com/office/drawing/2014/main" id="{CA833D5F-DD33-40D2-A2FD-73BAE62880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0578741">
              <a:off x="1827" y="2303"/>
              <a:ext cx="2160" cy="384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3316" name="Object 5">
            <a:extLst>
              <a:ext uri="{FF2B5EF4-FFF2-40B4-BE49-F238E27FC236}">
                <a16:creationId xmlns:a16="http://schemas.microsoft.com/office/drawing/2014/main" id="{0359CD06-793F-47DD-8D11-112975B059A9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9582950"/>
              </p:ext>
            </p:extLst>
          </p:nvPr>
        </p:nvGraphicFramePr>
        <p:xfrm>
          <a:off x="3275898" y="4333124"/>
          <a:ext cx="2163580" cy="858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2400300" imgH="952500" progId="Equation.DSMT4">
                  <p:embed/>
                </p:oleObj>
              </mc:Choice>
              <mc:Fallback>
                <p:oleObj name="Equation" r:id="rId4" imgW="2400300" imgH="952500" progId="Equation.DSMT4">
                  <p:embed/>
                  <p:pic>
                    <p:nvPicPr>
                      <p:cNvPr id="13316" name="Object 5">
                        <a:extLst>
                          <a:ext uri="{FF2B5EF4-FFF2-40B4-BE49-F238E27FC236}">
                            <a16:creationId xmlns:a16="http://schemas.microsoft.com/office/drawing/2014/main" id="{0359CD06-793F-47DD-8D11-112975B059A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98" y="4333124"/>
                        <a:ext cx="2163580" cy="8587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Text Box 13">
            <a:extLst>
              <a:ext uri="{FF2B5EF4-FFF2-40B4-BE49-F238E27FC236}">
                <a16:creationId xmlns:a16="http://schemas.microsoft.com/office/drawing/2014/main" id="{6660BFED-3B54-4CCC-A460-4830E66E4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6092" y="4552195"/>
            <a:ext cx="1447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Ellipsoid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0D61EFA8-ECEB-4062-9C2A-B2E1B7E6D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err="1"/>
              <a:t>Cách</a:t>
            </a:r>
            <a:r>
              <a:rPr lang="en-US" altLang="en-US" dirty="0"/>
              <a:t> </a:t>
            </a:r>
            <a:r>
              <a:rPr lang="en-US" altLang="en-US" dirty="0" err="1"/>
              <a:t>gọi</a:t>
            </a:r>
            <a:r>
              <a:rPr lang="en-US" altLang="en-US" dirty="0"/>
              <a:t> </a:t>
            </a:r>
            <a:r>
              <a:rPr lang="en-US" altLang="en-US" dirty="0" err="1"/>
              <a:t>tên</a:t>
            </a:r>
            <a:r>
              <a:rPr lang="en-US" altLang="en-US" dirty="0"/>
              <a:t> </a:t>
            </a:r>
            <a:r>
              <a:rPr lang="en-US" altLang="en-US" dirty="0" err="1"/>
              <a:t>mặt</a:t>
            </a:r>
            <a:r>
              <a:rPr lang="en-US" altLang="en-US" dirty="0"/>
              <a:t> </a:t>
            </a:r>
            <a:r>
              <a:rPr lang="en-US" altLang="en-US" dirty="0" err="1"/>
              <a:t>bậc</a:t>
            </a:r>
            <a:r>
              <a:rPr lang="en-US" altLang="en-US" dirty="0"/>
              <a:t> 2 </a:t>
            </a:r>
            <a:r>
              <a:rPr lang="en-US" altLang="en-US" dirty="0" err="1"/>
              <a:t>chính</a:t>
            </a:r>
            <a:r>
              <a:rPr lang="en-US" altLang="en-US" dirty="0"/>
              <a:t> </a:t>
            </a:r>
            <a:r>
              <a:rPr lang="en-US" altLang="en-US" dirty="0" err="1"/>
              <a:t>tắc</a:t>
            </a:r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9AE235-A5DF-4B4A-8059-AB4A3782A5D7}"/>
              </a:ext>
            </a:extLst>
          </p:cNvPr>
          <p:cNvSpPr txBox="1"/>
          <p:nvPr/>
        </p:nvSpPr>
        <p:spPr>
          <a:xfrm>
            <a:off x="1006763" y="908051"/>
            <a:ext cx="10361587" cy="3794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39725" indent="-339725">
              <a:lnSpc>
                <a:spcPts val="4200"/>
              </a:lnSpc>
              <a:buFont typeface="+mj-lt"/>
              <a:buAutoNum type="arabicPeriod"/>
              <a:defRPr/>
            </a:pP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endParaRPr lang="en-US" sz="2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9725" lvl="1" indent="-339725">
              <a:lnSpc>
                <a:spcPts val="4200"/>
              </a:lnSpc>
              <a:buFont typeface="+mj-lt"/>
              <a:buAutoNum type="alphaLcParenR"/>
              <a:defRPr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39725" lvl="1" indent="-339725">
              <a:lnSpc>
                <a:spcPts val="4200"/>
              </a:lnSpc>
              <a:buFont typeface="+mj-lt"/>
              <a:buAutoNum type="alphaLcParenR"/>
              <a:defRPr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đ</a:t>
            </a: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ellipse : ellipsoid</a:t>
            </a:r>
          </a:p>
          <a:p>
            <a:pPr marL="339725" lvl="1" indent="-339725">
              <a:lnSpc>
                <a:spcPts val="4200"/>
              </a:lnSpc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đ</a:t>
            </a: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parabol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paraboloid,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(elliptic/hyperbolic).</a:t>
            </a:r>
          </a:p>
          <a:p>
            <a:pPr marL="339725" lvl="1">
              <a:lnSpc>
                <a:spcPts val="4200"/>
              </a:lnSpc>
              <a:defRPr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đ</a:t>
            </a: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hyperbol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hyperboloid (1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2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39725" indent="-339725">
              <a:lnSpc>
                <a:spcPts val="4200"/>
              </a:lnSpc>
              <a:buFont typeface="+mj-lt"/>
              <a:buAutoNum type="arabicPeriod"/>
              <a:defRPr/>
            </a:pP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2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4">
            <a:extLst>
              <a:ext uri="{FF2B5EF4-FFF2-40B4-BE49-F238E27FC236}">
                <a16:creationId xmlns:a16="http://schemas.microsoft.com/office/drawing/2014/main" id="{9D8F3DC7-CE32-4102-B21B-EEFB429E6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802819"/>
              </p:ext>
            </p:extLst>
          </p:nvPr>
        </p:nvGraphicFramePr>
        <p:xfrm>
          <a:off x="1026903" y="986278"/>
          <a:ext cx="1600620" cy="84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1943100" imgH="1028700" progId="Equation.DSMT4">
                  <p:embed/>
                </p:oleObj>
              </mc:Choice>
              <mc:Fallback>
                <p:oleObj name="Equation" r:id="rId3" imgW="1943100" imgH="1028700" progId="Equation.DSMT4">
                  <p:embed/>
                  <p:pic>
                    <p:nvPicPr>
                      <p:cNvPr id="16386" name="Object 4">
                        <a:extLst>
                          <a:ext uri="{FF2B5EF4-FFF2-40B4-BE49-F238E27FC236}">
                            <a16:creationId xmlns:a16="http://schemas.microsoft.com/office/drawing/2014/main" id="{9D8F3DC7-CE32-4102-B21B-EEFB429E6B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6903" y="986278"/>
                        <a:ext cx="1600620" cy="84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0C17BCA0-470A-4566-9054-8CA0EB4ED872}"/>
              </a:ext>
            </a:extLst>
          </p:cNvPr>
          <p:cNvGrpSpPr/>
          <p:nvPr/>
        </p:nvGrpSpPr>
        <p:grpSpPr>
          <a:xfrm>
            <a:off x="3664435" y="1250774"/>
            <a:ext cx="6612396" cy="2519008"/>
            <a:chOff x="3664435" y="1250774"/>
            <a:chExt cx="6612396" cy="2519008"/>
          </a:xfrm>
        </p:grpSpPr>
        <p:pic>
          <p:nvPicPr>
            <p:cNvPr id="16387" name="Picture 2">
              <a:extLst>
                <a:ext uri="{FF2B5EF4-FFF2-40B4-BE49-F238E27FC236}">
                  <a16:creationId xmlns:a16="http://schemas.microsoft.com/office/drawing/2014/main" id="{D4068EFD-675D-4208-B201-03119E0342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4435" y="1250774"/>
              <a:ext cx="6612396" cy="2519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6390" name="Straight Arrow Connector 9">
              <a:extLst>
                <a:ext uri="{FF2B5EF4-FFF2-40B4-BE49-F238E27FC236}">
                  <a16:creationId xmlns:a16="http://schemas.microsoft.com/office/drawing/2014/main" id="{E03C6848-26EC-41C9-AEA4-ACEA261A31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961397" y="1545713"/>
              <a:ext cx="0" cy="503802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391" name="Straight Connector 12">
              <a:extLst>
                <a:ext uri="{FF2B5EF4-FFF2-40B4-BE49-F238E27FC236}">
                  <a16:creationId xmlns:a16="http://schemas.microsoft.com/office/drawing/2014/main" id="{D5153FB6-7BCE-409F-A06B-4EED7C7E5F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61397" y="1970589"/>
              <a:ext cx="0" cy="50380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15F9AFA1-38BB-4B66-9FC4-2ACDAFCF3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kern="0" dirty="0" err="1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Cách</a:t>
            </a:r>
            <a:r>
              <a:rPr lang="en-US" kern="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kern="0" dirty="0" err="1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gọi</a:t>
            </a:r>
            <a:r>
              <a:rPr lang="en-US" kern="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kern="0" dirty="0" err="1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tên</a:t>
            </a:r>
            <a:r>
              <a:rPr lang="en-US" kern="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kern="0" dirty="0" err="1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các</a:t>
            </a:r>
            <a:r>
              <a:rPr lang="en-US" kern="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kern="0" dirty="0" err="1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mặt</a:t>
            </a:r>
            <a:r>
              <a:rPr lang="en-US" kern="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kern="0" dirty="0" err="1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chính</a:t>
            </a:r>
            <a:r>
              <a:rPr lang="en-US" kern="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kern="0" dirty="0" err="1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tắc</a:t>
            </a:r>
            <a:endParaRPr lang="en-US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1D69D15-748F-483E-8055-B55575416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641" y="3894738"/>
            <a:ext cx="6811818" cy="1928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9">
            <a:extLst>
              <a:ext uri="{FF2B5EF4-FFF2-40B4-BE49-F238E27FC236}">
                <a16:creationId xmlns:a16="http://schemas.microsoft.com/office/drawing/2014/main" id="{897F72F9-EE98-404E-8DB2-259145AED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672" y="4981112"/>
            <a:ext cx="27478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Paraboloid Hyperbolic</a:t>
            </a:r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2E19CC0E-FA2A-4A63-BCE8-92684935F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571" y="2610644"/>
            <a:ext cx="3314070" cy="231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DA43EF-361C-4482-9E84-A27BFD8E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Cách</a:t>
            </a:r>
            <a:r>
              <a:rPr lang="en-US" altLang="en-US" dirty="0"/>
              <a:t> </a:t>
            </a:r>
            <a:r>
              <a:rPr lang="en-US" altLang="en-US" dirty="0" err="1"/>
              <a:t>gọi</a:t>
            </a:r>
            <a:r>
              <a:rPr lang="en-US" altLang="en-US" dirty="0"/>
              <a:t> </a:t>
            </a:r>
            <a:r>
              <a:rPr lang="en-US" altLang="en-US" dirty="0" err="1"/>
              <a:t>tên</a:t>
            </a:r>
            <a:r>
              <a:rPr lang="en-US" altLang="en-US" dirty="0"/>
              <a:t> </a:t>
            </a:r>
            <a:r>
              <a:rPr lang="en-US" altLang="en-US" dirty="0" err="1"/>
              <a:t>mặt</a:t>
            </a:r>
            <a:r>
              <a:rPr lang="en-US" altLang="en-US" dirty="0"/>
              <a:t> </a:t>
            </a:r>
            <a:r>
              <a:rPr lang="en-US" altLang="en-US" dirty="0" err="1"/>
              <a:t>bậc</a:t>
            </a:r>
            <a:r>
              <a:rPr lang="en-US" altLang="en-US" dirty="0"/>
              <a:t> 2 </a:t>
            </a:r>
            <a:r>
              <a:rPr lang="en-US" altLang="en-US" dirty="0" err="1"/>
              <a:t>chính</a:t>
            </a:r>
            <a:r>
              <a:rPr lang="en-US" altLang="en-US" dirty="0"/>
              <a:t> </a:t>
            </a:r>
            <a:r>
              <a:rPr lang="en-US" altLang="en-US" dirty="0" err="1"/>
              <a:t>tắc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574E6FAD-5A37-4DBD-9625-63A415C74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Phần 2 – NHẬN DẠNG MẶT BẬC 2</a:t>
            </a:r>
          </a:p>
        </p:txBody>
      </p:sp>
      <p:graphicFrame>
        <p:nvGraphicFramePr>
          <p:cNvPr id="13315" name="Object 5">
            <a:extLst>
              <a:ext uri="{FF2B5EF4-FFF2-40B4-BE49-F238E27FC236}">
                <a16:creationId xmlns:a16="http://schemas.microsoft.com/office/drawing/2014/main" id="{3D188A79-59EE-4D8D-86B7-B7178A7F35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137156"/>
              </p:ext>
            </p:extLst>
          </p:nvPr>
        </p:nvGraphicFramePr>
        <p:xfrm>
          <a:off x="1098841" y="1150938"/>
          <a:ext cx="19208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2400300" imgH="952500" progId="Equation.DSMT4">
                  <p:embed/>
                </p:oleObj>
              </mc:Choice>
              <mc:Fallback>
                <p:oleObj name="Equation" r:id="rId3" imgW="2400300" imgH="952500" progId="Equation.DSMT4">
                  <p:embed/>
                  <p:pic>
                    <p:nvPicPr>
                      <p:cNvPr id="13315" name="Object 5">
                        <a:extLst>
                          <a:ext uri="{FF2B5EF4-FFF2-40B4-BE49-F238E27FC236}">
                            <a16:creationId xmlns:a16="http://schemas.microsoft.com/office/drawing/2014/main" id="{3D188A79-59EE-4D8D-86B7-B7178A7F35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841" y="1150938"/>
                        <a:ext cx="19208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7">
            <a:extLst>
              <a:ext uri="{FF2B5EF4-FFF2-40B4-BE49-F238E27FC236}">
                <a16:creationId xmlns:a16="http://schemas.microsoft.com/office/drawing/2014/main" id="{449E353A-B9CF-489D-9DE2-CAEE98CD2F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24821"/>
              </p:ext>
            </p:extLst>
          </p:nvPr>
        </p:nvGraphicFramePr>
        <p:xfrm>
          <a:off x="1098840" y="2392364"/>
          <a:ext cx="20018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2501900" imgH="495300" progId="Equation.DSMT4">
                  <p:embed/>
                </p:oleObj>
              </mc:Choice>
              <mc:Fallback>
                <p:oleObj name="Equation" r:id="rId5" imgW="2501900" imgH="495300" progId="Equation.DSMT4">
                  <p:embed/>
                  <p:pic>
                    <p:nvPicPr>
                      <p:cNvPr id="13316" name="Object 7">
                        <a:extLst>
                          <a:ext uri="{FF2B5EF4-FFF2-40B4-BE49-F238E27FC236}">
                            <a16:creationId xmlns:a16="http://schemas.microsoft.com/office/drawing/2014/main" id="{449E353A-B9CF-489D-9DE2-CAEE98CD2F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840" y="2392364"/>
                        <a:ext cx="2001838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9">
            <a:extLst>
              <a:ext uri="{FF2B5EF4-FFF2-40B4-BE49-F238E27FC236}">
                <a16:creationId xmlns:a16="http://schemas.microsoft.com/office/drawing/2014/main" id="{058E7CA1-BEFE-4A81-986F-CF86152249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905045"/>
              </p:ext>
            </p:extLst>
          </p:nvPr>
        </p:nvGraphicFramePr>
        <p:xfrm>
          <a:off x="1038515" y="4419600"/>
          <a:ext cx="21034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2628900" imgH="952500" progId="Equation.DSMT4">
                  <p:embed/>
                </p:oleObj>
              </mc:Choice>
              <mc:Fallback>
                <p:oleObj name="Equation" r:id="rId7" imgW="2628900" imgH="952500" progId="Equation.DSMT4">
                  <p:embed/>
                  <p:pic>
                    <p:nvPicPr>
                      <p:cNvPr id="13317" name="Object 9">
                        <a:extLst>
                          <a:ext uri="{FF2B5EF4-FFF2-40B4-BE49-F238E27FC236}">
                            <a16:creationId xmlns:a16="http://schemas.microsoft.com/office/drawing/2014/main" id="{058E7CA1-BEFE-4A81-986F-CF86152249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515" y="4419600"/>
                        <a:ext cx="21034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10">
            <a:extLst>
              <a:ext uri="{FF2B5EF4-FFF2-40B4-BE49-F238E27FC236}">
                <a16:creationId xmlns:a16="http://schemas.microsoft.com/office/drawing/2014/main" id="{B43CEE59-E809-4465-8FDC-3BADE9A218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029746"/>
              </p:ext>
            </p:extLst>
          </p:nvPr>
        </p:nvGraphicFramePr>
        <p:xfrm>
          <a:off x="1032166" y="3124200"/>
          <a:ext cx="19208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2400300" imgH="952500" progId="Equation.DSMT4">
                  <p:embed/>
                </p:oleObj>
              </mc:Choice>
              <mc:Fallback>
                <p:oleObj name="Equation" r:id="rId9" imgW="2400300" imgH="952500" progId="Equation.DSMT4">
                  <p:embed/>
                  <p:pic>
                    <p:nvPicPr>
                      <p:cNvPr id="13318" name="Object 10">
                        <a:extLst>
                          <a:ext uri="{FF2B5EF4-FFF2-40B4-BE49-F238E27FC236}">
                            <a16:creationId xmlns:a16="http://schemas.microsoft.com/office/drawing/2014/main" id="{B43CEE59-E809-4465-8FDC-3BADE9A218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166" y="3124200"/>
                        <a:ext cx="19208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4">
            <a:extLst>
              <a:ext uri="{FF2B5EF4-FFF2-40B4-BE49-F238E27FC236}">
                <a16:creationId xmlns:a16="http://schemas.microsoft.com/office/drawing/2014/main" id="{93741422-419E-4AFF-97C7-7B14C57433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735698"/>
              </p:ext>
            </p:extLst>
          </p:nvPr>
        </p:nvGraphicFramePr>
        <p:xfrm>
          <a:off x="1108365" y="5765801"/>
          <a:ext cx="190023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2374900" imgH="939800" progId="Equation.DSMT4">
                  <p:embed/>
                </p:oleObj>
              </mc:Choice>
              <mc:Fallback>
                <p:oleObj name="Equation" r:id="rId11" imgW="2374900" imgH="939800" progId="Equation.DSMT4">
                  <p:embed/>
                  <p:pic>
                    <p:nvPicPr>
                      <p:cNvPr id="13319" name="Object 4">
                        <a:extLst>
                          <a:ext uri="{FF2B5EF4-FFF2-40B4-BE49-F238E27FC236}">
                            <a16:creationId xmlns:a16="http://schemas.microsoft.com/office/drawing/2014/main" id="{93741422-419E-4AFF-97C7-7B14C57433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365" y="5765801"/>
                        <a:ext cx="190023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8">
            <a:extLst>
              <a:ext uri="{FF2B5EF4-FFF2-40B4-BE49-F238E27FC236}">
                <a16:creationId xmlns:a16="http://schemas.microsoft.com/office/drawing/2014/main" id="{1AD3E98A-67C1-4D69-8251-C84B45428A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0625" y="1066800"/>
          <a:ext cx="1930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2413000" imgH="952500" progId="Equation.DSMT4">
                  <p:embed/>
                </p:oleObj>
              </mc:Choice>
              <mc:Fallback>
                <p:oleObj name="Equation" r:id="rId13" imgW="2413000" imgH="952500" progId="Equation.DSMT4">
                  <p:embed/>
                  <p:pic>
                    <p:nvPicPr>
                      <p:cNvPr id="13320" name="Object 8">
                        <a:extLst>
                          <a:ext uri="{FF2B5EF4-FFF2-40B4-BE49-F238E27FC236}">
                            <a16:creationId xmlns:a16="http://schemas.microsoft.com/office/drawing/2014/main" id="{1AD3E98A-67C1-4D69-8251-C84B45428A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25" y="1066800"/>
                        <a:ext cx="1930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9">
            <a:extLst>
              <a:ext uri="{FF2B5EF4-FFF2-40B4-BE49-F238E27FC236}">
                <a16:creationId xmlns:a16="http://schemas.microsoft.com/office/drawing/2014/main" id="{6A6EEA4B-8871-4E79-8845-2B348E234C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9200" y="2438400"/>
          <a:ext cx="1930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15" imgW="2413000" imgH="952500" progId="Equation.DSMT4">
                  <p:embed/>
                </p:oleObj>
              </mc:Choice>
              <mc:Fallback>
                <p:oleObj name="Equation" r:id="rId15" imgW="2413000" imgH="952500" progId="Equation.DSMT4">
                  <p:embed/>
                  <p:pic>
                    <p:nvPicPr>
                      <p:cNvPr id="13321" name="Object 9">
                        <a:extLst>
                          <a:ext uri="{FF2B5EF4-FFF2-40B4-BE49-F238E27FC236}">
                            <a16:creationId xmlns:a16="http://schemas.microsoft.com/office/drawing/2014/main" id="{6A6EEA4B-8871-4E79-8845-2B348E234C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2438400"/>
                        <a:ext cx="19304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>
            <a:extLst>
              <a:ext uri="{FF2B5EF4-FFF2-40B4-BE49-F238E27FC236}">
                <a16:creationId xmlns:a16="http://schemas.microsoft.com/office/drawing/2014/main" id="{6E600618-8DA2-4BBB-96B7-7019BAA7DB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6351" y="6248400"/>
          <a:ext cx="145256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7" imgW="1815312" imgH="495085" progId="Equation.DSMT4">
                  <p:embed/>
                </p:oleObj>
              </mc:Choice>
              <mc:Fallback>
                <p:oleObj name="Equation" r:id="rId17" imgW="1815312" imgH="495085" progId="Equation.DSMT4">
                  <p:embed/>
                  <p:pic>
                    <p:nvPicPr>
                      <p:cNvPr id="13322" name="Object 10">
                        <a:extLst>
                          <a:ext uri="{FF2B5EF4-FFF2-40B4-BE49-F238E27FC236}">
                            <a16:creationId xmlns:a16="http://schemas.microsoft.com/office/drawing/2014/main" id="{6E600618-8DA2-4BBB-96B7-7019BAA7DB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351" y="6248400"/>
                        <a:ext cx="145256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12">
            <a:extLst>
              <a:ext uri="{FF2B5EF4-FFF2-40B4-BE49-F238E27FC236}">
                <a16:creationId xmlns:a16="http://schemas.microsoft.com/office/drawing/2014/main" id="{9AF0A0A3-5280-4A65-A5B4-002A44BF2D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0639" y="4038600"/>
          <a:ext cx="134143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19" imgW="1676400" imgH="952500" progId="Equation.DSMT4">
                  <p:embed/>
                </p:oleObj>
              </mc:Choice>
              <mc:Fallback>
                <p:oleObj name="Equation" r:id="rId19" imgW="1676400" imgH="952500" progId="Equation.DSMT4">
                  <p:embed/>
                  <p:pic>
                    <p:nvPicPr>
                      <p:cNvPr id="13323" name="Object 12">
                        <a:extLst>
                          <a:ext uri="{FF2B5EF4-FFF2-40B4-BE49-F238E27FC236}">
                            <a16:creationId xmlns:a16="http://schemas.microsoft.com/office/drawing/2014/main" id="{9AF0A0A3-5280-4A65-A5B4-002A44BF2D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0639" y="4038600"/>
                        <a:ext cx="1341437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4" name="Object 13">
            <a:extLst>
              <a:ext uri="{FF2B5EF4-FFF2-40B4-BE49-F238E27FC236}">
                <a16:creationId xmlns:a16="http://schemas.microsoft.com/office/drawing/2014/main" id="{3F120E5B-09FC-4F2A-89DE-2258B58B6F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5105400"/>
          <a:ext cx="13414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21" imgW="1676400" imgH="952500" progId="Equation.DSMT4">
                  <p:embed/>
                </p:oleObj>
              </mc:Choice>
              <mc:Fallback>
                <p:oleObj name="Equation" r:id="rId21" imgW="1676400" imgH="952500" progId="Equation.DSMT4">
                  <p:embed/>
                  <p:pic>
                    <p:nvPicPr>
                      <p:cNvPr id="13324" name="Object 13">
                        <a:extLst>
                          <a:ext uri="{FF2B5EF4-FFF2-40B4-BE49-F238E27FC236}">
                            <a16:creationId xmlns:a16="http://schemas.microsoft.com/office/drawing/2014/main" id="{3F120E5B-09FC-4F2A-89DE-2258B58B6F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5105400"/>
                        <a:ext cx="13414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Text Box 13">
            <a:extLst>
              <a:ext uri="{FF2B5EF4-FFF2-40B4-BE49-F238E27FC236}">
                <a16:creationId xmlns:a16="http://schemas.microsoft.com/office/drawing/2014/main" id="{507D2812-F743-4ED9-8E94-5E8D24EE3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7277" y="1346607"/>
            <a:ext cx="1752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Ellipsoid</a:t>
            </a:r>
          </a:p>
        </p:txBody>
      </p:sp>
      <p:sp>
        <p:nvSpPr>
          <p:cNvPr id="13326" name="Text Box 14">
            <a:extLst>
              <a:ext uri="{FF2B5EF4-FFF2-40B4-BE49-F238E27FC236}">
                <a16:creationId xmlns:a16="http://schemas.microsoft.com/office/drawing/2014/main" id="{2FD7731B-1E1C-41E1-AB43-59C4F4E0F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414" y="2375357"/>
            <a:ext cx="1752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Mặt cầu</a:t>
            </a:r>
          </a:p>
        </p:txBody>
      </p:sp>
      <p:sp>
        <p:nvSpPr>
          <p:cNvPr id="13327" name="Text Box 15">
            <a:extLst>
              <a:ext uri="{FF2B5EF4-FFF2-40B4-BE49-F238E27FC236}">
                <a16:creationId xmlns:a16="http://schemas.microsoft.com/office/drawing/2014/main" id="{9AA321C3-02C4-4E09-8E0D-331D82072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4478" y="3276601"/>
            <a:ext cx="2743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Hyperboloid 1 tầng.</a:t>
            </a:r>
          </a:p>
        </p:txBody>
      </p:sp>
      <p:sp>
        <p:nvSpPr>
          <p:cNvPr id="13328" name="Text Box 16">
            <a:extLst>
              <a:ext uri="{FF2B5EF4-FFF2-40B4-BE49-F238E27FC236}">
                <a16:creationId xmlns:a16="http://schemas.microsoft.com/office/drawing/2014/main" id="{1BA9A6E4-9212-4B95-8C89-302C73965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4478" y="4543426"/>
            <a:ext cx="2590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Hyperboloid 2 tầng.</a:t>
            </a:r>
          </a:p>
        </p:txBody>
      </p:sp>
      <p:sp>
        <p:nvSpPr>
          <p:cNvPr id="13329" name="Text Box 5">
            <a:extLst>
              <a:ext uri="{FF2B5EF4-FFF2-40B4-BE49-F238E27FC236}">
                <a16:creationId xmlns:a16="http://schemas.microsoft.com/office/drawing/2014/main" id="{64EDCF5D-94C5-4EFD-A131-62EB52838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8201" y="5867400"/>
            <a:ext cx="1143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Nón</a:t>
            </a:r>
          </a:p>
        </p:txBody>
      </p:sp>
      <p:sp>
        <p:nvSpPr>
          <p:cNvPr id="13330" name="Text Box 10">
            <a:extLst>
              <a:ext uri="{FF2B5EF4-FFF2-40B4-BE49-F238E27FC236}">
                <a16:creationId xmlns:a16="http://schemas.microsoft.com/office/drawing/2014/main" id="{026C01BC-F695-4537-AE32-275E5A580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2" y="1214581"/>
            <a:ext cx="273713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Paraboloid Elliptic </a:t>
            </a:r>
          </a:p>
        </p:txBody>
      </p:sp>
      <p:sp>
        <p:nvSpPr>
          <p:cNvPr id="13331" name="Text Box 11">
            <a:extLst>
              <a:ext uri="{FF2B5EF4-FFF2-40B4-BE49-F238E27FC236}">
                <a16:creationId xmlns:a16="http://schemas.microsoft.com/office/drawing/2014/main" id="{46DAC982-8AA1-4F01-BB7D-0E101FDE2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3139" y="2616609"/>
            <a:ext cx="2737137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Paraboloid Hyperbolic 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00B3D1D5-656A-434E-AF0A-729EC91C3CF3}"/>
              </a:ext>
            </a:extLst>
          </p:cNvPr>
          <p:cNvSpPr/>
          <p:nvPr/>
        </p:nvSpPr>
        <p:spPr>
          <a:xfrm>
            <a:off x="7848600" y="4048126"/>
            <a:ext cx="381000" cy="2733675"/>
          </a:xfrm>
          <a:prstGeom prst="rightBrace">
            <a:avLst>
              <a:gd name="adj1" fmla="val 37543"/>
              <a:gd name="adj2" fmla="val 50000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2600"/>
          </a:p>
        </p:txBody>
      </p:sp>
      <p:sp>
        <p:nvSpPr>
          <p:cNvPr id="13333" name="TextBox 5">
            <a:extLst>
              <a:ext uri="{FF2B5EF4-FFF2-40B4-BE49-F238E27FC236}">
                <a16:creationId xmlns:a16="http://schemas.microsoft.com/office/drawing/2014/main" id="{CFEAE163-CD6F-4B0F-B433-E75350CFE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3139" y="4978401"/>
            <a:ext cx="1265237" cy="539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Trụ</a:t>
            </a:r>
          </a:p>
        </p:txBody>
      </p:sp>
      <p:cxnSp>
        <p:nvCxnSpPr>
          <p:cNvPr id="13334" name="Straight Connector 27">
            <a:extLst>
              <a:ext uri="{FF2B5EF4-FFF2-40B4-BE49-F238E27FC236}">
                <a16:creationId xmlns:a16="http://schemas.microsoft.com/office/drawing/2014/main" id="{22ADDF01-BEE5-4CB1-8340-20DD558D17DD}"/>
              </a:ext>
            </a:extLst>
          </p:cNvPr>
          <p:cNvCxnSpPr>
            <a:cxnSpLocks noChangeShapeType="1"/>
            <a:stCxn id="13314" idx="2"/>
          </p:cNvCxnSpPr>
          <p:nvPr/>
        </p:nvCxnSpPr>
        <p:spPr bwMode="auto">
          <a:xfrm>
            <a:off x="6096001" y="706438"/>
            <a:ext cx="0" cy="615156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8A535-ED02-49DC-9EB1-4FBE6782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Object 8">
            <a:extLst>
              <a:ext uri="{FF2B5EF4-FFF2-40B4-BE49-F238E27FC236}">
                <a16:creationId xmlns:a16="http://schemas.microsoft.com/office/drawing/2014/main" id="{6A836838-0360-4A61-9830-A094BB3DB1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1671165"/>
              </p:ext>
            </p:extLst>
          </p:nvPr>
        </p:nvGraphicFramePr>
        <p:xfrm>
          <a:off x="915207" y="1092268"/>
          <a:ext cx="18288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2032000" imgH="495300" progId="Equation.DSMT4">
                  <p:embed/>
                </p:oleObj>
              </mc:Choice>
              <mc:Fallback>
                <p:oleObj name="Equation" r:id="rId3" imgW="2032000" imgH="495300" progId="Equation.DSMT4">
                  <p:embed/>
                  <p:pic>
                    <p:nvPicPr>
                      <p:cNvPr id="14339" name="Object 8">
                        <a:extLst>
                          <a:ext uri="{FF2B5EF4-FFF2-40B4-BE49-F238E27FC236}">
                            <a16:creationId xmlns:a16="http://schemas.microsoft.com/office/drawing/2014/main" id="{917A0C9E-4B6A-44B7-A5C1-EB8CA250BB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207" y="1092268"/>
                        <a:ext cx="18288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D94349DF-7189-40B9-87CE-2BA9162567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549689"/>
              </p:ext>
            </p:extLst>
          </p:nvPr>
        </p:nvGraphicFramePr>
        <p:xfrm>
          <a:off x="6648162" y="989081"/>
          <a:ext cx="21717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2413000" imgH="609600" progId="Equation.DSMT4">
                  <p:embed/>
                </p:oleObj>
              </mc:Choice>
              <mc:Fallback>
                <p:oleObj name="Equation" r:id="rId5" imgW="2413000" imgH="609600" progId="Equation.DSMT4">
                  <p:embed/>
                  <p:pic>
                    <p:nvPicPr>
                      <p:cNvPr id="14340" name="Object 8">
                        <a:extLst>
                          <a:ext uri="{FF2B5EF4-FFF2-40B4-BE49-F238E27FC236}">
                            <a16:creationId xmlns:a16="http://schemas.microsoft.com/office/drawing/2014/main" id="{8EEDD49D-5AC3-461B-BD8E-23DBD8203D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8162" y="989081"/>
                        <a:ext cx="21717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859986DB-D9A0-4C31-AF82-4E68D2146B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210321"/>
              </p:ext>
            </p:extLst>
          </p:nvPr>
        </p:nvGraphicFramePr>
        <p:xfrm>
          <a:off x="915207" y="3073400"/>
          <a:ext cx="21605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2400300" imgH="609600" progId="Equation.DSMT4">
                  <p:embed/>
                </p:oleObj>
              </mc:Choice>
              <mc:Fallback>
                <p:oleObj name="Equation" r:id="rId7" imgW="2400300" imgH="609600" progId="Equation.DSMT4">
                  <p:embed/>
                  <p:pic>
                    <p:nvPicPr>
                      <p:cNvPr id="14341" name="Object 8">
                        <a:extLst>
                          <a:ext uri="{FF2B5EF4-FFF2-40B4-BE49-F238E27FC236}">
                            <a16:creationId xmlns:a16="http://schemas.microsoft.com/office/drawing/2014/main" id="{2C33140B-7E14-4174-87DD-7D225EA741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207" y="3073400"/>
                        <a:ext cx="216058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5686CD5E-D4AE-4A8F-A0EE-17D00145B7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464756"/>
              </p:ext>
            </p:extLst>
          </p:nvPr>
        </p:nvGraphicFramePr>
        <p:xfrm>
          <a:off x="6648162" y="2881313"/>
          <a:ext cx="256063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2844800" imgH="609600" progId="Equation.DSMT4">
                  <p:embed/>
                </p:oleObj>
              </mc:Choice>
              <mc:Fallback>
                <p:oleObj name="Equation" r:id="rId9" imgW="2844800" imgH="609600" progId="Equation.DSMT4">
                  <p:embed/>
                  <p:pic>
                    <p:nvPicPr>
                      <p:cNvPr id="14342" name="Object 8">
                        <a:extLst>
                          <a:ext uri="{FF2B5EF4-FFF2-40B4-BE49-F238E27FC236}">
                            <a16:creationId xmlns:a16="http://schemas.microsoft.com/office/drawing/2014/main" id="{4FE707A4-EBD8-4E07-BEEF-3BA0089EBA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8162" y="2881313"/>
                        <a:ext cx="2560637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4F4CA8B1-D421-4A3A-BC58-095C29BA23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962051"/>
              </p:ext>
            </p:extLst>
          </p:nvPr>
        </p:nvGraphicFramePr>
        <p:xfrm>
          <a:off x="915207" y="4866986"/>
          <a:ext cx="25257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2806700" imgH="495300" progId="Equation.DSMT4">
                  <p:embed/>
                </p:oleObj>
              </mc:Choice>
              <mc:Fallback>
                <p:oleObj name="Equation" r:id="rId11" imgW="2806700" imgH="495300" progId="Equation.DSMT4">
                  <p:embed/>
                  <p:pic>
                    <p:nvPicPr>
                      <p:cNvPr id="14343" name="Object 8">
                        <a:extLst>
                          <a:ext uri="{FF2B5EF4-FFF2-40B4-BE49-F238E27FC236}">
                            <a16:creationId xmlns:a16="http://schemas.microsoft.com/office/drawing/2014/main" id="{A78DCEFA-1C0B-4875-8CB7-DEB6A85BBE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207" y="4866986"/>
                        <a:ext cx="25257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24E6A6D5-47FF-4208-8E17-E82AF869D3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957339"/>
              </p:ext>
            </p:extLst>
          </p:nvPr>
        </p:nvGraphicFramePr>
        <p:xfrm>
          <a:off x="6648162" y="4866986"/>
          <a:ext cx="1382713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13" imgW="1536033" imgH="444307" progId="Equation.DSMT4">
                  <p:embed/>
                </p:oleObj>
              </mc:Choice>
              <mc:Fallback>
                <p:oleObj name="Equation" r:id="rId13" imgW="1536033" imgH="444307" progId="Equation.DSMT4">
                  <p:embed/>
                  <p:pic>
                    <p:nvPicPr>
                      <p:cNvPr id="14344" name="Object 8">
                        <a:extLst>
                          <a:ext uri="{FF2B5EF4-FFF2-40B4-BE49-F238E27FC236}">
                            <a16:creationId xmlns:a16="http://schemas.microsoft.com/office/drawing/2014/main" id="{082A20AE-C6DC-4D5B-B9D9-07350BDE9F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8162" y="4866986"/>
                        <a:ext cx="1382713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1547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>
            <a:extLst>
              <a:ext uri="{FF2B5EF4-FFF2-40B4-BE49-F238E27FC236}">
                <a16:creationId xmlns:a16="http://schemas.microsoft.com/office/drawing/2014/main" id="{671ACE02-4B95-4BF8-B848-280A6AB26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53" y="1023517"/>
            <a:ext cx="3096035" cy="3096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Rectangle 5">
            <a:extLst>
              <a:ext uri="{FF2B5EF4-FFF2-40B4-BE49-F238E27FC236}">
                <a16:creationId xmlns:a16="http://schemas.microsoft.com/office/drawing/2014/main" id="{4888B0FA-74F9-470E-8394-DBAF1B886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/>
              <a:t>Vẽ nón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4">
            <a:extLst>
              <a:ext uri="{FF2B5EF4-FFF2-40B4-BE49-F238E27FC236}">
                <a16:creationId xmlns:a16="http://schemas.microsoft.com/office/drawing/2014/main" id="{34857ED1-70BB-4766-A8A0-2FEE5D018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2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996" y="1978796"/>
            <a:ext cx="2748009" cy="2748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3796" name="Object 6">
            <a:extLst>
              <a:ext uri="{FF2B5EF4-FFF2-40B4-BE49-F238E27FC236}">
                <a16:creationId xmlns:a16="http://schemas.microsoft.com/office/drawing/2014/main" id="{EFC4A4EE-8AE4-44FC-B127-8B7ADE5739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293167"/>
              </p:ext>
            </p:extLst>
          </p:nvPr>
        </p:nvGraphicFramePr>
        <p:xfrm>
          <a:off x="2591875" y="5442925"/>
          <a:ext cx="2174315" cy="92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4" imgW="1955800" imgH="1028700" progId="Equation.DSMT4">
                  <p:embed/>
                </p:oleObj>
              </mc:Choice>
              <mc:Fallback>
                <p:oleObj name="Equation" r:id="rId4" imgW="1955800" imgH="1028700" progId="Equation.DSMT4">
                  <p:embed/>
                  <p:pic>
                    <p:nvPicPr>
                      <p:cNvPr id="33796" name="Object 6">
                        <a:extLst>
                          <a:ext uri="{FF2B5EF4-FFF2-40B4-BE49-F238E27FC236}">
                            <a16:creationId xmlns:a16="http://schemas.microsoft.com/office/drawing/2014/main" id="{EFC4A4EE-8AE4-44FC-B127-8B7ADE5739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875" y="5442925"/>
                        <a:ext cx="2174315" cy="92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797" name="Picture 8">
            <a:extLst>
              <a:ext uri="{FF2B5EF4-FFF2-40B4-BE49-F238E27FC236}">
                <a16:creationId xmlns:a16="http://schemas.microsoft.com/office/drawing/2014/main" id="{4AA5EFEB-A307-4186-8D21-FDB8D35B6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596" y="2131196"/>
            <a:ext cx="2748009" cy="2748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3798" name="Object 9">
            <a:extLst>
              <a:ext uri="{FF2B5EF4-FFF2-40B4-BE49-F238E27FC236}">
                <a16:creationId xmlns:a16="http://schemas.microsoft.com/office/drawing/2014/main" id="{000B90A9-CD29-42E6-A159-5BA57B2322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09133"/>
              </p:ext>
            </p:extLst>
          </p:nvPr>
        </p:nvGraphicFramePr>
        <p:xfrm>
          <a:off x="7171728" y="5617951"/>
          <a:ext cx="2269732" cy="468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7" imgW="2349500" imgH="520700" progId="Equation.DSMT4">
                  <p:embed/>
                </p:oleObj>
              </mc:Choice>
              <mc:Fallback>
                <p:oleObj name="Equation" r:id="rId7" imgW="2349500" imgH="520700" progId="Equation.DSMT4">
                  <p:embed/>
                  <p:pic>
                    <p:nvPicPr>
                      <p:cNvPr id="33798" name="Object 9">
                        <a:extLst>
                          <a:ext uri="{FF2B5EF4-FFF2-40B4-BE49-F238E27FC236}">
                            <a16:creationId xmlns:a16="http://schemas.microsoft.com/office/drawing/2014/main" id="{000B90A9-CD29-42E6-A159-5BA57B2322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1728" y="5617951"/>
                        <a:ext cx="2269732" cy="4687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">
            <a:extLst>
              <a:ext uri="{FF2B5EF4-FFF2-40B4-BE49-F238E27FC236}">
                <a16:creationId xmlns:a16="http://schemas.microsoft.com/office/drawing/2014/main" id="{B53B6F1B-8A8F-45C6-8D14-8B892B4BFB67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15987" y="196484"/>
            <a:ext cx="10360025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Paraboloid elliptic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0A83D43-9AD8-4BCC-A716-88D54DDF3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9" y="1978796"/>
            <a:ext cx="2558705" cy="255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483E59E-EB7D-472D-8C71-E4357038BB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/>
              <a:t>Trụ</a:t>
            </a:r>
          </a:p>
        </p:txBody>
      </p:sp>
      <p:graphicFrame>
        <p:nvGraphicFramePr>
          <p:cNvPr id="25603" name="Object 15">
            <a:extLst>
              <a:ext uri="{FF2B5EF4-FFF2-40B4-BE49-F238E27FC236}">
                <a16:creationId xmlns:a16="http://schemas.microsoft.com/office/drawing/2014/main" id="{742A738B-29F1-46DE-92C4-2EED61EFD0CF}"/>
              </a:ext>
            </a:extLst>
          </p:cNvPr>
          <p:cNvGraphicFramePr>
            <a:graphicFrameLocks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73708234"/>
              </p:ext>
            </p:extLst>
          </p:nvPr>
        </p:nvGraphicFramePr>
        <p:xfrm>
          <a:off x="8393545" y="4657004"/>
          <a:ext cx="15271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1384200" imgH="863280" progId="Equation.DSMT4">
                  <p:embed/>
                </p:oleObj>
              </mc:Choice>
              <mc:Fallback>
                <p:oleObj name="Equation" r:id="rId3" imgW="1384200" imgH="863280" progId="Equation.DSMT4">
                  <p:embed/>
                  <p:pic>
                    <p:nvPicPr>
                      <p:cNvPr id="25603" name="Object 15">
                        <a:extLst>
                          <a:ext uri="{FF2B5EF4-FFF2-40B4-BE49-F238E27FC236}">
                            <a16:creationId xmlns:a16="http://schemas.microsoft.com/office/drawing/2014/main" id="{742A738B-29F1-46DE-92C4-2EED61EFD0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3545" y="4657004"/>
                        <a:ext cx="152717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04" name="Group 11">
            <a:extLst>
              <a:ext uri="{FF2B5EF4-FFF2-40B4-BE49-F238E27FC236}">
                <a16:creationId xmlns:a16="http://schemas.microsoft.com/office/drawing/2014/main" id="{CE181164-494B-4222-90F9-AE450BCC9EAD}"/>
              </a:ext>
            </a:extLst>
          </p:cNvPr>
          <p:cNvGrpSpPr>
            <a:grpSpLocks/>
          </p:cNvGrpSpPr>
          <p:nvPr/>
        </p:nvGrpSpPr>
        <p:grpSpPr bwMode="auto">
          <a:xfrm>
            <a:off x="6871133" y="866415"/>
            <a:ext cx="4281488" cy="3853295"/>
            <a:chOff x="1344" y="768"/>
            <a:chExt cx="2697" cy="2937"/>
          </a:xfrm>
        </p:grpSpPr>
        <p:pic>
          <p:nvPicPr>
            <p:cNvPr id="25606" name="Picture 3">
              <a:extLst>
                <a:ext uri="{FF2B5EF4-FFF2-40B4-BE49-F238E27FC236}">
                  <a16:creationId xmlns:a16="http://schemas.microsoft.com/office/drawing/2014/main" id="{F5C389DF-08D0-49D0-B91F-1F49EF50C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" y="768"/>
              <a:ext cx="2697" cy="2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07" name="Line 5">
              <a:extLst>
                <a:ext uri="{FF2B5EF4-FFF2-40B4-BE49-F238E27FC236}">
                  <a16:creationId xmlns:a16="http://schemas.microsoft.com/office/drawing/2014/main" id="{5390FBB4-EB24-4A73-82A5-11A29F5F25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8" y="110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8" name="Text Box 6">
              <a:extLst>
                <a:ext uri="{FF2B5EF4-FFF2-40B4-BE49-F238E27FC236}">
                  <a16:creationId xmlns:a16="http://schemas.microsoft.com/office/drawing/2014/main" id="{188F45BD-5762-4938-964E-5F1ACF41B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V="1">
              <a:off x="2496" y="777"/>
              <a:ext cx="2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25609" name="Line 7">
              <a:extLst>
                <a:ext uri="{FF2B5EF4-FFF2-40B4-BE49-F238E27FC236}">
                  <a16:creationId xmlns:a16="http://schemas.microsoft.com/office/drawing/2014/main" id="{86C524E5-1D8E-4AA7-8D85-74EEF13601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339"/>
              <a:ext cx="48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0" name="Line 8">
              <a:extLst>
                <a:ext uri="{FF2B5EF4-FFF2-40B4-BE49-F238E27FC236}">
                  <a16:creationId xmlns:a16="http://schemas.microsoft.com/office/drawing/2014/main" id="{1C17F635-6308-48CF-958A-559CBE86BB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259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1" name="Text Box 9">
              <a:extLst>
                <a:ext uri="{FF2B5EF4-FFF2-40B4-BE49-F238E27FC236}">
                  <a16:creationId xmlns:a16="http://schemas.microsoft.com/office/drawing/2014/main" id="{FDEA5F8B-5447-45AC-9259-2497B42D4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928"/>
              <a:ext cx="2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5612" name="Text Box 10">
              <a:extLst>
                <a:ext uri="{FF2B5EF4-FFF2-40B4-BE49-F238E27FC236}">
                  <a16:creationId xmlns:a16="http://schemas.microsoft.com/office/drawing/2014/main" id="{27DA3DC3-67F9-46DA-9838-FAB70F692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352"/>
              <a:ext cx="2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FF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25605" name="Text Box 16">
            <a:extLst>
              <a:ext uri="{FF2B5EF4-FFF2-40B4-BE49-F238E27FC236}">
                <a16:creationId xmlns:a16="http://schemas.microsoft.com/office/drawing/2014/main" id="{ED22E3FF-2516-4AF7-B299-BCA0BA48D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291" y="1204914"/>
            <a:ext cx="5975927" cy="5109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F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en-US" sz="2200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en-US" sz="2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r>
              <a:rPr lang="en-US" altLang="en-US" sz="2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trụ</a:t>
            </a:r>
            <a:r>
              <a:rPr lang="en-US" altLang="en-US" sz="2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AutoNum type="arabicPeriod"/>
            </a:pP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tọa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AutoNum type="arabicPeriod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di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dọc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AutoNum type="arabicPeriod"/>
            </a:pP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thẳng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song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trụ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5">
            <a:extLst>
              <a:ext uri="{FF2B5EF4-FFF2-40B4-BE49-F238E27FC236}">
                <a16:creationId xmlns:a16="http://schemas.microsoft.com/office/drawing/2014/main" id="{9AC27ACA-5A9A-4A75-A985-4DD977EE89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sz="2200" dirty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</Words>
  <Application>Microsoft Office PowerPoint</Application>
  <PresentationFormat>Widescreen</PresentationFormat>
  <Paragraphs>45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MathType 6.0 Equation</vt:lpstr>
      <vt:lpstr>MathType 7.0 Equation</vt:lpstr>
      <vt:lpstr>MẶT BẬC HAI (Quadratic surfaces)</vt:lpstr>
      <vt:lpstr>Định nghĩa mặt bậc 2</vt:lpstr>
      <vt:lpstr>5 loại mặt bậc 2 cơ bản</vt:lpstr>
      <vt:lpstr>Cách gọi tên các mặt chính tắc</vt:lpstr>
      <vt:lpstr>Cách gọi tên mặt bậc 2 chính tắc</vt:lpstr>
      <vt:lpstr>Cách gọi tên các mặt chính tắc</vt:lpstr>
      <vt:lpstr>Cách gọi tên mặt bậc 2 chính tắc</vt:lpstr>
      <vt:lpstr>Phần 2 – NHẬN DẠNG MẶT BẬC 2</vt:lpstr>
      <vt:lpstr>PowerPoint Presentation</vt:lpstr>
      <vt:lpstr>Vẽ nón</vt:lpstr>
      <vt:lpstr>Paraboloid elliptic</vt:lpstr>
      <vt:lpstr>Trụ</vt:lpstr>
      <vt:lpstr>Vẽ trụ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MẶT BẬC HAI (Quadratic surfaces)</dc:title>
  <dc:creator>Trần Ngọc Diễm</dc:creator>
  <cp:lastModifiedBy>Trần Ngọc Diễm</cp:lastModifiedBy>
  <cp:revision>1</cp:revision>
  <dcterms:created xsi:type="dcterms:W3CDTF">2022-01-14T15:08:57Z</dcterms:created>
  <dcterms:modified xsi:type="dcterms:W3CDTF">2022-01-14T15:08:57Z</dcterms:modified>
</cp:coreProperties>
</file>